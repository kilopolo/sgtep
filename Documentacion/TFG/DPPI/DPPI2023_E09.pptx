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sldIdLst>
    <p:sldId id="256" r:id="rId2"/>
    <p:sldId id="265" r:id="rId3"/>
    <p:sldId id="266" r:id="rId4"/>
    <p:sldId id="267" r:id="rId5"/>
    <p:sldId id="273" r:id="rId6"/>
    <p:sldId id="257" r:id="rId7"/>
    <p:sldId id="270" r:id="rId8"/>
    <p:sldId id="258" r:id="rId9"/>
    <p:sldId id="259" r:id="rId10"/>
    <p:sldId id="271" r:id="rId11"/>
    <p:sldId id="261" r:id="rId12"/>
    <p:sldId id="262" r:id="rId13"/>
    <p:sldId id="274" r:id="rId14"/>
    <p:sldId id="268" r:id="rId15"/>
    <p:sldId id="272" r:id="rId16"/>
    <p:sldId id="263" r:id="rId17"/>
    <p:sldId id="269" r:id="rId18"/>
    <p:sldId id="264" r:id="rId19"/>
    <p:sldId id="275" r:id="rId20"/>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D7A77"/>
    <a:srgbClr val="F8F890"/>
    <a:srgbClr val="F4FCA6"/>
    <a:srgbClr val="000000"/>
    <a:srgbClr val="FEF0BC"/>
    <a:srgbClr val="FCDDBE"/>
    <a:srgbClr val="E39B95"/>
    <a:srgbClr val="FFCC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4BB872F-A6B9-3C2B-8553-A1002E156624}" v="4" dt="2023-05-01T08:38:36.847"/>
    <p1510:client id="{4E9E92BB-89A8-37E2-ED35-6F893AE2780D}" v="37" dt="2023-05-01T15:14:44.641"/>
    <p1510:client id="{6750D74C-0771-702A-AE1E-B0B2CA6DC82D}" v="671" dt="2023-05-01T16:09:53.306"/>
    <p1510:client id="{73A7C313-A9FC-449C-A209-DDE7DF9D5F9E}" v="12" dt="2023-05-01T09:00:26.886"/>
    <p1510:client id="{A987DCFE-9605-4402-AD3B-77F92A247C30}" v="2245" dt="2023-05-01T16:19:30.967"/>
    <p1510:client id="{C11C6DBF-0496-46E2-879F-7886587CFF83}" v="3504" dt="2023-05-01T16:45:07.097"/>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EC20E35-A176-4012-BC5E-935CFFF8708E}" styleName="Estilo medio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69012ECD-51FC-41F1-AA8D-1B2483CD663E}" styleName="Estilo claro 2 - Acento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C89EF96-8CEA-46FF-86C4-4CE0E7609802}" styleName="Estilo claro 3 - Acento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22" d="100"/>
          <a:sy n="122" d="100"/>
        </p:scale>
        <p:origin x="120" y="21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27F1FBE-594B-40ED-A818-5A8B1BA2A383}" type="datetimeFigureOut">
              <a:rPr lang="es-ES" smtClean="0"/>
              <a:t>02/05/2023</a:t>
            </a:fld>
            <a:endParaRPr lang="es-ES"/>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B36D0A1-DBF5-4D18-B03B-EEF128A659CD}" type="slidenum">
              <a:rPr lang="es-ES" smtClean="0"/>
              <a:t>‹Nº›</a:t>
            </a:fld>
            <a:endParaRPr lang="es-ES"/>
          </a:p>
        </p:txBody>
      </p:sp>
    </p:spTree>
    <p:extLst>
      <p:ext uri="{BB962C8B-B14F-4D97-AF65-F5344CB8AC3E}">
        <p14:creationId xmlns:p14="http://schemas.microsoft.com/office/powerpoint/2010/main" val="8594283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Buenas, somos el grupo E09 y nuestros integrantes son Lais Pablo y Jesús.</a:t>
            </a:r>
          </a:p>
        </p:txBody>
      </p:sp>
      <p:sp>
        <p:nvSpPr>
          <p:cNvPr id="4" name="Marcador de número de diapositiva 3"/>
          <p:cNvSpPr>
            <a:spLocks noGrp="1"/>
          </p:cNvSpPr>
          <p:nvPr>
            <p:ph type="sldNum" sz="quarter" idx="5"/>
          </p:nvPr>
        </p:nvSpPr>
        <p:spPr/>
        <p:txBody>
          <a:bodyPr/>
          <a:lstStyle/>
          <a:p>
            <a:fld id="{9B36D0A1-DBF5-4D18-B03B-EEF128A659CD}" type="slidenum">
              <a:rPr lang="es-ES" smtClean="0"/>
              <a:t>1</a:t>
            </a:fld>
            <a:endParaRPr lang="es-ES"/>
          </a:p>
        </p:txBody>
      </p:sp>
    </p:spTree>
    <p:extLst>
      <p:ext uri="{BB962C8B-B14F-4D97-AF65-F5344CB8AC3E}">
        <p14:creationId xmlns:p14="http://schemas.microsoft.com/office/powerpoint/2010/main" val="10957319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n-US" err="1"/>
              <a:t>Aquí</a:t>
            </a:r>
            <a:r>
              <a:rPr lang="en-US"/>
              <a:t> </a:t>
            </a:r>
            <a:r>
              <a:rPr lang="en-US" err="1"/>
              <a:t>podemos</a:t>
            </a:r>
            <a:r>
              <a:rPr lang="en-US"/>
              <a:t> </a:t>
            </a:r>
            <a:r>
              <a:rPr lang="en-US" err="1"/>
              <a:t>comentar</a:t>
            </a:r>
            <a:r>
              <a:rPr lang="en-US"/>
              <a:t> brevemente las tareas que fuimos desarrollando. Divididas en tres fases:</a:t>
            </a:r>
            <a:endParaRPr lang="es-ES"/>
          </a:p>
          <a:p>
            <a:r>
              <a:rPr lang="en-US"/>
              <a:t>1.Estudio y </a:t>
            </a:r>
            <a:r>
              <a:rPr lang="en-US" err="1"/>
              <a:t>planificación</a:t>
            </a:r>
            <a:r>
              <a:rPr lang="en-US"/>
              <a:t> previa.</a:t>
            </a:r>
            <a:endParaRPr lang="es-ES"/>
          </a:p>
          <a:p>
            <a:r>
              <a:rPr lang="en-US"/>
              <a:t>2.Tareas </a:t>
            </a:r>
            <a:r>
              <a:rPr lang="en-US" err="1"/>
              <a:t>propias</a:t>
            </a:r>
            <a:r>
              <a:rPr lang="en-US"/>
              <a:t> del </a:t>
            </a:r>
            <a:r>
              <a:rPr lang="en-US" err="1"/>
              <a:t>proyecto</a:t>
            </a:r>
            <a:r>
              <a:rPr lang="en-US"/>
              <a:t> </a:t>
            </a:r>
            <a:r>
              <a:rPr lang="en-US" err="1"/>
              <a:t>basándonos</a:t>
            </a:r>
            <a:r>
              <a:rPr lang="en-US"/>
              <a:t> </a:t>
            </a:r>
            <a:r>
              <a:rPr lang="en-US" err="1"/>
              <a:t>en</a:t>
            </a:r>
            <a:r>
              <a:rPr lang="en-US"/>
              <a:t> </a:t>
            </a:r>
            <a:r>
              <a:rPr lang="en-US" err="1"/>
              <a:t>los</a:t>
            </a:r>
            <a:r>
              <a:rPr lang="en-US"/>
              <a:t> 40 </a:t>
            </a:r>
            <a:r>
              <a:rPr lang="en-US" err="1"/>
              <a:t>hitos</a:t>
            </a:r>
            <a:r>
              <a:rPr lang="en-US"/>
              <a:t> de la Norma UNE hasta </a:t>
            </a:r>
            <a:r>
              <a:rPr lang="en-US" err="1"/>
              <a:t>completarlos</a:t>
            </a:r>
            <a:r>
              <a:rPr lang="en-US"/>
              <a:t>.</a:t>
            </a:r>
            <a:endParaRPr lang="es-ES"/>
          </a:p>
          <a:p>
            <a:r>
              <a:rPr lang="en-US"/>
              <a:t>3.Tareas finales de </a:t>
            </a:r>
            <a:r>
              <a:rPr lang="en-US" err="1"/>
              <a:t>revisión</a:t>
            </a:r>
            <a:r>
              <a:rPr lang="en-US"/>
              <a:t> y </a:t>
            </a:r>
            <a:r>
              <a:rPr lang="en-US" err="1"/>
              <a:t>elaboración</a:t>
            </a:r>
            <a:r>
              <a:rPr lang="en-US"/>
              <a:t> de la </a:t>
            </a:r>
            <a:r>
              <a:rPr lang="en-US" err="1"/>
              <a:t>presentación</a:t>
            </a:r>
            <a:r>
              <a:rPr lang="en-US"/>
              <a:t>.</a:t>
            </a:r>
            <a:endParaRPr lang="es-ES"/>
          </a:p>
          <a:p>
            <a:r>
              <a:rPr lang="en-US" err="1"/>
              <a:t>Estos</a:t>
            </a:r>
            <a:r>
              <a:rPr lang="en-US"/>
              <a:t> 3 </a:t>
            </a:r>
            <a:r>
              <a:rPr lang="en-US" err="1"/>
              <a:t>bloques</a:t>
            </a:r>
            <a:r>
              <a:rPr lang="en-US"/>
              <a:t> o </a:t>
            </a:r>
            <a:r>
              <a:rPr lang="en-US" err="1"/>
              <a:t>fases</a:t>
            </a:r>
            <a:r>
              <a:rPr lang="en-US"/>
              <a:t> </a:t>
            </a:r>
            <a:r>
              <a:rPr lang="en-US" err="1"/>
              <a:t>aparecen</a:t>
            </a:r>
            <a:r>
              <a:rPr lang="en-US"/>
              <a:t> </a:t>
            </a:r>
            <a:r>
              <a:rPr lang="en-US" err="1"/>
              <a:t>reflejados</a:t>
            </a:r>
            <a:r>
              <a:rPr lang="en-US"/>
              <a:t> </a:t>
            </a:r>
            <a:r>
              <a:rPr lang="en-US" err="1"/>
              <a:t>en</a:t>
            </a:r>
            <a:r>
              <a:rPr lang="en-US"/>
              <a:t> la </a:t>
            </a:r>
            <a:r>
              <a:rPr lang="en-US" err="1"/>
              <a:t>planificación</a:t>
            </a:r>
            <a:r>
              <a:rPr lang="en-US"/>
              <a:t> del </a:t>
            </a:r>
            <a:r>
              <a:rPr lang="en-US" err="1"/>
              <a:t>trabajo</a:t>
            </a:r>
            <a:r>
              <a:rPr lang="en-US"/>
              <a:t> de </a:t>
            </a:r>
            <a:r>
              <a:rPr lang="en-US" err="1"/>
              <a:t>prácticas</a:t>
            </a:r>
            <a:r>
              <a:rPr lang="en-US"/>
              <a:t> de la </a:t>
            </a:r>
            <a:r>
              <a:rPr lang="en-US" err="1"/>
              <a:t>asignatura</a:t>
            </a:r>
            <a:r>
              <a:rPr lang="en-US"/>
              <a:t>.</a:t>
            </a:r>
            <a:endParaRPr lang="es-ES"/>
          </a:p>
          <a:p>
            <a:endParaRPr lang="en-US">
              <a:cs typeface="Calibri"/>
            </a:endParaRPr>
          </a:p>
        </p:txBody>
      </p:sp>
      <p:sp>
        <p:nvSpPr>
          <p:cNvPr id="4" name="Marcador de número de diapositiva 3"/>
          <p:cNvSpPr>
            <a:spLocks noGrp="1"/>
          </p:cNvSpPr>
          <p:nvPr>
            <p:ph type="sldNum" sz="quarter" idx="5"/>
          </p:nvPr>
        </p:nvSpPr>
        <p:spPr/>
        <p:txBody>
          <a:bodyPr/>
          <a:lstStyle/>
          <a:p>
            <a:fld id="{9B36D0A1-DBF5-4D18-B03B-EEF128A659CD}" type="slidenum">
              <a:rPr lang="es-ES" smtClean="0"/>
              <a:t>3</a:t>
            </a:fld>
            <a:endParaRPr lang="es-ES"/>
          </a:p>
        </p:txBody>
      </p:sp>
    </p:spTree>
    <p:extLst>
      <p:ext uri="{BB962C8B-B14F-4D97-AF65-F5344CB8AC3E}">
        <p14:creationId xmlns:p14="http://schemas.microsoft.com/office/powerpoint/2010/main" val="236019542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n-US" err="1"/>
              <a:t>Resumen</a:t>
            </a:r>
            <a:r>
              <a:rPr lang="en-US"/>
              <a:t> del </a:t>
            </a:r>
            <a:r>
              <a:rPr lang="en-US" err="1"/>
              <a:t>trabajo</a:t>
            </a:r>
            <a:r>
              <a:rPr lang="en-US"/>
              <a:t> </a:t>
            </a:r>
            <a:r>
              <a:rPr lang="en-US" err="1"/>
              <a:t>realizado</a:t>
            </a:r>
            <a:r>
              <a:rPr lang="en-US"/>
              <a:t>. </a:t>
            </a:r>
            <a:r>
              <a:rPr lang="en-US" err="1"/>
              <a:t>Fechas</a:t>
            </a:r>
            <a:r>
              <a:rPr lang="en-US"/>
              <a:t> y horas, no hay </a:t>
            </a:r>
            <a:r>
              <a:rPr lang="en-US" err="1"/>
              <a:t>mucho</a:t>
            </a:r>
            <a:r>
              <a:rPr lang="en-US"/>
              <a:t> </a:t>
            </a:r>
            <a:r>
              <a:rPr lang="en-US" err="1"/>
              <a:t>más</a:t>
            </a:r>
            <a:r>
              <a:rPr lang="en-US"/>
              <a:t> que </a:t>
            </a:r>
            <a:r>
              <a:rPr lang="en-US" err="1"/>
              <a:t>contar</a:t>
            </a:r>
            <a:r>
              <a:rPr lang="en-US"/>
              <a:t>.</a:t>
            </a:r>
            <a:endParaRPr lang="es-ES"/>
          </a:p>
          <a:p>
            <a:r>
              <a:rPr lang="en-US"/>
              <a:t>La </a:t>
            </a:r>
            <a:r>
              <a:rPr lang="en-US" err="1"/>
              <a:t>duración</a:t>
            </a:r>
            <a:r>
              <a:rPr lang="en-US"/>
              <a:t> </a:t>
            </a:r>
            <a:r>
              <a:rPr lang="en-US" err="1"/>
              <a:t>en</a:t>
            </a:r>
            <a:r>
              <a:rPr lang="en-US"/>
              <a:t> horas son Horas de TRABAJO, nada que </a:t>
            </a:r>
            <a:r>
              <a:rPr lang="en-US" err="1"/>
              <a:t>ver</a:t>
            </a:r>
            <a:r>
              <a:rPr lang="en-US"/>
              <a:t> con la </a:t>
            </a:r>
            <a:r>
              <a:rPr lang="en-US" err="1"/>
              <a:t>duración</a:t>
            </a:r>
            <a:r>
              <a:rPr lang="en-US"/>
              <a:t>, que </a:t>
            </a:r>
            <a:r>
              <a:rPr lang="en-US" err="1"/>
              <a:t>cuenta</a:t>
            </a:r>
            <a:r>
              <a:rPr lang="en-US"/>
              <a:t> </a:t>
            </a:r>
            <a:r>
              <a:rPr lang="en-US" err="1"/>
              <a:t>en</a:t>
            </a:r>
            <a:r>
              <a:rPr lang="en-US"/>
              <a:t> días naturales.</a:t>
            </a:r>
            <a:endParaRPr lang="es-ES"/>
          </a:p>
          <a:p>
            <a:endParaRPr lang="en-US">
              <a:cs typeface="Calibri"/>
            </a:endParaRPr>
          </a:p>
          <a:p>
            <a:r>
              <a:rPr lang="en-US">
                <a:cs typeface="Calibri"/>
              </a:rPr>
              <a:t>RESUMIR SITUACION GRUPO (</a:t>
            </a:r>
            <a:r>
              <a:rPr lang="en-US" err="1">
                <a:cs typeface="Calibri"/>
              </a:rPr>
              <a:t>pérdida</a:t>
            </a:r>
            <a:r>
              <a:rPr lang="en-US">
                <a:cs typeface="Calibri"/>
              </a:rPr>
              <a:t> </a:t>
            </a:r>
            <a:r>
              <a:rPr lang="en-US" err="1">
                <a:cs typeface="Calibri"/>
              </a:rPr>
              <a:t>miembro</a:t>
            </a:r>
            <a:r>
              <a:rPr lang="en-US">
                <a:cs typeface="Calibri"/>
              </a:rPr>
              <a:t>) </a:t>
            </a:r>
            <a:r>
              <a:rPr lang="en-US" err="1">
                <a:cs typeface="Calibri"/>
              </a:rPr>
              <a:t>nombrar</a:t>
            </a:r>
            <a:r>
              <a:rPr lang="en-US">
                <a:cs typeface="Calibri"/>
              </a:rPr>
              <a:t> </a:t>
            </a:r>
            <a:r>
              <a:rPr lang="en-US" err="1">
                <a:cs typeface="Calibri"/>
              </a:rPr>
              <a:t>apartados</a:t>
            </a:r>
            <a:r>
              <a:rPr lang="en-US">
                <a:cs typeface="Calibri"/>
              </a:rPr>
              <a:t> </a:t>
            </a:r>
            <a:r>
              <a:rPr lang="en-US" err="1">
                <a:cs typeface="Calibri"/>
              </a:rPr>
              <a:t>opcionales</a:t>
            </a:r>
          </a:p>
        </p:txBody>
      </p:sp>
      <p:sp>
        <p:nvSpPr>
          <p:cNvPr id="4" name="Marcador de número de diapositiva 3"/>
          <p:cNvSpPr>
            <a:spLocks noGrp="1"/>
          </p:cNvSpPr>
          <p:nvPr>
            <p:ph type="sldNum" sz="quarter" idx="5"/>
          </p:nvPr>
        </p:nvSpPr>
        <p:spPr/>
        <p:txBody>
          <a:bodyPr/>
          <a:lstStyle/>
          <a:p>
            <a:fld id="{9B36D0A1-DBF5-4D18-B03B-EEF128A659CD}" type="slidenum">
              <a:rPr lang="es-ES" smtClean="0"/>
              <a:t>4</a:t>
            </a:fld>
            <a:endParaRPr lang="es-ES"/>
          </a:p>
        </p:txBody>
      </p:sp>
    </p:spTree>
    <p:extLst>
      <p:ext uri="{BB962C8B-B14F-4D97-AF65-F5344CB8AC3E}">
        <p14:creationId xmlns:p14="http://schemas.microsoft.com/office/powerpoint/2010/main" val="8194532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Para ver una estimación rápida del proyecto hemos incluido esta tabla de la planificación donde podemos ver que se inicia el 5 de mayo y se finaliza el 14 de Septiembre, dando así una duración total de 147 días o 5 meses del proyecto</a:t>
            </a:r>
          </a:p>
          <a:p>
            <a:endParaRPr lang="es-ES"/>
          </a:p>
          <a:p>
            <a:r>
              <a:rPr lang="es-ES"/>
              <a:t>En el diagrama de </a:t>
            </a:r>
            <a:r>
              <a:rPr lang="es-ES" err="1"/>
              <a:t>gant</a:t>
            </a:r>
            <a:r>
              <a:rPr lang="es-ES"/>
              <a:t> de aquí abajo se puede ver la estimación individual de cada una de las partes del proyecto con respecto al mismo.</a:t>
            </a:r>
          </a:p>
          <a:p>
            <a:endParaRPr lang="es-ES"/>
          </a:p>
          <a:p>
            <a:r>
              <a:rPr lang="es-ES"/>
              <a:t>Se ha planificado una reserva del cronograma de 80 horas en el diagrama después de la finalización del mismo.</a:t>
            </a:r>
          </a:p>
          <a:p>
            <a:endParaRPr lang="es-ES"/>
          </a:p>
        </p:txBody>
      </p:sp>
      <p:sp>
        <p:nvSpPr>
          <p:cNvPr id="4" name="Marcador de número de diapositiva 3"/>
          <p:cNvSpPr>
            <a:spLocks noGrp="1"/>
          </p:cNvSpPr>
          <p:nvPr>
            <p:ph type="sldNum" sz="quarter" idx="5"/>
          </p:nvPr>
        </p:nvSpPr>
        <p:spPr/>
        <p:txBody>
          <a:bodyPr/>
          <a:lstStyle/>
          <a:p>
            <a:fld id="{9B36D0A1-DBF5-4D18-B03B-EEF128A659CD}" type="slidenum">
              <a:rPr lang="es-ES" smtClean="0"/>
              <a:t>5</a:t>
            </a:fld>
            <a:endParaRPr lang="es-ES"/>
          </a:p>
        </p:txBody>
      </p:sp>
    </p:spTree>
    <p:extLst>
      <p:ext uri="{BB962C8B-B14F-4D97-AF65-F5344CB8AC3E}">
        <p14:creationId xmlns:p14="http://schemas.microsoft.com/office/powerpoint/2010/main" val="23040567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Con respecto al WBS decidimos meter un resumen primero para que se viesen las tareas mas importantes fácilmente. </a:t>
            </a:r>
          </a:p>
          <a:p>
            <a:endParaRPr lang="es-ES"/>
          </a:p>
          <a:p>
            <a:r>
              <a:rPr lang="es-ES"/>
              <a:t>Como podéis ver decidimos dividir el proyecto en 9 subcategorías importantes, que a su vez se dividen en mas categorías.</a:t>
            </a:r>
          </a:p>
          <a:p>
            <a:endParaRPr lang="es-ES"/>
          </a:p>
          <a:p>
            <a:endParaRPr lang="es-ES"/>
          </a:p>
        </p:txBody>
      </p:sp>
      <p:sp>
        <p:nvSpPr>
          <p:cNvPr id="4" name="Marcador de número de diapositiva 3"/>
          <p:cNvSpPr>
            <a:spLocks noGrp="1"/>
          </p:cNvSpPr>
          <p:nvPr>
            <p:ph type="sldNum" sz="quarter" idx="5"/>
          </p:nvPr>
        </p:nvSpPr>
        <p:spPr/>
        <p:txBody>
          <a:bodyPr/>
          <a:lstStyle/>
          <a:p>
            <a:fld id="{9B36D0A1-DBF5-4D18-B03B-EEF128A659CD}" type="slidenum">
              <a:rPr lang="es-ES" smtClean="0"/>
              <a:t>6</a:t>
            </a:fld>
            <a:endParaRPr lang="es-ES"/>
          </a:p>
        </p:txBody>
      </p:sp>
    </p:spTree>
    <p:extLst>
      <p:ext uri="{BB962C8B-B14F-4D97-AF65-F5344CB8AC3E}">
        <p14:creationId xmlns:p14="http://schemas.microsoft.com/office/powerpoint/2010/main" val="185560571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Una vez vimos antes los módulos principales podemos ver aquí una tabla con información detallada de cada uno de estos módulos, donde se ven su nombre, su duración, el comienzo y el </a:t>
            </a:r>
            <a:r>
              <a:rPr lang="es-ES" err="1"/>
              <a:t>fín</a:t>
            </a:r>
            <a:r>
              <a:rPr lang="es-ES"/>
              <a:t>.</a:t>
            </a:r>
          </a:p>
          <a:p>
            <a:endParaRPr lang="es-ES"/>
          </a:p>
          <a:p>
            <a:r>
              <a:rPr lang="es-ES"/>
              <a:t>En el centro de la tabla se puede ver </a:t>
            </a:r>
            <a:r>
              <a:rPr lang="es-ES" b="1"/>
              <a:t>cuantas horas s</a:t>
            </a:r>
            <a:r>
              <a:rPr lang="es-ES"/>
              <a:t>e le han asignado a </a:t>
            </a:r>
            <a:r>
              <a:rPr lang="es-ES" b="1"/>
              <a:t>cada uno de los módulos </a:t>
            </a:r>
            <a:r>
              <a:rPr lang="es-ES"/>
              <a:t>del desarrollo basándonos en el cálculo de la estimación de esfuerzos.</a:t>
            </a:r>
          </a:p>
          <a:p>
            <a:endParaRPr lang="es-ES"/>
          </a:p>
          <a:p>
            <a:r>
              <a:rPr lang="es-ES"/>
              <a:t>Para la distribución del trabajo de los recursos como los programadores hemos usado la técnica </a:t>
            </a:r>
            <a:r>
              <a:rPr lang="es-ES" b="1"/>
              <a:t>de </a:t>
            </a:r>
            <a:r>
              <a:rPr lang="es-ES" b="1" err="1"/>
              <a:t>fast</a:t>
            </a:r>
            <a:r>
              <a:rPr lang="es-ES" b="1"/>
              <a:t>-tracking</a:t>
            </a:r>
            <a:r>
              <a:rPr lang="es-ES"/>
              <a:t>.</a:t>
            </a:r>
          </a:p>
          <a:p>
            <a:endParaRPr lang="es-ES"/>
          </a:p>
          <a:p>
            <a:r>
              <a:rPr lang="es-ES"/>
              <a:t>Se puede ver como </a:t>
            </a:r>
            <a:r>
              <a:rPr lang="es-ES" b="1"/>
              <a:t>La formación del personal </a:t>
            </a:r>
            <a:r>
              <a:rPr lang="es-ES"/>
              <a:t>dura 80 horas</a:t>
            </a:r>
          </a:p>
          <a:p>
            <a:endParaRPr lang="es-ES"/>
          </a:p>
          <a:p>
            <a:endParaRPr lang="es-ES"/>
          </a:p>
        </p:txBody>
      </p:sp>
      <p:sp>
        <p:nvSpPr>
          <p:cNvPr id="4" name="Marcador de número de diapositiva 3"/>
          <p:cNvSpPr>
            <a:spLocks noGrp="1"/>
          </p:cNvSpPr>
          <p:nvPr>
            <p:ph type="sldNum" sz="quarter" idx="5"/>
          </p:nvPr>
        </p:nvSpPr>
        <p:spPr/>
        <p:txBody>
          <a:bodyPr/>
          <a:lstStyle/>
          <a:p>
            <a:fld id="{9B36D0A1-DBF5-4D18-B03B-EEF128A659CD}" type="slidenum">
              <a:rPr lang="es-ES" smtClean="0"/>
              <a:t>7</a:t>
            </a:fld>
            <a:endParaRPr lang="es-ES"/>
          </a:p>
        </p:txBody>
      </p:sp>
    </p:spTree>
    <p:extLst>
      <p:ext uri="{BB962C8B-B14F-4D97-AF65-F5344CB8AC3E}">
        <p14:creationId xmlns:p14="http://schemas.microsoft.com/office/powerpoint/2010/main" val="365466279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n-US" err="1"/>
              <a:t>Aquí</a:t>
            </a:r>
            <a:r>
              <a:rPr lang="en-US"/>
              <a:t> se </a:t>
            </a:r>
            <a:r>
              <a:rPr lang="en-US" err="1"/>
              <a:t>pueden</a:t>
            </a:r>
            <a:r>
              <a:rPr lang="en-US"/>
              <a:t> </a:t>
            </a:r>
            <a:r>
              <a:rPr lang="en-US" err="1"/>
              <a:t>ver</a:t>
            </a:r>
            <a:r>
              <a:rPr lang="en-US"/>
              <a:t> </a:t>
            </a:r>
            <a:r>
              <a:rPr lang="en-US" err="1"/>
              <a:t>todos</a:t>
            </a:r>
            <a:r>
              <a:rPr lang="en-US"/>
              <a:t> </a:t>
            </a:r>
            <a:r>
              <a:rPr lang="en-US" err="1"/>
              <a:t>los</a:t>
            </a:r>
            <a:r>
              <a:rPr lang="en-US"/>
              <a:t> </a:t>
            </a:r>
            <a:r>
              <a:rPr lang="en-US" err="1"/>
              <a:t>recursos</a:t>
            </a:r>
            <a:r>
              <a:rPr lang="en-US"/>
              <a:t> que </a:t>
            </a:r>
            <a:r>
              <a:rPr lang="en-US" err="1"/>
              <a:t>intervienen</a:t>
            </a:r>
            <a:r>
              <a:rPr lang="en-US"/>
              <a:t> </a:t>
            </a:r>
            <a:r>
              <a:rPr lang="en-US" err="1"/>
              <a:t>en</a:t>
            </a:r>
            <a:r>
              <a:rPr lang="en-US"/>
              <a:t> </a:t>
            </a:r>
            <a:r>
              <a:rPr lang="en-US" err="1"/>
              <a:t>el</a:t>
            </a:r>
            <a:r>
              <a:rPr lang="en-US"/>
              <a:t> </a:t>
            </a:r>
            <a:r>
              <a:rPr lang="en-US" err="1"/>
              <a:t>proyecto</a:t>
            </a:r>
            <a:r>
              <a:rPr lang="en-US"/>
              <a:t> y </a:t>
            </a:r>
            <a:r>
              <a:rPr lang="en-US" err="1"/>
              <a:t>forman</a:t>
            </a:r>
            <a:r>
              <a:rPr lang="en-US"/>
              <a:t> </a:t>
            </a:r>
            <a:r>
              <a:rPr lang="en-US" err="1"/>
              <a:t>el</a:t>
            </a:r>
            <a:r>
              <a:rPr lang="en-US"/>
              <a:t> </a:t>
            </a:r>
            <a:r>
              <a:rPr lang="en-US" err="1"/>
              <a:t>equipo</a:t>
            </a:r>
            <a:r>
              <a:rPr lang="en-US"/>
              <a:t> </a:t>
            </a:r>
            <a:r>
              <a:rPr lang="en-US" err="1"/>
              <a:t>completo</a:t>
            </a:r>
            <a:r>
              <a:rPr lang="en-US"/>
              <a:t> que </a:t>
            </a:r>
            <a:r>
              <a:rPr lang="en-US" err="1"/>
              <a:t>llevará</a:t>
            </a:r>
            <a:r>
              <a:rPr lang="en-US"/>
              <a:t> a </a:t>
            </a:r>
            <a:r>
              <a:rPr lang="en-US" err="1"/>
              <a:t>cabo</a:t>
            </a:r>
            <a:r>
              <a:rPr lang="en-US"/>
              <a:t> </a:t>
            </a:r>
            <a:r>
              <a:rPr lang="en-US" err="1"/>
              <a:t>el</a:t>
            </a:r>
            <a:r>
              <a:rPr lang="en-US"/>
              <a:t> </a:t>
            </a:r>
            <a:r>
              <a:rPr lang="en-US" err="1"/>
              <a:t>proyecto</a:t>
            </a:r>
            <a:r>
              <a:rPr lang="en-US"/>
              <a:t>.</a:t>
            </a:r>
            <a:endParaRPr lang="es-ES"/>
          </a:p>
          <a:p>
            <a:r>
              <a:rPr lang="en-US" err="1"/>
              <a:t>Comentar</a:t>
            </a:r>
            <a:r>
              <a:rPr lang="en-US"/>
              <a:t> lo que </a:t>
            </a:r>
            <a:r>
              <a:rPr lang="en-US" err="1"/>
              <a:t>aparece</a:t>
            </a:r>
            <a:r>
              <a:rPr lang="en-US"/>
              <a:t> </a:t>
            </a:r>
            <a:r>
              <a:rPr lang="en-US" err="1"/>
              <a:t>en</a:t>
            </a:r>
            <a:r>
              <a:rPr lang="en-US"/>
              <a:t> la </a:t>
            </a:r>
            <a:r>
              <a:rPr lang="en-US" err="1"/>
              <a:t>diapositiva</a:t>
            </a:r>
            <a:r>
              <a:rPr lang="en-US"/>
              <a:t>, </a:t>
            </a:r>
            <a:r>
              <a:rPr lang="en-US" err="1"/>
              <a:t>destacando</a:t>
            </a:r>
            <a:r>
              <a:rPr lang="en-US"/>
              <a:t> la </a:t>
            </a:r>
            <a:r>
              <a:rPr lang="en-US" err="1"/>
              <a:t>presencia</a:t>
            </a:r>
            <a:r>
              <a:rPr lang="en-US"/>
              <a:t> de director de </a:t>
            </a:r>
            <a:r>
              <a:rPr lang="en-US" err="1"/>
              <a:t>empresa</a:t>
            </a:r>
            <a:r>
              <a:rPr lang="en-US"/>
              <a:t> y la </a:t>
            </a:r>
            <a:r>
              <a:rPr lang="en-US" err="1"/>
              <a:t>responsabilidad</a:t>
            </a:r>
            <a:r>
              <a:rPr lang="en-US"/>
              <a:t> e </a:t>
            </a:r>
            <a:r>
              <a:rPr lang="en-US" err="1"/>
              <a:t>importancia</a:t>
            </a:r>
            <a:r>
              <a:rPr lang="en-US"/>
              <a:t> del jefe de </a:t>
            </a:r>
            <a:r>
              <a:rPr lang="en-US" err="1"/>
              <a:t>proyecto</a:t>
            </a:r>
            <a:r>
              <a:rPr lang="en-US"/>
              <a:t>.</a:t>
            </a:r>
            <a:endParaRPr lang="en-US" err="1">
              <a:cs typeface="Calibri"/>
            </a:endParaRPr>
          </a:p>
          <a:p>
            <a:r>
              <a:rPr lang="en-US" err="1">
                <a:cs typeface="Calibri"/>
              </a:rPr>
              <a:t>Destacar</a:t>
            </a:r>
            <a:r>
              <a:rPr lang="en-US">
                <a:cs typeface="Calibri"/>
              </a:rPr>
              <a:t> </a:t>
            </a:r>
            <a:r>
              <a:rPr lang="en-US" err="1">
                <a:cs typeface="Calibri"/>
              </a:rPr>
              <a:t>también</a:t>
            </a:r>
            <a:r>
              <a:rPr lang="en-US">
                <a:cs typeface="Calibri"/>
              </a:rPr>
              <a:t> que </a:t>
            </a:r>
            <a:r>
              <a:rPr lang="en-US" err="1">
                <a:cs typeface="Calibri"/>
              </a:rPr>
              <a:t>el</a:t>
            </a:r>
            <a:r>
              <a:rPr lang="en-US">
                <a:cs typeface="Calibri"/>
              </a:rPr>
              <a:t> </a:t>
            </a:r>
            <a:r>
              <a:rPr lang="en-US" err="1">
                <a:cs typeface="Calibri"/>
              </a:rPr>
              <a:t>ingeniero</a:t>
            </a:r>
            <a:r>
              <a:rPr lang="en-US">
                <a:cs typeface="Calibri"/>
              </a:rPr>
              <a:t> </a:t>
            </a:r>
            <a:r>
              <a:rPr lang="en-US" err="1">
                <a:cs typeface="Calibri"/>
              </a:rPr>
              <a:t>informático</a:t>
            </a:r>
            <a:r>
              <a:rPr lang="en-US">
                <a:cs typeface="Calibri"/>
              </a:rPr>
              <a:t> </a:t>
            </a:r>
            <a:r>
              <a:rPr lang="en-US" err="1">
                <a:cs typeface="Calibri"/>
              </a:rPr>
              <a:t>hace</a:t>
            </a:r>
            <a:r>
              <a:rPr lang="en-US">
                <a:cs typeface="Calibri"/>
              </a:rPr>
              <a:t> las </a:t>
            </a:r>
            <a:r>
              <a:rPr lang="en-US" err="1">
                <a:cs typeface="Calibri"/>
              </a:rPr>
              <a:t>veces</a:t>
            </a:r>
            <a:r>
              <a:rPr lang="en-US">
                <a:cs typeface="Calibri"/>
              </a:rPr>
              <a:t> de jefe de equipo.</a:t>
            </a:r>
          </a:p>
          <a:p>
            <a:endParaRPr lang="en-US">
              <a:cs typeface="Calibri"/>
            </a:endParaRPr>
          </a:p>
        </p:txBody>
      </p:sp>
      <p:sp>
        <p:nvSpPr>
          <p:cNvPr id="4" name="Marcador de número de diapositiva 3"/>
          <p:cNvSpPr>
            <a:spLocks noGrp="1"/>
          </p:cNvSpPr>
          <p:nvPr>
            <p:ph type="sldNum" sz="quarter" idx="5"/>
          </p:nvPr>
        </p:nvSpPr>
        <p:spPr/>
        <p:txBody>
          <a:bodyPr/>
          <a:lstStyle/>
          <a:p>
            <a:fld id="{9B36D0A1-DBF5-4D18-B03B-EEF128A659CD}" type="slidenum">
              <a:rPr lang="es-ES" smtClean="0"/>
              <a:t>8</a:t>
            </a:fld>
            <a:endParaRPr lang="es-ES"/>
          </a:p>
        </p:txBody>
      </p:sp>
    </p:spTree>
    <p:extLst>
      <p:ext uri="{BB962C8B-B14F-4D97-AF65-F5344CB8AC3E}">
        <p14:creationId xmlns:p14="http://schemas.microsoft.com/office/powerpoint/2010/main" val="9486266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n-US" err="1"/>
              <a:t>Productos</a:t>
            </a:r>
            <a:r>
              <a:rPr lang="en-US"/>
              <a:t> que se obtendrán como resultado de todas las tareas que aparecen en el WBS.</a:t>
            </a:r>
            <a:endParaRPr lang="es-ES"/>
          </a:p>
          <a:p>
            <a:endParaRPr lang="en-US">
              <a:cs typeface="Calibri"/>
            </a:endParaRPr>
          </a:p>
          <a:p>
            <a:r>
              <a:rPr lang="en-US">
                <a:cs typeface="Calibri"/>
              </a:rPr>
              <a:t>ENUMERAR DIAPOSITIVA</a:t>
            </a:r>
          </a:p>
        </p:txBody>
      </p:sp>
      <p:sp>
        <p:nvSpPr>
          <p:cNvPr id="4" name="Marcador de número de diapositiva 3"/>
          <p:cNvSpPr>
            <a:spLocks noGrp="1"/>
          </p:cNvSpPr>
          <p:nvPr>
            <p:ph type="sldNum" sz="quarter" idx="5"/>
          </p:nvPr>
        </p:nvSpPr>
        <p:spPr/>
        <p:txBody>
          <a:bodyPr/>
          <a:lstStyle/>
          <a:p>
            <a:fld id="{9B36D0A1-DBF5-4D18-B03B-EEF128A659CD}" type="slidenum">
              <a:rPr lang="es-ES" smtClean="0"/>
              <a:t>9</a:t>
            </a:fld>
            <a:endParaRPr lang="es-ES"/>
          </a:p>
        </p:txBody>
      </p:sp>
    </p:spTree>
    <p:extLst>
      <p:ext uri="{BB962C8B-B14F-4D97-AF65-F5344CB8AC3E}">
        <p14:creationId xmlns:p14="http://schemas.microsoft.com/office/powerpoint/2010/main" val="115284257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Para demostrar la correcta trazabilidad del proyecto, hemos seleccionado el Módulo 2 de gestión de </a:t>
            </a:r>
            <a:r>
              <a:rPr lang="es-ES" err="1"/>
              <a:t>almacen</a:t>
            </a:r>
            <a:r>
              <a:rPr lang="es-ES"/>
              <a:t>.</a:t>
            </a:r>
          </a:p>
          <a:p>
            <a:endParaRPr lang="es-ES"/>
          </a:p>
          <a:p>
            <a:r>
              <a:rPr lang="es-ES"/>
              <a:t>Donde podemos comprobar como una estimación de esfuerzo de 50 se lleva a cabo en 50 horas en la planificación temporal del WBS</a:t>
            </a:r>
          </a:p>
          <a:p>
            <a:endParaRPr lang="es-ES"/>
          </a:p>
          <a:p>
            <a:r>
              <a:rPr lang="es-ES"/>
              <a:t>El presupuesto obtenido para dicho módulo es de 13.251 euros</a:t>
            </a:r>
          </a:p>
        </p:txBody>
      </p:sp>
      <p:sp>
        <p:nvSpPr>
          <p:cNvPr id="4" name="Marcador de número de diapositiva 3"/>
          <p:cNvSpPr>
            <a:spLocks noGrp="1"/>
          </p:cNvSpPr>
          <p:nvPr>
            <p:ph type="sldNum" sz="quarter" idx="5"/>
          </p:nvPr>
        </p:nvSpPr>
        <p:spPr/>
        <p:txBody>
          <a:bodyPr/>
          <a:lstStyle/>
          <a:p>
            <a:fld id="{9B36D0A1-DBF5-4D18-B03B-EEF128A659CD}" type="slidenum">
              <a:rPr lang="es-ES" smtClean="0"/>
              <a:t>10</a:t>
            </a:fld>
            <a:endParaRPr lang="es-ES"/>
          </a:p>
        </p:txBody>
      </p:sp>
    </p:spTree>
    <p:extLst>
      <p:ext uri="{BB962C8B-B14F-4D97-AF65-F5344CB8AC3E}">
        <p14:creationId xmlns:p14="http://schemas.microsoft.com/office/powerpoint/2010/main" val="386068561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Para sacar esta tabla de resumen primero tuvimos que calcular los puntos función, una vez hecho esto aplicamos la técnica Delphi.</a:t>
            </a:r>
          </a:p>
          <a:p>
            <a:endParaRPr lang="es-ES"/>
          </a:p>
          <a:p>
            <a:r>
              <a:rPr lang="es-ES"/>
              <a:t>En esta tabla resumen se puede comprobar como consideramos cada uno de los diferentes módulos y el esfuerzo requerido para su completado.</a:t>
            </a:r>
          </a:p>
          <a:p>
            <a:endParaRPr lang="es-ES"/>
          </a:p>
          <a:p>
            <a:r>
              <a:rPr lang="es-ES"/>
              <a:t>De esa manera sacamos que el módulo 1 del comercio electrónico tiene mucha mas complejidad que otros como el de </a:t>
            </a:r>
            <a:r>
              <a:rPr lang="es-ES" err="1"/>
              <a:t>picking</a:t>
            </a:r>
            <a:r>
              <a:rPr lang="es-ES"/>
              <a:t> y distribución debido a la cantidad de pantallas/ informes que encontramos necesarios para llevarlos a cabo.</a:t>
            </a:r>
          </a:p>
          <a:p>
            <a:endParaRPr lang="es-ES"/>
          </a:p>
          <a:p>
            <a:r>
              <a:rPr lang="es-ES"/>
              <a:t>Si lo mirásemos en orden de dificultad descendiente tendríamos el 1, 6, 5, 3, 2, 4, 7.</a:t>
            </a:r>
          </a:p>
          <a:p>
            <a:endParaRPr lang="es-ES"/>
          </a:p>
          <a:p>
            <a:r>
              <a:rPr lang="es-ES"/>
              <a:t>Según nuestros cálculos tenemos que la formación de un equipo de 4 programadores para la realización del proyecto es lo óptimo con respecto al esfuerzo.</a:t>
            </a:r>
          </a:p>
          <a:p>
            <a:endParaRPr lang="es-ES"/>
          </a:p>
          <a:p>
            <a:endParaRPr lang="es-ES"/>
          </a:p>
          <a:p>
            <a:endParaRPr lang="es-ES"/>
          </a:p>
          <a:p>
            <a:endParaRPr lang="es-ES"/>
          </a:p>
          <a:p>
            <a:endParaRPr lang="es-ES"/>
          </a:p>
          <a:p>
            <a:endParaRPr lang="es-ES"/>
          </a:p>
          <a:p>
            <a:r>
              <a:rPr lang="es-ES"/>
              <a:t>(OPCIONAL SI NECESITAMOS TIEMPO EXPLICAR:)</a:t>
            </a:r>
          </a:p>
          <a:p>
            <a:pPr algn="just">
              <a:lnSpc>
                <a:spcPct val="150000"/>
              </a:lnSpc>
              <a:spcAft>
                <a:spcPts val="800"/>
              </a:spcAft>
            </a:pPr>
            <a:r>
              <a:rPr lang="es-ES" sz="1800">
                <a:effectLst/>
                <a:latin typeface="Arial" panose="020B0604020202020204" pitchFamily="34" charset="0"/>
                <a:ea typeface="Calibri" panose="020F0502020204030204" pitchFamily="34" charset="0"/>
                <a:cs typeface="Times New Roman" panose="02020603050405020304" pitchFamily="18" charset="0"/>
              </a:rPr>
              <a:t>Primero de todo hablaré de la técnica de puntos función. Se basa en:</a:t>
            </a:r>
          </a:p>
          <a:p>
            <a:pPr marL="342900" lvl="0" indent="-342900" algn="just">
              <a:lnSpc>
                <a:spcPct val="150000"/>
              </a:lnSpc>
              <a:buFont typeface="Symbol" panose="05050102010706020507" pitchFamily="18" charset="2"/>
              <a:buChar char=""/>
            </a:pPr>
            <a:r>
              <a:rPr lang="es-ES" sz="1800" b="1">
                <a:effectLst/>
                <a:latin typeface="Arial" panose="020B0604020202020204" pitchFamily="34" charset="0"/>
                <a:ea typeface="Calibri" panose="020F0502020204030204" pitchFamily="34" charset="0"/>
                <a:cs typeface="Symbol" panose="05050102010706020507" pitchFamily="18" charset="2"/>
              </a:rPr>
              <a:t>Calcular los elementos de cada función</a:t>
            </a:r>
            <a:r>
              <a:rPr lang="es-ES" sz="1800">
                <a:effectLst/>
                <a:latin typeface="Arial" panose="020B0604020202020204" pitchFamily="34" charset="0"/>
                <a:ea typeface="Calibri" panose="020F0502020204030204" pitchFamily="34" charset="0"/>
                <a:cs typeface="Symbol" panose="05050102010706020507" pitchFamily="18" charset="2"/>
              </a:rPr>
              <a:t>: entradas, salidas, consultas, ficheros maestros e interfaces externas.</a:t>
            </a:r>
          </a:p>
          <a:p>
            <a:pPr marL="342900" lvl="0" indent="-342900" algn="just">
              <a:lnSpc>
                <a:spcPct val="150000"/>
              </a:lnSpc>
              <a:buFont typeface="Symbol" panose="05050102010706020507" pitchFamily="18" charset="2"/>
              <a:buChar char=""/>
            </a:pPr>
            <a:r>
              <a:rPr lang="es-ES" sz="1800" b="1">
                <a:effectLst/>
                <a:latin typeface="Arial" panose="020B0604020202020204" pitchFamily="34" charset="0"/>
                <a:ea typeface="Calibri" panose="020F0502020204030204" pitchFamily="34" charset="0"/>
                <a:cs typeface="Symbol" panose="05050102010706020507" pitchFamily="18" charset="2"/>
              </a:rPr>
              <a:t>Calcular los factores de peso:</a:t>
            </a:r>
            <a:r>
              <a:rPr lang="es-ES" sz="1800">
                <a:effectLst/>
                <a:latin typeface="Arial" panose="020B0604020202020204" pitchFamily="34" charset="0"/>
                <a:ea typeface="Calibri" panose="020F0502020204030204" pitchFamily="34" charset="0"/>
                <a:cs typeface="Symbol" panose="05050102010706020507" pitchFamily="18" charset="2"/>
              </a:rPr>
              <a:t> a cada elemento mencionado anteriormente se le asigna un factor de peso en función de su nivel de dificultad, para obtener posteriormente el contador de función o puntos de función no ajustados.</a:t>
            </a:r>
          </a:p>
          <a:p>
            <a:pPr marL="342900" lvl="0" indent="-342900" algn="just">
              <a:lnSpc>
                <a:spcPct val="150000"/>
              </a:lnSpc>
              <a:spcAft>
                <a:spcPts val="800"/>
              </a:spcAft>
              <a:buFont typeface="Symbol" panose="05050102010706020507" pitchFamily="18" charset="2"/>
              <a:buChar char=""/>
            </a:pPr>
            <a:r>
              <a:rPr lang="es-ES" sz="1800" b="1">
                <a:effectLst/>
                <a:latin typeface="Arial" panose="020B0604020202020204" pitchFamily="34" charset="0"/>
                <a:ea typeface="Calibri" panose="020F0502020204030204" pitchFamily="34" charset="0"/>
                <a:cs typeface="Symbol" panose="05050102010706020507" pitchFamily="18" charset="2"/>
              </a:rPr>
              <a:t>Calcular el factor de ajuste</a:t>
            </a:r>
            <a:r>
              <a:rPr lang="es-ES" sz="1800">
                <a:effectLst/>
                <a:latin typeface="Arial" panose="020B0604020202020204" pitchFamily="34" charset="0"/>
                <a:ea typeface="Calibri" panose="020F0502020204030204" pitchFamily="34" charset="0"/>
                <a:cs typeface="Symbol" panose="05050102010706020507" pitchFamily="18" charset="2"/>
              </a:rPr>
              <a:t>: respondiendo a 14 preguntas de 0 a 5 según la influencia que tengan. De aquí se obtendrá el factor de ajuste.</a:t>
            </a:r>
          </a:p>
          <a:p>
            <a:pPr algn="just">
              <a:lnSpc>
                <a:spcPct val="150000"/>
              </a:lnSpc>
              <a:spcAft>
                <a:spcPts val="800"/>
              </a:spcAft>
            </a:pPr>
            <a:r>
              <a:rPr lang="es-ES" sz="1800">
                <a:effectLst/>
                <a:latin typeface="Arial" panose="020B0604020202020204" pitchFamily="34" charset="0"/>
                <a:ea typeface="Calibri" panose="020F0502020204030204" pitchFamily="34" charset="0"/>
                <a:cs typeface="Times New Roman" panose="02020603050405020304" pitchFamily="18" charset="0"/>
              </a:rPr>
              <a:t>Una vez obtenido el contador de función y el factor de ajuste se multiplican y se obtienen los puntos función ajustados.</a:t>
            </a:r>
          </a:p>
          <a:p>
            <a:pPr algn="just">
              <a:lnSpc>
                <a:spcPct val="150000"/>
              </a:lnSpc>
              <a:spcAft>
                <a:spcPts val="800"/>
              </a:spcAft>
            </a:pPr>
            <a:r>
              <a:rPr lang="es-ES" sz="1800">
                <a:effectLst/>
                <a:latin typeface="Arial" panose="020B0604020202020204" pitchFamily="34" charset="0"/>
                <a:ea typeface="Calibri" panose="020F0502020204030204" pitchFamily="34" charset="0"/>
                <a:cs typeface="Times New Roman" panose="02020603050405020304" pitchFamily="18" charset="0"/>
              </a:rPr>
              <a:t>Para comenzar a elaborar los puntos función primero se debe determinar el contexto de la aplicación. En nuestro caso se han obtenido 12 registros para almacenar los datos: pacientes, usuarios….</a:t>
            </a:r>
          </a:p>
          <a:p>
            <a:pPr algn="just">
              <a:lnSpc>
                <a:spcPct val="150000"/>
              </a:lnSpc>
              <a:spcAft>
                <a:spcPts val="800"/>
              </a:spcAft>
            </a:pPr>
            <a:r>
              <a:rPr lang="es-ES" sz="1800">
                <a:effectLst/>
                <a:latin typeface="Arial" panose="020B0604020202020204" pitchFamily="34" charset="0"/>
                <a:ea typeface="Calibri" panose="020F0502020204030204" pitchFamily="34" charset="0"/>
                <a:cs typeface="Times New Roman" panose="02020603050405020304" pitchFamily="18" charset="0"/>
              </a:rPr>
              <a:t>Por último, para cada módulo se realiza una identificación de las funciones que tiene, se clasifican (entrada, salida…) y se calculan los puntos de función.</a:t>
            </a:r>
          </a:p>
          <a:p>
            <a:endParaRPr lang="es-ES"/>
          </a:p>
          <a:p>
            <a:endParaRPr lang="es-ES"/>
          </a:p>
          <a:p>
            <a:pPr marL="0" marR="0" lvl="0" indent="0" algn="l" defTabSz="914400" rtl="0" eaLnBrk="1" fontAlgn="auto" latinLnBrk="0" hangingPunct="1">
              <a:lnSpc>
                <a:spcPct val="100000"/>
              </a:lnSpc>
              <a:spcBef>
                <a:spcPts val="0"/>
              </a:spcBef>
              <a:spcAft>
                <a:spcPts val="0"/>
              </a:spcAft>
              <a:buClrTx/>
              <a:buSzTx/>
              <a:buFontTx/>
              <a:buNone/>
              <a:tabLst/>
              <a:defRPr/>
            </a:pPr>
            <a:r>
              <a:rPr lang="es-ES"/>
              <a:t>En cada uno de los 7 módulos realizados se ha tenido en cuenta </a:t>
            </a:r>
            <a:r>
              <a:rPr lang="es-ES" sz="1800">
                <a:effectLst/>
                <a:latin typeface="Arial" panose="020B0604020202020204" pitchFamily="34" charset="0"/>
                <a:ea typeface="Calibri" panose="020F0502020204030204" pitchFamily="34" charset="0"/>
                <a:cs typeface="Times New Roman" panose="02020603050405020304" pitchFamily="18" charset="0"/>
              </a:rPr>
              <a:t> </a:t>
            </a:r>
            <a:r>
              <a:rPr lang="es-ES" sz="1800" b="1">
                <a:effectLst/>
                <a:latin typeface="Arial" panose="020B0604020202020204" pitchFamily="34" charset="0"/>
                <a:ea typeface="Calibri" panose="020F0502020204030204" pitchFamily="34" charset="0"/>
                <a:cs typeface="Times New Roman" panose="02020603050405020304" pitchFamily="18" charset="0"/>
              </a:rPr>
              <a:t>las funciones</a:t>
            </a:r>
            <a:r>
              <a:rPr lang="es-ES" sz="1800">
                <a:effectLst/>
                <a:latin typeface="Arial" panose="020B0604020202020204" pitchFamily="34" charset="0"/>
                <a:ea typeface="Calibri" panose="020F0502020204030204" pitchFamily="34" charset="0"/>
                <a:cs typeface="Times New Roman" panose="02020603050405020304" pitchFamily="18" charset="0"/>
              </a:rPr>
              <a:t>, el </a:t>
            </a:r>
            <a:r>
              <a:rPr lang="es-ES" sz="1800" b="1">
                <a:effectLst/>
                <a:latin typeface="Arial" panose="020B0604020202020204" pitchFamily="34" charset="0"/>
                <a:ea typeface="Calibri" panose="020F0502020204030204" pitchFamily="34" charset="0"/>
                <a:cs typeface="Times New Roman" panose="02020603050405020304" pitchFamily="18" charset="0"/>
              </a:rPr>
              <a:t>tipo de función </a:t>
            </a:r>
            <a:r>
              <a:rPr lang="es-ES" sz="1800">
                <a:effectLst/>
                <a:latin typeface="Arial" panose="020B0604020202020204" pitchFamily="34" charset="0"/>
                <a:ea typeface="Calibri" panose="020F0502020204030204" pitchFamily="34" charset="0"/>
                <a:cs typeface="Times New Roman" panose="02020603050405020304" pitchFamily="18" charset="0"/>
              </a:rPr>
              <a:t>que son y </a:t>
            </a:r>
            <a:r>
              <a:rPr lang="es-ES" sz="1800" b="1">
                <a:effectLst/>
                <a:latin typeface="Arial" panose="020B0604020202020204" pitchFamily="34" charset="0"/>
                <a:ea typeface="Calibri" panose="020F0502020204030204" pitchFamily="34" charset="0"/>
                <a:cs typeface="Times New Roman" panose="02020603050405020304" pitchFamily="18" charset="0"/>
              </a:rPr>
              <a:t>su complejidad </a:t>
            </a:r>
            <a:r>
              <a:rPr lang="es-ES" sz="1800">
                <a:effectLst/>
                <a:latin typeface="Arial" panose="020B0604020202020204" pitchFamily="34" charset="0"/>
                <a:ea typeface="Calibri" panose="020F0502020204030204" pitchFamily="34" charset="0"/>
                <a:cs typeface="Times New Roman" panose="02020603050405020304" pitchFamily="18" charset="0"/>
              </a:rPr>
              <a:t>en función del número de registros lógicos a los que accede y el número de datos.</a:t>
            </a:r>
          </a:p>
          <a:p>
            <a:endParaRPr lang="es-ES"/>
          </a:p>
          <a:p>
            <a:r>
              <a:rPr lang="es-ES" sz="1800">
                <a:effectLst/>
                <a:latin typeface="Arial" panose="020B0604020202020204" pitchFamily="34" charset="0"/>
                <a:ea typeface="Calibri" panose="020F0502020204030204" pitchFamily="34" charset="0"/>
                <a:cs typeface="Times New Roman" panose="02020603050405020304" pitchFamily="18" charset="0"/>
              </a:rPr>
              <a:t>Esto nos dio por </a:t>
            </a:r>
            <a:r>
              <a:rPr lang="es-ES" sz="1800" b="1">
                <a:effectLst/>
                <a:latin typeface="Arial" panose="020B0604020202020204" pitchFamily="34" charset="0"/>
                <a:ea typeface="Calibri" panose="020F0502020204030204" pitchFamily="34" charset="0"/>
                <a:cs typeface="Times New Roman" panose="02020603050405020304" pitchFamily="18" charset="0"/>
              </a:rPr>
              <a:t>resultado una matriz </a:t>
            </a:r>
            <a:r>
              <a:rPr lang="es-ES" sz="1800">
                <a:effectLst/>
                <a:latin typeface="Arial" panose="020B0604020202020204" pitchFamily="34" charset="0"/>
                <a:ea typeface="Calibri" panose="020F0502020204030204" pitchFamily="34" charset="0"/>
                <a:cs typeface="Times New Roman" panose="02020603050405020304" pitchFamily="18" charset="0"/>
              </a:rPr>
              <a:t>con el conteo de las funciones en función de su dificultad. </a:t>
            </a:r>
            <a:r>
              <a:rPr lang="es-ES" sz="1800" b="1">
                <a:effectLst/>
                <a:latin typeface="Arial" panose="020B0604020202020204" pitchFamily="34" charset="0"/>
                <a:ea typeface="Calibri" panose="020F0502020204030204" pitchFamily="34" charset="0"/>
                <a:cs typeface="Times New Roman" panose="02020603050405020304" pitchFamily="18" charset="0"/>
              </a:rPr>
              <a:t>Multiplicando esta matriz por </a:t>
            </a:r>
            <a:r>
              <a:rPr lang="es-ES" sz="1800">
                <a:effectLst/>
                <a:latin typeface="Arial" panose="020B0604020202020204" pitchFamily="34" charset="0"/>
                <a:ea typeface="Calibri" panose="020F0502020204030204" pitchFamily="34" charset="0"/>
                <a:cs typeface="Times New Roman" panose="02020603050405020304" pitchFamily="18" charset="0"/>
              </a:rPr>
              <a:t>la de los </a:t>
            </a:r>
            <a:r>
              <a:rPr lang="es-ES" sz="1800" b="1">
                <a:effectLst/>
                <a:latin typeface="Arial" panose="020B0604020202020204" pitchFamily="34" charset="0"/>
                <a:ea typeface="Calibri" panose="020F0502020204030204" pitchFamily="34" charset="0"/>
                <a:cs typeface="Times New Roman" panose="02020603050405020304" pitchFamily="18" charset="0"/>
              </a:rPr>
              <a:t>factores de peso </a:t>
            </a:r>
            <a:r>
              <a:rPr lang="es-ES" sz="1800">
                <a:effectLst/>
                <a:latin typeface="Arial" panose="020B0604020202020204" pitchFamily="34" charset="0"/>
                <a:ea typeface="Calibri" panose="020F0502020204030204" pitchFamily="34" charset="0"/>
                <a:cs typeface="Times New Roman" panose="02020603050405020304" pitchFamily="18" charset="0"/>
              </a:rPr>
              <a:t>se obtendrá el contador de función, el cual se puede ver para cada uno de los respectivos módulos.</a:t>
            </a:r>
            <a:endParaRPr lang="es-ES"/>
          </a:p>
        </p:txBody>
      </p:sp>
      <p:sp>
        <p:nvSpPr>
          <p:cNvPr id="4" name="Marcador de número de diapositiva 3"/>
          <p:cNvSpPr>
            <a:spLocks noGrp="1"/>
          </p:cNvSpPr>
          <p:nvPr>
            <p:ph type="sldNum" sz="quarter" idx="5"/>
          </p:nvPr>
        </p:nvSpPr>
        <p:spPr/>
        <p:txBody>
          <a:bodyPr/>
          <a:lstStyle/>
          <a:p>
            <a:fld id="{9B36D0A1-DBF5-4D18-B03B-EEF128A659CD}" type="slidenum">
              <a:rPr lang="es-ES" smtClean="0"/>
              <a:t>11</a:t>
            </a:fld>
            <a:endParaRPr lang="es-ES"/>
          </a:p>
        </p:txBody>
      </p:sp>
    </p:spTree>
    <p:extLst>
      <p:ext uri="{BB962C8B-B14F-4D97-AF65-F5344CB8AC3E}">
        <p14:creationId xmlns:p14="http://schemas.microsoft.com/office/powerpoint/2010/main" val="54820346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   Primera columna: coste de cada partida calculado teniendo en cuenta las horas dedicadas y coste de las misma por los empleados que trabajan para llevarlo a cabo, y el coste del hardware en caso de la primera partida.</a:t>
            </a:r>
          </a:p>
          <a:p>
            <a:pPr marL="171450" indent="-171450">
              <a:buFontTx/>
              <a:buChar char="-"/>
            </a:pPr>
            <a:r>
              <a:rPr lang="es-ES"/>
              <a:t>Segunda columna: coste una vez sumados los costes indirectos que se reparten multiplicando el coste normalizado de cada partida por el total de los costes indirectos y no se tiene en cuenta la partida del hardware.</a:t>
            </a:r>
          </a:p>
          <a:p>
            <a:pPr marL="171450" indent="-171450">
              <a:buFontTx/>
              <a:buChar char="-"/>
            </a:pPr>
            <a:r>
              <a:rPr lang="es-ES"/>
              <a:t>Tercera columna: Si tiene un 1 se tiene en cuenta a la hora de repartir el margen.</a:t>
            </a:r>
          </a:p>
          <a:p>
            <a:pPr marL="171450" indent="-171450">
              <a:buFontTx/>
              <a:buChar char="-"/>
            </a:pPr>
            <a:r>
              <a:rPr lang="es-ES"/>
              <a:t>Cuarta columna: Coste a sumar a cada modulo para poder obtener el margen que queremos (25%).</a:t>
            </a:r>
          </a:p>
          <a:p>
            <a:pPr marL="171450" indent="-171450">
              <a:buFontTx/>
              <a:buChar char="-"/>
            </a:pPr>
            <a:r>
              <a:rPr lang="es-ES"/>
              <a:t>Quinta columna: coste final que vamos a cobrar al cliente que se obtiene al sumar la columna anterior  a las partidas con los costes indirectos ya sumados.</a:t>
            </a:r>
          </a:p>
        </p:txBody>
      </p:sp>
      <p:sp>
        <p:nvSpPr>
          <p:cNvPr id="4" name="Marcador de número de diapositiva 3"/>
          <p:cNvSpPr>
            <a:spLocks noGrp="1"/>
          </p:cNvSpPr>
          <p:nvPr>
            <p:ph type="sldNum" sz="quarter" idx="5"/>
          </p:nvPr>
        </p:nvSpPr>
        <p:spPr/>
        <p:txBody>
          <a:bodyPr/>
          <a:lstStyle/>
          <a:p>
            <a:fld id="{9B36D0A1-DBF5-4D18-B03B-EEF128A659CD}" type="slidenum">
              <a:rPr lang="es-ES" smtClean="0"/>
              <a:t>12</a:t>
            </a:fld>
            <a:endParaRPr lang="es-ES"/>
          </a:p>
        </p:txBody>
      </p:sp>
    </p:spTree>
    <p:extLst>
      <p:ext uri="{BB962C8B-B14F-4D97-AF65-F5344CB8AC3E}">
        <p14:creationId xmlns:p14="http://schemas.microsoft.com/office/powerpoint/2010/main" val="307774458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171450" indent="-171450">
              <a:buFontTx/>
              <a:buChar char="-"/>
            </a:pPr>
            <a:r>
              <a:rPr lang="es-ES"/>
              <a:t>Otros costes: </a:t>
            </a:r>
          </a:p>
          <a:p>
            <a:pPr marL="628650" lvl="1" indent="-171450">
              <a:buFontTx/>
              <a:buChar char="-"/>
            </a:pPr>
            <a:r>
              <a:rPr lang="es-ES"/>
              <a:t>comidas a 20€ la comida, 24 comidas porque se movilizan a 3 personas para 8 reuniones da un coste de 480€ para comidas.</a:t>
            </a:r>
          </a:p>
          <a:p>
            <a:pPr marL="628650" lvl="1" indent="-171450">
              <a:buFontTx/>
              <a:buChar char="-"/>
            </a:pPr>
            <a:r>
              <a:rPr lang="es-ES"/>
              <a:t>Viajes a 0.19€ el kilometro, 24 personas, oficina del cliente a 20 kilómetros de distancia.</a:t>
            </a:r>
          </a:p>
          <a:p>
            <a:pPr marL="628650" lvl="1" indent="-171450">
              <a:buFontTx/>
              <a:buChar char="-"/>
            </a:pPr>
            <a:endParaRPr lang="es-ES"/>
          </a:p>
          <a:p>
            <a:pPr marL="171450" lvl="0" indent="-171450">
              <a:buFontTx/>
              <a:buChar char="-"/>
            </a:pPr>
            <a:r>
              <a:rPr lang="es-ES"/>
              <a:t>Reserva del cronograma</a:t>
            </a:r>
          </a:p>
          <a:p>
            <a:pPr marL="628650" lvl="1" indent="-171450">
              <a:buFontTx/>
              <a:buChar char="-"/>
            </a:pPr>
            <a:r>
              <a:rPr lang="es-ES"/>
              <a:t>Para calcular la reserva del cronograma decidimos planificar 80 horas de retraso para cada uno de los distintos recursos del proyecto, ya que un retraso puede ser tanto en el desarrollo de los módulos como en la gestión del proyecto como en cualquier parte del proyecto.</a:t>
            </a:r>
          </a:p>
          <a:p>
            <a:pPr marL="628650" lvl="1" indent="-171450">
              <a:buFontTx/>
              <a:buChar char="-"/>
            </a:pPr>
            <a:endParaRPr lang="es-ES"/>
          </a:p>
        </p:txBody>
      </p:sp>
      <p:sp>
        <p:nvSpPr>
          <p:cNvPr id="4" name="Marcador de número de diapositiva 3"/>
          <p:cNvSpPr>
            <a:spLocks noGrp="1"/>
          </p:cNvSpPr>
          <p:nvPr>
            <p:ph type="sldNum" sz="quarter" idx="5"/>
          </p:nvPr>
        </p:nvSpPr>
        <p:spPr/>
        <p:txBody>
          <a:bodyPr/>
          <a:lstStyle/>
          <a:p>
            <a:fld id="{9B36D0A1-DBF5-4D18-B03B-EEF128A659CD}" type="slidenum">
              <a:rPr lang="es-ES" smtClean="0"/>
              <a:t>13</a:t>
            </a:fld>
            <a:endParaRPr lang="es-ES"/>
          </a:p>
        </p:txBody>
      </p:sp>
    </p:spTree>
    <p:extLst>
      <p:ext uri="{BB962C8B-B14F-4D97-AF65-F5344CB8AC3E}">
        <p14:creationId xmlns:p14="http://schemas.microsoft.com/office/powerpoint/2010/main" val="39621338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Para calcular el presupuesto del cliente primero repartimos en cada partida los costes indirectos que tenemos, el 25% de margen que esperamos conseguir, la reserva del cronograma y los otros costes explicados en la diapositiva anterior.</a:t>
            </a:r>
          </a:p>
          <a:p>
            <a:r>
              <a:rPr lang="es-ES"/>
              <a:t>Una vez hecho esto se repartió el coste entre cada modulo a desarrollar en proporción a los puntos función calculados en la estimación de esfuerzos. </a:t>
            </a:r>
          </a:p>
        </p:txBody>
      </p:sp>
      <p:sp>
        <p:nvSpPr>
          <p:cNvPr id="4" name="Marcador de número de diapositiva 3"/>
          <p:cNvSpPr>
            <a:spLocks noGrp="1"/>
          </p:cNvSpPr>
          <p:nvPr>
            <p:ph type="sldNum" sz="quarter" idx="5"/>
          </p:nvPr>
        </p:nvSpPr>
        <p:spPr/>
        <p:txBody>
          <a:bodyPr/>
          <a:lstStyle/>
          <a:p>
            <a:fld id="{9B36D0A1-DBF5-4D18-B03B-EEF128A659CD}" type="slidenum">
              <a:rPr lang="es-ES" smtClean="0"/>
              <a:t>14</a:t>
            </a:fld>
            <a:endParaRPr lang="es-ES"/>
          </a:p>
        </p:txBody>
      </p:sp>
    </p:spTree>
    <p:extLst>
      <p:ext uri="{BB962C8B-B14F-4D97-AF65-F5344CB8AC3E}">
        <p14:creationId xmlns:p14="http://schemas.microsoft.com/office/powerpoint/2010/main" val="144051945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n-US"/>
              <a:t>La </a:t>
            </a:r>
            <a:r>
              <a:rPr lang="en-US" err="1"/>
              <a:t>gestión</a:t>
            </a:r>
            <a:r>
              <a:rPr lang="en-US"/>
              <a:t> de </a:t>
            </a:r>
            <a:r>
              <a:rPr lang="en-US" err="1"/>
              <a:t>comunicaciones</a:t>
            </a:r>
            <a:r>
              <a:rPr lang="en-US"/>
              <a:t> </a:t>
            </a:r>
            <a:r>
              <a:rPr lang="en-US" err="1"/>
              <a:t>incluye</a:t>
            </a:r>
            <a:r>
              <a:rPr lang="en-US"/>
              <a:t> </a:t>
            </a:r>
            <a:r>
              <a:rPr lang="en-US" err="1"/>
              <a:t>todo</a:t>
            </a:r>
            <a:r>
              <a:rPr lang="en-US"/>
              <a:t> lo </a:t>
            </a:r>
            <a:r>
              <a:rPr lang="en-US" err="1"/>
              <a:t>relacionado</a:t>
            </a:r>
            <a:r>
              <a:rPr lang="en-US"/>
              <a:t> con le </a:t>
            </a:r>
            <a:r>
              <a:rPr lang="en-US" err="1"/>
              <a:t>generación</a:t>
            </a:r>
            <a:r>
              <a:rPr lang="en-US"/>
              <a:t>, </a:t>
            </a:r>
            <a:r>
              <a:rPr lang="en-US" err="1"/>
              <a:t>recopilación</a:t>
            </a:r>
            <a:r>
              <a:rPr lang="en-US"/>
              <a:t>, la </a:t>
            </a:r>
            <a:r>
              <a:rPr lang="en-US" err="1"/>
              <a:t>distribución</a:t>
            </a:r>
            <a:r>
              <a:rPr lang="en-US"/>
              <a:t>, </a:t>
            </a:r>
            <a:r>
              <a:rPr lang="en-US" err="1"/>
              <a:t>el</a:t>
            </a:r>
            <a:r>
              <a:rPr lang="en-US"/>
              <a:t> </a:t>
            </a:r>
            <a:r>
              <a:rPr lang="en-US" err="1"/>
              <a:t>almacenamiento</a:t>
            </a:r>
            <a:r>
              <a:rPr lang="en-US"/>
              <a:t>, la </a:t>
            </a:r>
            <a:r>
              <a:rPr lang="en-US" err="1"/>
              <a:t>recuperación</a:t>
            </a:r>
            <a:r>
              <a:rPr lang="en-US"/>
              <a:t> y la </a:t>
            </a:r>
            <a:r>
              <a:rPr lang="en-US" err="1"/>
              <a:t>disposición</a:t>
            </a:r>
            <a:r>
              <a:rPr lang="en-US"/>
              <a:t> final de la </a:t>
            </a:r>
            <a:r>
              <a:rPr lang="en-US" err="1"/>
              <a:t>información</a:t>
            </a:r>
            <a:r>
              <a:rPr lang="en-US"/>
              <a:t> del </a:t>
            </a:r>
            <a:r>
              <a:rPr lang="en-US" err="1"/>
              <a:t>proyecto</a:t>
            </a:r>
            <a:r>
              <a:rPr lang="en-US"/>
              <a:t>, </a:t>
            </a:r>
            <a:r>
              <a:rPr lang="en-US" err="1"/>
              <a:t>garantizando</a:t>
            </a:r>
            <a:r>
              <a:rPr lang="en-US"/>
              <a:t> que sea </a:t>
            </a:r>
            <a:r>
              <a:rPr lang="en-US" err="1"/>
              <a:t>adecuada</a:t>
            </a:r>
            <a:r>
              <a:rPr lang="en-US"/>
              <a:t> y </a:t>
            </a:r>
            <a:r>
              <a:rPr lang="en-US" err="1"/>
              <a:t>oportuna</a:t>
            </a:r>
            <a:r>
              <a:rPr lang="en-US"/>
              <a:t>.</a:t>
            </a:r>
            <a:endParaRPr lang="es-ES"/>
          </a:p>
          <a:p>
            <a:r>
              <a:rPr lang="en-US"/>
              <a:t>Esto es algo indispensable </a:t>
            </a:r>
            <a:r>
              <a:rPr lang="en-US" err="1"/>
              <a:t>en</a:t>
            </a:r>
            <a:r>
              <a:rPr lang="en-US"/>
              <a:t> un </a:t>
            </a:r>
            <a:r>
              <a:rPr lang="en-US" err="1"/>
              <a:t>proyecto</a:t>
            </a:r>
            <a:r>
              <a:rPr lang="en-US"/>
              <a:t>, </a:t>
            </a:r>
            <a:r>
              <a:rPr lang="en-US" err="1"/>
              <a:t>ya</a:t>
            </a:r>
            <a:r>
              <a:rPr lang="en-US"/>
              <a:t> que la </a:t>
            </a:r>
            <a:r>
              <a:rPr lang="en-US" err="1"/>
              <a:t>comunicación</a:t>
            </a:r>
            <a:r>
              <a:rPr lang="en-US"/>
              <a:t> </a:t>
            </a:r>
            <a:r>
              <a:rPr lang="en-US" err="1"/>
              <a:t>existe</a:t>
            </a:r>
            <a:r>
              <a:rPr lang="en-US"/>
              <a:t> entre </a:t>
            </a:r>
            <a:r>
              <a:rPr lang="en-US" err="1"/>
              <a:t>todos</a:t>
            </a:r>
            <a:r>
              <a:rPr lang="en-US"/>
              <a:t> </a:t>
            </a:r>
            <a:r>
              <a:rPr lang="en-US" err="1"/>
              <a:t>los</a:t>
            </a:r>
            <a:r>
              <a:rPr lang="en-US"/>
              <a:t> </a:t>
            </a:r>
            <a:r>
              <a:rPr lang="en-US" err="1"/>
              <a:t>niveles</a:t>
            </a:r>
            <a:r>
              <a:rPr lang="en-US"/>
              <a:t> que </a:t>
            </a:r>
            <a:r>
              <a:rPr lang="en-US" err="1"/>
              <a:t>forman</a:t>
            </a:r>
            <a:r>
              <a:rPr lang="en-US"/>
              <a:t> la </a:t>
            </a:r>
            <a:r>
              <a:rPr lang="en-US" err="1"/>
              <a:t>organización</a:t>
            </a:r>
            <a:r>
              <a:rPr lang="en-US"/>
              <a:t>, </a:t>
            </a:r>
            <a:r>
              <a:rPr lang="en-US" err="1"/>
              <a:t>desde</a:t>
            </a:r>
            <a:r>
              <a:rPr lang="en-US"/>
              <a:t> </a:t>
            </a:r>
            <a:r>
              <a:rPr lang="en-US" err="1"/>
              <a:t>directivos</a:t>
            </a:r>
            <a:r>
              <a:rPr lang="en-US"/>
              <a:t> hasta </a:t>
            </a:r>
            <a:r>
              <a:rPr lang="en-US" err="1"/>
              <a:t>factores</a:t>
            </a:r>
            <a:r>
              <a:rPr lang="en-US"/>
              <a:t> </a:t>
            </a:r>
            <a:r>
              <a:rPr lang="en-US" err="1"/>
              <a:t>externos</a:t>
            </a:r>
            <a:r>
              <a:rPr lang="en-US"/>
              <a:t> de la </a:t>
            </a:r>
            <a:r>
              <a:rPr lang="en-US" err="1"/>
              <a:t>misma</a:t>
            </a:r>
            <a:r>
              <a:rPr lang="en-US"/>
              <a:t>.</a:t>
            </a:r>
            <a:endParaRPr lang="es-ES"/>
          </a:p>
          <a:p>
            <a:r>
              <a:rPr lang="en-US"/>
              <a:t>Una </a:t>
            </a:r>
            <a:r>
              <a:rPr lang="en-US" err="1"/>
              <a:t>buena</a:t>
            </a:r>
            <a:r>
              <a:rPr lang="en-US"/>
              <a:t> </a:t>
            </a:r>
            <a:r>
              <a:rPr lang="en-US" err="1"/>
              <a:t>comunicación</a:t>
            </a:r>
            <a:r>
              <a:rPr lang="en-US"/>
              <a:t>, </a:t>
            </a:r>
            <a:r>
              <a:rPr lang="en-US" err="1"/>
              <a:t>garantiza</a:t>
            </a:r>
            <a:r>
              <a:rPr lang="en-US"/>
              <a:t> que la </a:t>
            </a:r>
            <a:r>
              <a:rPr lang="en-US" err="1"/>
              <a:t>conexión</a:t>
            </a:r>
            <a:r>
              <a:rPr lang="en-US"/>
              <a:t> entre </a:t>
            </a:r>
            <a:r>
              <a:rPr lang="en-US" err="1"/>
              <a:t>los</a:t>
            </a:r>
            <a:r>
              <a:rPr lang="en-US"/>
              <a:t> stakeholders del </a:t>
            </a:r>
            <a:r>
              <a:rPr lang="en-US" err="1"/>
              <a:t>proyecto</a:t>
            </a:r>
            <a:r>
              <a:rPr lang="en-US"/>
              <a:t> sea </a:t>
            </a:r>
            <a:r>
              <a:rPr lang="en-US" err="1"/>
              <a:t>adecuanda</a:t>
            </a:r>
            <a:r>
              <a:rPr lang="en-US"/>
              <a:t> </a:t>
            </a:r>
            <a:r>
              <a:rPr lang="en-US" err="1"/>
              <a:t>durante</a:t>
            </a:r>
            <a:r>
              <a:rPr lang="en-US"/>
              <a:t> </a:t>
            </a:r>
            <a:r>
              <a:rPr lang="en-US" err="1"/>
              <a:t>su</a:t>
            </a:r>
            <a:r>
              <a:rPr lang="en-US"/>
              <a:t> </a:t>
            </a:r>
            <a:r>
              <a:rPr lang="en-US" err="1"/>
              <a:t>realización</a:t>
            </a:r>
            <a:r>
              <a:rPr lang="en-US"/>
              <a:t>.</a:t>
            </a:r>
            <a:endParaRPr lang="es-ES"/>
          </a:p>
          <a:p>
            <a:endParaRPr lang="en-US"/>
          </a:p>
          <a:p>
            <a:r>
              <a:rPr lang="en-US"/>
              <a:t>En </a:t>
            </a:r>
            <a:r>
              <a:rPr lang="en-US" err="1"/>
              <a:t>el</a:t>
            </a:r>
            <a:r>
              <a:rPr lang="en-US"/>
              <a:t> plan de </a:t>
            </a:r>
            <a:r>
              <a:rPr lang="en-US" err="1"/>
              <a:t>gestión</a:t>
            </a:r>
            <a:r>
              <a:rPr lang="en-US"/>
              <a:t> de </a:t>
            </a:r>
            <a:r>
              <a:rPr lang="en-US" err="1"/>
              <a:t>comunicaciones</a:t>
            </a:r>
            <a:r>
              <a:rPr lang="en-US"/>
              <a:t> </a:t>
            </a:r>
            <a:r>
              <a:rPr lang="en-US" err="1"/>
              <a:t>tenemos</a:t>
            </a:r>
            <a:r>
              <a:rPr lang="en-US"/>
              <a:t> 3 </a:t>
            </a:r>
            <a:r>
              <a:rPr lang="en-US" err="1"/>
              <a:t>elementos</a:t>
            </a:r>
            <a:r>
              <a:rPr lang="en-US"/>
              <a:t> </a:t>
            </a:r>
            <a:r>
              <a:rPr lang="en-US" err="1"/>
              <a:t>principales</a:t>
            </a:r>
            <a:r>
              <a:rPr lang="en-US"/>
              <a:t> que </a:t>
            </a:r>
            <a:r>
              <a:rPr lang="en-US" err="1"/>
              <a:t>participan</a:t>
            </a:r>
            <a:r>
              <a:rPr lang="en-US"/>
              <a:t> </a:t>
            </a:r>
            <a:r>
              <a:rPr lang="en-US" err="1"/>
              <a:t>en</a:t>
            </a:r>
            <a:r>
              <a:rPr lang="en-US"/>
              <a:t> la </a:t>
            </a:r>
            <a:r>
              <a:rPr lang="en-US" err="1"/>
              <a:t>misma</a:t>
            </a:r>
            <a:r>
              <a:rPr lang="en-US"/>
              <a:t>.</a:t>
            </a:r>
            <a:endParaRPr lang="en-US">
              <a:cs typeface="Calibri"/>
            </a:endParaRPr>
          </a:p>
          <a:p>
            <a:endParaRPr lang="en-US"/>
          </a:p>
          <a:p>
            <a:r>
              <a:rPr lang="en-US"/>
              <a:t>Los </a:t>
            </a:r>
            <a:r>
              <a:rPr lang="en-US" err="1"/>
              <a:t>documentos</a:t>
            </a:r>
            <a:r>
              <a:rPr lang="en-US"/>
              <a:t> que son </a:t>
            </a:r>
            <a:r>
              <a:rPr lang="en-US" err="1"/>
              <a:t>enviados</a:t>
            </a:r>
            <a:r>
              <a:rPr lang="en-US"/>
              <a:t> y </a:t>
            </a:r>
            <a:r>
              <a:rPr lang="en-US" err="1"/>
              <a:t>recibidos</a:t>
            </a:r>
            <a:r>
              <a:rPr lang="en-US"/>
              <a:t>, </a:t>
            </a:r>
            <a:r>
              <a:rPr lang="en-US" err="1"/>
              <a:t>los</a:t>
            </a:r>
            <a:r>
              <a:rPr lang="en-US"/>
              <a:t> </a:t>
            </a:r>
            <a:r>
              <a:rPr lang="en-US" err="1"/>
              <a:t>medios</a:t>
            </a:r>
            <a:r>
              <a:rPr lang="en-US"/>
              <a:t> de </a:t>
            </a:r>
            <a:r>
              <a:rPr lang="en-US" err="1"/>
              <a:t>comunicación</a:t>
            </a:r>
            <a:r>
              <a:rPr lang="en-US"/>
              <a:t> y </a:t>
            </a:r>
            <a:r>
              <a:rPr lang="en-US" err="1"/>
              <a:t>los</a:t>
            </a:r>
            <a:r>
              <a:rPr lang="en-US"/>
              <a:t> stakeholders.</a:t>
            </a:r>
            <a:endParaRPr lang="en-US">
              <a:cs typeface="Calibri"/>
            </a:endParaRPr>
          </a:p>
          <a:p>
            <a:endParaRPr lang="en-US">
              <a:cs typeface="Calibri"/>
            </a:endParaRPr>
          </a:p>
          <a:p>
            <a:r>
              <a:rPr lang="en-US">
                <a:cs typeface="Calibri"/>
              </a:rPr>
              <a:t>HABLAR TABLA STAKEHOLDERS</a:t>
            </a:r>
          </a:p>
          <a:p>
            <a:endParaRPr lang="en-US">
              <a:cs typeface="Calibri"/>
            </a:endParaRPr>
          </a:p>
          <a:p>
            <a:endParaRPr lang="en-US">
              <a:cs typeface="Calibri"/>
            </a:endParaRPr>
          </a:p>
        </p:txBody>
      </p:sp>
      <p:sp>
        <p:nvSpPr>
          <p:cNvPr id="4" name="Marcador de número de diapositiva 3"/>
          <p:cNvSpPr>
            <a:spLocks noGrp="1"/>
          </p:cNvSpPr>
          <p:nvPr>
            <p:ph type="sldNum" sz="quarter" idx="5"/>
          </p:nvPr>
        </p:nvSpPr>
        <p:spPr/>
        <p:txBody>
          <a:bodyPr/>
          <a:lstStyle/>
          <a:p>
            <a:fld id="{9B36D0A1-DBF5-4D18-B03B-EEF128A659CD}" type="slidenum">
              <a:rPr lang="es-ES" smtClean="0"/>
              <a:t>15</a:t>
            </a:fld>
            <a:endParaRPr lang="es-ES"/>
          </a:p>
        </p:txBody>
      </p:sp>
    </p:spTree>
    <p:extLst>
      <p:ext uri="{BB962C8B-B14F-4D97-AF65-F5344CB8AC3E}">
        <p14:creationId xmlns:p14="http://schemas.microsoft.com/office/powerpoint/2010/main" val="111451103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n-US">
                <a:cs typeface="Calibri"/>
              </a:rPr>
              <a:t>Como </a:t>
            </a:r>
            <a:r>
              <a:rPr lang="en-US" err="1">
                <a:cs typeface="Calibri"/>
              </a:rPr>
              <a:t>producto</a:t>
            </a:r>
            <a:r>
              <a:rPr lang="en-US">
                <a:cs typeface="Calibri"/>
              </a:rPr>
              <a:t> del </a:t>
            </a:r>
            <a:r>
              <a:rPr lang="en-US" err="1">
                <a:cs typeface="Calibri"/>
              </a:rPr>
              <a:t>desarrollo</a:t>
            </a:r>
            <a:r>
              <a:rPr lang="en-US">
                <a:cs typeface="Calibri"/>
              </a:rPr>
              <a:t> de un plan de </a:t>
            </a:r>
            <a:r>
              <a:rPr lang="en-US" err="1">
                <a:cs typeface="Calibri"/>
              </a:rPr>
              <a:t>gestión</a:t>
            </a:r>
            <a:r>
              <a:rPr lang="en-US">
                <a:cs typeface="Calibri"/>
              </a:rPr>
              <a:t> de </a:t>
            </a:r>
            <a:r>
              <a:rPr lang="en-US" err="1">
                <a:cs typeface="Calibri"/>
              </a:rPr>
              <a:t>comunicaciones</a:t>
            </a:r>
            <a:r>
              <a:rPr lang="en-US">
                <a:cs typeface="Calibri"/>
              </a:rPr>
              <a:t> </a:t>
            </a:r>
            <a:r>
              <a:rPr lang="en-US" err="1">
                <a:cs typeface="Calibri"/>
              </a:rPr>
              <a:t>obtenemos</a:t>
            </a:r>
            <a:r>
              <a:rPr lang="en-US">
                <a:cs typeface="Calibri"/>
              </a:rPr>
              <a:t> la </a:t>
            </a:r>
            <a:r>
              <a:rPr lang="en-US" err="1">
                <a:cs typeface="Calibri"/>
              </a:rPr>
              <a:t>siguiente</a:t>
            </a:r>
            <a:r>
              <a:rPr lang="en-US">
                <a:cs typeface="Calibri"/>
              </a:rPr>
              <a:t> </a:t>
            </a:r>
            <a:r>
              <a:rPr lang="en-US" err="1">
                <a:cs typeface="Calibri"/>
              </a:rPr>
              <a:t>matriz</a:t>
            </a:r>
            <a:r>
              <a:rPr lang="en-US">
                <a:cs typeface="Calibri"/>
              </a:rPr>
              <a:t> de </a:t>
            </a:r>
            <a:r>
              <a:rPr lang="en-US" err="1">
                <a:cs typeface="Calibri"/>
              </a:rPr>
              <a:t>comunicaciones</a:t>
            </a:r>
            <a:r>
              <a:rPr lang="en-US">
                <a:cs typeface="Calibri"/>
              </a:rPr>
              <a:t>, </a:t>
            </a:r>
            <a:r>
              <a:rPr lang="en-US" err="1">
                <a:cs typeface="Calibri"/>
              </a:rPr>
              <a:t>observamos</a:t>
            </a:r>
            <a:r>
              <a:rPr lang="en-US">
                <a:cs typeface="Calibri"/>
              </a:rPr>
              <a:t> </a:t>
            </a:r>
            <a:r>
              <a:rPr lang="en-US" err="1">
                <a:cs typeface="Calibri"/>
              </a:rPr>
              <a:t>objetivo</a:t>
            </a:r>
            <a:r>
              <a:rPr lang="en-US">
                <a:cs typeface="Calibri"/>
              </a:rPr>
              <a:t>, </a:t>
            </a:r>
            <a:r>
              <a:rPr lang="en-US" err="1">
                <a:cs typeface="Calibri"/>
              </a:rPr>
              <a:t>documentos</a:t>
            </a:r>
            <a:r>
              <a:rPr lang="en-US">
                <a:cs typeface="Calibri"/>
              </a:rPr>
              <a:t>, </a:t>
            </a:r>
            <a:r>
              <a:rPr lang="en-US" err="1">
                <a:cs typeface="Calibri"/>
              </a:rPr>
              <a:t>fuente</a:t>
            </a:r>
            <a:r>
              <a:rPr lang="en-US">
                <a:cs typeface="Calibri"/>
              </a:rPr>
              <a:t>, </a:t>
            </a:r>
            <a:r>
              <a:rPr lang="en-US" err="1">
                <a:cs typeface="Calibri"/>
              </a:rPr>
              <a:t>aprobador</a:t>
            </a:r>
            <a:r>
              <a:rPr lang="en-US">
                <a:cs typeface="Calibri"/>
              </a:rPr>
              <a:t> y audiencia</a:t>
            </a:r>
            <a:endParaRPr lang="es-ES">
              <a:cs typeface="Calibri" panose="020F0502020204030204"/>
            </a:endParaRPr>
          </a:p>
          <a:p>
            <a:r>
              <a:rPr lang="en-US">
                <a:cs typeface="Calibri"/>
              </a:rPr>
              <a:t>ENUMERAR</a:t>
            </a:r>
            <a:endParaRPr lang="en-US"/>
          </a:p>
          <a:p>
            <a:endParaRPr lang="en-US">
              <a:cs typeface="Calibri"/>
            </a:endParaRPr>
          </a:p>
          <a:p>
            <a:endParaRPr lang="en-US">
              <a:cs typeface="Calibri"/>
            </a:endParaRPr>
          </a:p>
        </p:txBody>
      </p:sp>
      <p:sp>
        <p:nvSpPr>
          <p:cNvPr id="4" name="Marcador de número de diapositiva 3"/>
          <p:cNvSpPr>
            <a:spLocks noGrp="1"/>
          </p:cNvSpPr>
          <p:nvPr>
            <p:ph type="sldNum" sz="quarter" idx="5"/>
          </p:nvPr>
        </p:nvSpPr>
        <p:spPr/>
        <p:txBody>
          <a:bodyPr/>
          <a:lstStyle/>
          <a:p>
            <a:fld id="{9B36D0A1-DBF5-4D18-B03B-EEF128A659CD}" type="slidenum">
              <a:rPr lang="es-ES" smtClean="0"/>
              <a:t>16</a:t>
            </a:fld>
            <a:endParaRPr lang="es-ES"/>
          </a:p>
        </p:txBody>
      </p:sp>
    </p:spTree>
    <p:extLst>
      <p:ext uri="{BB962C8B-B14F-4D97-AF65-F5344CB8AC3E}">
        <p14:creationId xmlns:p14="http://schemas.microsoft.com/office/powerpoint/2010/main" val="201948296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n-US">
                <a:cs typeface="Calibri"/>
              </a:rPr>
              <a:t>En </a:t>
            </a:r>
            <a:r>
              <a:rPr lang="en-US" err="1">
                <a:cs typeface="Calibri"/>
              </a:rPr>
              <a:t>esta</a:t>
            </a:r>
            <a:r>
              <a:rPr lang="en-US">
                <a:cs typeface="Calibri"/>
              </a:rPr>
              <a:t> </a:t>
            </a:r>
            <a:r>
              <a:rPr lang="en-US" err="1">
                <a:cs typeface="Calibri"/>
              </a:rPr>
              <a:t>tabla</a:t>
            </a:r>
            <a:r>
              <a:rPr lang="en-US">
                <a:cs typeface="Calibri"/>
              </a:rPr>
              <a:t> </a:t>
            </a:r>
            <a:r>
              <a:rPr lang="en-US" err="1">
                <a:cs typeface="Calibri"/>
              </a:rPr>
              <a:t>relacionamos</a:t>
            </a:r>
            <a:r>
              <a:rPr lang="en-US">
                <a:cs typeface="Calibri"/>
              </a:rPr>
              <a:t> </a:t>
            </a:r>
            <a:r>
              <a:rPr lang="en-US" err="1">
                <a:cs typeface="Calibri"/>
              </a:rPr>
              <a:t>los</a:t>
            </a:r>
            <a:r>
              <a:rPr lang="en-US">
                <a:cs typeface="Calibri"/>
              </a:rPr>
              <a:t> </a:t>
            </a:r>
            <a:r>
              <a:rPr lang="en-US" err="1">
                <a:cs typeface="Calibri"/>
              </a:rPr>
              <a:t>documentos</a:t>
            </a:r>
            <a:r>
              <a:rPr lang="en-US">
                <a:cs typeface="Calibri"/>
              </a:rPr>
              <a:t> </a:t>
            </a:r>
            <a:r>
              <a:rPr lang="en-US" err="1">
                <a:cs typeface="Calibri"/>
              </a:rPr>
              <a:t>generados</a:t>
            </a:r>
            <a:r>
              <a:rPr lang="en-US">
                <a:cs typeface="Calibri"/>
              </a:rPr>
              <a:t> </a:t>
            </a:r>
            <a:r>
              <a:rPr lang="en-US" err="1">
                <a:cs typeface="Calibri"/>
              </a:rPr>
              <a:t>anteriormente</a:t>
            </a:r>
            <a:r>
              <a:rPr lang="en-US">
                <a:cs typeface="Calibri"/>
              </a:rPr>
              <a:t> con </a:t>
            </a:r>
            <a:r>
              <a:rPr lang="en-US" err="1">
                <a:cs typeface="Calibri"/>
              </a:rPr>
              <a:t>el</a:t>
            </a:r>
            <a:r>
              <a:rPr lang="en-US">
                <a:cs typeface="Calibri"/>
              </a:rPr>
              <a:t> </a:t>
            </a:r>
            <a:r>
              <a:rPr lang="en-US" err="1">
                <a:cs typeface="Calibri"/>
              </a:rPr>
              <a:t>formato</a:t>
            </a:r>
            <a:r>
              <a:rPr lang="en-US">
                <a:cs typeface="Calibri"/>
              </a:rPr>
              <a:t> de </a:t>
            </a:r>
            <a:r>
              <a:rPr lang="en-US" err="1">
                <a:cs typeface="Calibri"/>
              </a:rPr>
              <a:t>los</a:t>
            </a:r>
            <a:r>
              <a:rPr lang="en-US">
                <a:cs typeface="Calibri"/>
              </a:rPr>
              <a:t> </a:t>
            </a:r>
            <a:r>
              <a:rPr lang="en-US" err="1">
                <a:cs typeface="Calibri"/>
              </a:rPr>
              <a:t>mismos</a:t>
            </a:r>
            <a:r>
              <a:rPr lang="en-US">
                <a:cs typeface="Calibri"/>
              </a:rPr>
              <a:t> y </a:t>
            </a:r>
            <a:r>
              <a:rPr lang="en-US" err="1">
                <a:cs typeface="Calibri"/>
              </a:rPr>
              <a:t>el</a:t>
            </a:r>
            <a:r>
              <a:rPr lang="en-US">
                <a:cs typeface="Calibri"/>
              </a:rPr>
              <a:t> medio de </a:t>
            </a:r>
            <a:r>
              <a:rPr lang="en-US" err="1">
                <a:cs typeface="Calibri"/>
              </a:rPr>
              <a:t>comunicación</a:t>
            </a:r>
            <a:r>
              <a:rPr lang="en-US">
                <a:cs typeface="Calibri"/>
              </a:rPr>
              <a:t> </a:t>
            </a:r>
            <a:r>
              <a:rPr lang="en-US" err="1">
                <a:cs typeface="Calibri"/>
              </a:rPr>
              <a:t>empleado</a:t>
            </a:r>
            <a:r>
              <a:rPr lang="en-US">
                <a:cs typeface="Calibri"/>
              </a:rPr>
              <a:t> para </a:t>
            </a:r>
            <a:r>
              <a:rPr lang="en-US" err="1">
                <a:cs typeface="Calibri"/>
              </a:rPr>
              <a:t>su</a:t>
            </a:r>
            <a:r>
              <a:rPr lang="en-US">
                <a:cs typeface="Calibri"/>
              </a:rPr>
              <a:t> </a:t>
            </a:r>
            <a:r>
              <a:rPr lang="en-US" err="1">
                <a:cs typeface="Calibri"/>
              </a:rPr>
              <a:t>distribución</a:t>
            </a:r>
            <a:r>
              <a:rPr lang="en-US">
                <a:cs typeface="Calibri"/>
              </a:rPr>
              <a:t>, </a:t>
            </a:r>
            <a:r>
              <a:rPr lang="en-US" err="1">
                <a:cs typeface="Calibri"/>
              </a:rPr>
              <a:t>así</a:t>
            </a:r>
            <a:r>
              <a:rPr lang="en-US">
                <a:cs typeface="Calibri"/>
              </a:rPr>
              <a:t> </a:t>
            </a:r>
            <a:r>
              <a:rPr lang="en-US" err="1">
                <a:cs typeface="Calibri"/>
              </a:rPr>
              <a:t>como</a:t>
            </a:r>
            <a:r>
              <a:rPr lang="en-US">
                <a:cs typeface="Calibri"/>
              </a:rPr>
              <a:t> </a:t>
            </a:r>
            <a:r>
              <a:rPr lang="en-US" err="1">
                <a:cs typeface="Calibri"/>
              </a:rPr>
              <a:t>su</a:t>
            </a:r>
            <a:r>
              <a:rPr lang="en-US">
                <a:cs typeface="Calibri"/>
              </a:rPr>
              <a:t> </a:t>
            </a:r>
            <a:r>
              <a:rPr lang="en-US" err="1">
                <a:cs typeface="Calibri"/>
              </a:rPr>
              <a:t>plazo</a:t>
            </a:r>
            <a:r>
              <a:rPr lang="en-US">
                <a:cs typeface="Calibri"/>
              </a:rPr>
              <a:t>.</a:t>
            </a:r>
          </a:p>
          <a:p>
            <a:r>
              <a:rPr lang="en-US">
                <a:cs typeface="Calibri"/>
              </a:rPr>
              <a:t>ENUMERAR</a:t>
            </a:r>
          </a:p>
        </p:txBody>
      </p:sp>
      <p:sp>
        <p:nvSpPr>
          <p:cNvPr id="4" name="Marcador de número de diapositiva 3"/>
          <p:cNvSpPr>
            <a:spLocks noGrp="1"/>
          </p:cNvSpPr>
          <p:nvPr>
            <p:ph type="sldNum" sz="quarter" idx="5"/>
          </p:nvPr>
        </p:nvSpPr>
        <p:spPr/>
        <p:txBody>
          <a:bodyPr/>
          <a:lstStyle/>
          <a:p>
            <a:fld id="{9B36D0A1-DBF5-4D18-B03B-EEF128A659CD}" type="slidenum">
              <a:rPr lang="es-ES" smtClean="0"/>
              <a:t>17</a:t>
            </a:fld>
            <a:endParaRPr lang="es-ES"/>
          </a:p>
        </p:txBody>
      </p:sp>
    </p:spTree>
    <p:extLst>
      <p:ext uri="{BB962C8B-B14F-4D97-AF65-F5344CB8AC3E}">
        <p14:creationId xmlns:p14="http://schemas.microsoft.com/office/powerpoint/2010/main" val="244296889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sz="1800" b="1" i="0">
                <a:solidFill>
                  <a:srgbClr val="000000"/>
                </a:solidFill>
                <a:effectLst/>
                <a:latin typeface="Calibri-Bold"/>
              </a:rPr>
              <a:t>DECIR 2 o 3 y </a:t>
            </a:r>
            <a:r>
              <a:rPr lang="es-ES" sz="1800" b="1" i="0" err="1">
                <a:solidFill>
                  <a:srgbClr val="000000"/>
                </a:solidFill>
                <a:effectLst/>
                <a:latin typeface="Calibri-Bold"/>
              </a:rPr>
              <a:t>ta</a:t>
            </a:r>
            <a:r>
              <a:rPr lang="es-ES" sz="1800" b="1" i="0">
                <a:solidFill>
                  <a:srgbClr val="000000"/>
                </a:solidFill>
                <a:effectLst/>
                <a:latin typeface="Calibri-Bold"/>
              </a:rPr>
              <a:t> ready</a:t>
            </a:r>
          </a:p>
          <a:p>
            <a:endParaRPr lang="es-ES" sz="1800" b="1" i="0">
              <a:solidFill>
                <a:srgbClr val="000000"/>
              </a:solidFill>
              <a:effectLst/>
              <a:latin typeface="Calibri-Bold"/>
            </a:endParaRPr>
          </a:p>
          <a:p>
            <a:r>
              <a:rPr lang="es-ES" sz="1800" b="1" i="0">
                <a:solidFill>
                  <a:srgbClr val="000000"/>
                </a:solidFill>
                <a:effectLst/>
                <a:latin typeface="Calibri-Bold"/>
              </a:rPr>
              <a:t>RIES01 </a:t>
            </a:r>
            <a:r>
              <a:rPr lang="es-ES" sz="1800" b="0" i="0">
                <a:solidFill>
                  <a:srgbClr val="000000"/>
                </a:solidFill>
                <a:effectLst/>
                <a:latin typeface="Calibri" panose="020F0502020204030204" pitchFamily="34" charset="0"/>
              </a:rPr>
              <a:t>Perdida de personal clave por baja médica</a:t>
            </a:r>
          </a:p>
          <a:p>
            <a:r>
              <a:rPr lang="es-ES" sz="1800" b="0" i="0">
                <a:solidFill>
                  <a:srgbClr val="000000"/>
                </a:solidFill>
                <a:effectLst/>
                <a:latin typeface="Calibri" panose="020F0502020204030204" pitchFamily="34" charset="0"/>
              </a:rPr>
              <a:t>Pueden ponerse de baja personal clave como el arquitecto de software o el director del proyecto ya que tienen una salud delicada.</a:t>
            </a:r>
          </a:p>
          <a:p>
            <a:r>
              <a:rPr lang="es-ES" sz="1800" b="1" i="0">
                <a:solidFill>
                  <a:srgbClr val="000000"/>
                </a:solidFill>
                <a:effectLst/>
                <a:latin typeface="Calibri-Bold"/>
              </a:rPr>
              <a:t>RIES02 </a:t>
            </a:r>
            <a:r>
              <a:rPr lang="es-ES" sz="1800" b="0" i="0">
                <a:solidFill>
                  <a:srgbClr val="000000"/>
                </a:solidFill>
                <a:effectLst/>
                <a:latin typeface="Calibri" panose="020F0502020204030204" pitchFamily="34" charset="0"/>
              </a:rPr>
              <a:t>Cambio especificación SOLID </a:t>
            </a:r>
          </a:p>
          <a:p>
            <a:r>
              <a:rPr lang="es-ES" sz="1800" b="0" i="0">
                <a:solidFill>
                  <a:srgbClr val="000000"/>
                </a:solidFill>
                <a:effectLst/>
                <a:latin typeface="Calibri" panose="020F0502020204030204" pitchFamily="34" charset="0"/>
              </a:rPr>
              <a:t>No se descarta un cambio en la especificación de SOLID debido a que es una tecnología relativamente moderna en constante cambio, que pudiese impactar negativamente en el proyecto, siendo necesario en ese caso una modificación por completo de todo el módulo de gestión de usuarios.</a:t>
            </a:r>
          </a:p>
          <a:p>
            <a:r>
              <a:rPr lang="es-ES" sz="1800" b="1" i="0">
                <a:solidFill>
                  <a:srgbClr val="000000"/>
                </a:solidFill>
                <a:effectLst/>
                <a:latin typeface="Calibri-Bold"/>
              </a:rPr>
              <a:t>RIES03 </a:t>
            </a:r>
            <a:r>
              <a:rPr lang="es-ES" sz="1800" b="0" i="0">
                <a:solidFill>
                  <a:srgbClr val="000000"/>
                </a:solidFill>
                <a:effectLst/>
                <a:latin typeface="Calibri" panose="020F0502020204030204" pitchFamily="34" charset="0"/>
              </a:rPr>
              <a:t>Convencer a usuarios finales del uso de SOLID</a:t>
            </a:r>
          </a:p>
          <a:p>
            <a:r>
              <a:rPr lang="es-ES" sz="1800" b="0" i="0">
                <a:solidFill>
                  <a:srgbClr val="000000"/>
                </a:solidFill>
                <a:effectLst/>
                <a:latin typeface="Calibri" panose="020F0502020204030204" pitchFamily="34" charset="0"/>
              </a:rPr>
              <a:t>Vencer la resistencia de usuarios de perfil no técnico al uso de una tecnología compleja de usar incluso para perfiles técnicos.</a:t>
            </a:r>
          </a:p>
          <a:p>
            <a:r>
              <a:rPr lang="es-ES" sz="1800" b="1" i="0">
                <a:solidFill>
                  <a:srgbClr val="000000"/>
                </a:solidFill>
                <a:effectLst/>
                <a:latin typeface="Calibri-Bold"/>
              </a:rPr>
              <a:t>RIES04 </a:t>
            </a:r>
            <a:r>
              <a:rPr lang="es-ES" sz="1800" b="0" i="0">
                <a:solidFill>
                  <a:srgbClr val="000000"/>
                </a:solidFill>
                <a:effectLst/>
                <a:latin typeface="Calibri" panose="020F0502020204030204" pitchFamily="34" charset="0"/>
              </a:rPr>
              <a:t>Dificultad para adquirir todo el hardware necesario</a:t>
            </a:r>
          </a:p>
          <a:p>
            <a:r>
              <a:rPr lang="es-ES" sz="1800" b="0" i="0">
                <a:solidFill>
                  <a:srgbClr val="000000"/>
                </a:solidFill>
                <a:effectLst/>
                <a:latin typeface="Calibri" panose="020F0502020204030204" pitchFamily="34" charset="0"/>
              </a:rPr>
              <a:t>Dada la escasez de chips actual y los altos precios pueden aparecer problemas a la hora de adquirir todos los sistemas requeridos.</a:t>
            </a:r>
          </a:p>
          <a:p>
            <a:r>
              <a:rPr lang="es-ES" sz="1800" b="1" i="0">
                <a:solidFill>
                  <a:srgbClr val="000000"/>
                </a:solidFill>
                <a:effectLst/>
                <a:latin typeface="Calibri-Bold"/>
              </a:rPr>
              <a:t>RIES05 </a:t>
            </a:r>
            <a:r>
              <a:rPr lang="es-ES" sz="1800" b="0" i="0">
                <a:solidFill>
                  <a:srgbClr val="000000"/>
                </a:solidFill>
                <a:effectLst/>
                <a:latin typeface="Calibri" panose="020F0502020204030204" pitchFamily="34" charset="0"/>
              </a:rPr>
              <a:t>Dificultad para encontrar empleados con el perfil que se busca</a:t>
            </a:r>
          </a:p>
          <a:p>
            <a:r>
              <a:rPr lang="es-ES" sz="1800" b="0" i="0">
                <a:solidFill>
                  <a:srgbClr val="000000"/>
                </a:solidFill>
                <a:effectLst/>
                <a:latin typeface="Calibri" panose="020F0502020204030204" pitchFamily="34" charset="0"/>
              </a:rPr>
              <a:t>En un mercado tan competitivo como el de IT puede haber dificultades para contratar gente con experiencia o en ciertos perfiles más especializados</a:t>
            </a:r>
          </a:p>
          <a:p>
            <a:r>
              <a:rPr lang="es-ES" sz="1800" b="1" i="0">
                <a:solidFill>
                  <a:srgbClr val="000000"/>
                </a:solidFill>
                <a:effectLst/>
                <a:latin typeface="Calibri-Bold"/>
              </a:rPr>
              <a:t>RIES06 </a:t>
            </a:r>
            <a:r>
              <a:rPr lang="es-ES" sz="1800" b="0" i="0">
                <a:solidFill>
                  <a:srgbClr val="000000"/>
                </a:solidFill>
                <a:effectLst/>
                <a:latin typeface="Calibri" panose="020F0502020204030204" pitchFamily="34" charset="0"/>
              </a:rPr>
              <a:t>Entorno laboral tóxico</a:t>
            </a:r>
          </a:p>
          <a:p>
            <a:r>
              <a:rPr lang="es-ES" sz="1800" b="0" i="0">
                <a:solidFill>
                  <a:srgbClr val="000000"/>
                </a:solidFill>
                <a:effectLst/>
                <a:latin typeface="Calibri" panose="020F0502020204030204" pitchFamily="34" charset="0"/>
              </a:rPr>
              <a:t>La relación entre los miembros del equipo puede no ser la mejor, debido a previos malentendidos entre los miembros del equipo, pudiendo producirse tensión y roces entre estos, afectando a la productividad del equipo.</a:t>
            </a:r>
          </a:p>
          <a:p>
            <a:r>
              <a:rPr lang="es-ES" sz="1800" b="1" i="0">
                <a:solidFill>
                  <a:srgbClr val="000000"/>
                </a:solidFill>
                <a:effectLst/>
                <a:latin typeface="Calibri-Bold"/>
              </a:rPr>
              <a:t>RIES07 </a:t>
            </a:r>
            <a:r>
              <a:rPr lang="es-ES" sz="1800" b="0" i="0">
                <a:solidFill>
                  <a:srgbClr val="000000"/>
                </a:solidFill>
                <a:effectLst/>
                <a:latin typeface="Calibri" panose="020F0502020204030204" pitchFamily="34" charset="0"/>
              </a:rPr>
              <a:t>El desacuerdo entre los interesados sobre los problemas del proyecto debidos al uso de SOLID</a:t>
            </a:r>
          </a:p>
          <a:p>
            <a:r>
              <a:rPr lang="es-ES" sz="1800" b="0" i="0">
                <a:solidFill>
                  <a:srgbClr val="000000"/>
                </a:solidFill>
                <a:effectLst/>
                <a:latin typeface="Calibri" panose="020F0502020204030204" pitchFamily="34" charset="0"/>
              </a:rPr>
              <a:t>El desacuerdo entre los interesados sobre los problemas del proyecto sobre el uso de SOLID puede producir fricciones entre usuarios finales, clientes y desarrolladores.</a:t>
            </a:r>
          </a:p>
          <a:p>
            <a:r>
              <a:rPr lang="es-ES" sz="1800" b="1" i="0">
                <a:solidFill>
                  <a:srgbClr val="000000"/>
                </a:solidFill>
                <a:effectLst/>
                <a:latin typeface="Calibri-Bold"/>
              </a:rPr>
              <a:t>RIES08 </a:t>
            </a:r>
            <a:r>
              <a:rPr lang="es-ES" sz="1800" b="0" i="0">
                <a:solidFill>
                  <a:srgbClr val="000000"/>
                </a:solidFill>
                <a:effectLst/>
                <a:latin typeface="Calibri" panose="020F0502020204030204" pitchFamily="34" charset="0"/>
              </a:rPr>
              <a:t>La arquitectura carece de flexibilidad</a:t>
            </a:r>
          </a:p>
          <a:p>
            <a:r>
              <a:rPr lang="es-ES" sz="1800" b="0" i="0">
                <a:solidFill>
                  <a:srgbClr val="000000"/>
                </a:solidFill>
                <a:effectLst/>
                <a:latin typeface="Calibri" panose="020F0502020204030204" pitchFamily="34" charset="0"/>
              </a:rPr>
              <a:t>La arquitectura carece de flexibilidad debido a la integración de SOLID como requisito de la aplicación.</a:t>
            </a:r>
          </a:p>
          <a:p>
            <a:r>
              <a:rPr lang="es-ES" sz="1800" b="1" i="0">
                <a:solidFill>
                  <a:srgbClr val="000000"/>
                </a:solidFill>
                <a:effectLst/>
                <a:latin typeface="Calibri-Bold"/>
              </a:rPr>
              <a:t>RIES09 </a:t>
            </a:r>
            <a:r>
              <a:rPr lang="es-ES" sz="1800" b="0" i="0">
                <a:solidFill>
                  <a:srgbClr val="000000"/>
                </a:solidFill>
                <a:effectLst/>
                <a:latin typeface="Calibri" panose="020F0502020204030204" pitchFamily="34" charset="0"/>
              </a:rPr>
              <a:t>Colapso bancario </a:t>
            </a:r>
          </a:p>
          <a:p>
            <a:r>
              <a:rPr lang="es-ES" sz="1800" b="0" i="0">
                <a:solidFill>
                  <a:srgbClr val="000000"/>
                </a:solidFill>
                <a:effectLst/>
                <a:latin typeface="Calibri" panose="020F0502020204030204" pitchFamily="34" charset="0"/>
              </a:rPr>
              <a:t>Quiebra en cadena de varios de los bancos más grandes que impida hacer frente a las retiradas de dinero.</a:t>
            </a:r>
          </a:p>
          <a:p>
            <a:r>
              <a:rPr lang="es-ES" sz="1800" b="1" i="0">
                <a:solidFill>
                  <a:srgbClr val="000000"/>
                </a:solidFill>
                <a:effectLst/>
                <a:latin typeface="Calibri-Bold"/>
              </a:rPr>
              <a:t>RIES10 </a:t>
            </a:r>
            <a:r>
              <a:rPr lang="es-ES" sz="1800" b="0" i="0">
                <a:solidFill>
                  <a:srgbClr val="000000"/>
                </a:solidFill>
                <a:effectLst/>
                <a:latin typeface="Calibri" panose="020F0502020204030204" pitchFamily="34" charset="0"/>
              </a:rPr>
              <a:t>Dificultad para formar al personal</a:t>
            </a:r>
          </a:p>
          <a:p>
            <a:r>
              <a:rPr lang="es-ES" sz="1800" b="0" i="0">
                <a:solidFill>
                  <a:srgbClr val="000000"/>
                </a:solidFill>
                <a:effectLst/>
                <a:latin typeface="Calibri" panose="020F0502020204030204" pitchFamily="34" charset="0"/>
              </a:rPr>
              <a:t>Dificultad para hacer entender y motivar a usar el sistema a los empleados con una probable falta de pericia informática</a:t>
            </a:r>
          </a:p>
          <a:p>
            <a:r>
              <a:rPr lang="es-ES" sz="1800" b="1" i="0">
                <a:solidFill>
                  <a:srgbClr val="000000"/>
                </a:solidFill>
                <a:effectLst/>
                <a:latin typeface="Calibri-Bold"/>
              </a:rPr>
              <a:t>RIES11 </a:t>
            </a:r>
            <a:r>
              <a:rPr lang="es-ES" sz="1800" b="0" i="0">
                <a:solidFill>
                  <a:srgbClr val="000000"/>
                </a:solidFill>
                <a:effectLst/>
                <a:latin typeface="Calibri" panose="020F0502020204030204" pitchFamily="34" charset="0"/>
              </a:rPr>
              <a:t>GitHub deja de estar disponible</a:t>
            </a:r>
          </a:p>
          <a:p>
            <a:r>
              <a:rPr lang="es-ES" sz="1800" b="0" i="0">
                <a:solidFill>
                  <a:srgbClr val="000000"/>
                </a:solidFill>
                <a:effectLst/>
                <a:latin typeface="Calibri" panose="020F0502020204030204" pitchFamily="34" charset="0"/>
              </a:rPr>
              <a:t>GitHub, deja de estar disponible durante un tiempo</a:t>
            </a:r>
          </a:p>
          <a:p>
            <a:r>
              <a:rPr lang="es-ES" sz="1800" b="1" i="0">
                <a:solidFill>
                  <a:srgbClr val="000000"/>
                </a:solidFill>
                <a:effectLst/>
                <a:latin typeface="Calibri-Bold"/>
              </a:rPr>
              <a:t>RIES12 </a:t>
            </a:r>
            <a:r>
              <a:rPr lang="es-ES" sz="1800" b="0" i="0">
                <a:solidFill>
                  <a:srgbClr val="000000"/>
                </a:solidFill>
                <a:effectLst/>
                <a:latin typeface="Calibri" panose="020F0502020204030204" pitchFamily="34" charset="0"/>
              </a:rPr>
              <a:t>Sufrir ataque informático </a:t>
            </a:r>
          </a:p>
          <a:p>
            <a:r>
              <a:rPr lang="es-ES" sz="1800" b="0" i="0">
                <a:solidFill>
                  <a:srgbClr val="000000"/>
                </a:solidFill>
                <a:effectLst/>
                <a:latin typeface="Calibri" panose="020F0502020204030204" pitchFamily="34" charset="0"/>
              </a:rPr>
              <a:t>Se produce una caída del sistema por un ataque informático. Un ejemplo de esto sería un ataque de denegación de servicio.</a:t>
            </a:r>
            <a:r>
              <a:rPr lang="es-ES"/>
              <a:t> </a:t>
            </a:r>
            <a:br>
              <a:rPr lang="es-ES"/>
            </a:br>
            <a:endParaRPr lang="es-ES"/>
          </a:p>
        </p:txBody>
      </p:sp>
      <p:sp>
        <p:nvSpPr>
          <p:cNvPr id="4" name="Marcador de número de diapositiva 3"/>
          <p:cNvSpPr>
            <a:spLocks noGrp="1"/>
          </p:cNvSpPr>
          <p:nvPr>
            <p:ph type="sldNum" sz="quarter" idx="5"/>
          </p:nvPr>
        </p:nvSpPr>
        <p:spPr/>
        <p:txBody>
          <a:bodyPr/>
          <a:lstStyle/>
          <a:p>
            <a:fld id="{9B36D0A1-DBF5-4D18-B03B-EEF128A659CD}" type="slidenum">
              <a:rPr lang="es-ES" smtClean="0"/>
              <a:t>18</a:t>
            </a:fld>
            <a:endParaRPr lang="es-ES"/>
          </a:p>
        </p:txBody>
      </p:sp>
    </p:spTree>
    <p:extLst>
      <p:ext uri="{BB962C8B-B14F-4D97-AF65-F5344CB8AC3E}">
        <p14:creationId xmlns:p14="http://schemas.microsoft.com/office/powerpoint/2010/main" val="5038904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p>
        </p:txBody>
      </p:sp>
      <p:sp>
        <p:nvSpPr>
          <p:cNvPr id="3" name="Subtítu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p>
        </p:txBody>
      </p:sp>
      <p:sp>
        <p:nvSpPr>
          <p:cNvPr id="4" name="Marcador de fecha 3"/>
          <p:cNvSpPr>
            <a:spLocks noGrp="1"/>
          </p:cNvSpPr>
          <p:nvPr>
            <p:ph type="dt" sz="half" idx="10"/>
          </p:nvPr>
        </p:nvSpPr>
        <p:spPr/>
        <p:txBody>
          <a:bodyPr/>
          <a:lstStyle/>
          <a:p>
            <a:fld id="{40771E8B-6CA5-40B2-8038-0E112F3DAC1C}" type="datetimeFigureOut">
              <a:rPr lang="es-ES" smtClean="0"/>
              <a:t>02/05/2023</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0F1556C4-DFC3-4611-A7CC-780699185E26}" type="slidenum">
              <a:rPr lang="es-ES" smtClean="0"/>
              <a:t>‹Nº›</a:t>
            </a:fld>
            <a:endParaRPr lang="es-ES"/>
          </a:p>
        </p:txBody>
      </p:sp>
    </p:spTree>
    <p:extLst>
      <p:ext uri="{BB962C8B-B14F-4D97-AF65-F5344CB8AC3E}">
        <p14:creationId xmlns:p14="http://schemas.microsoft.com/office/powerpoint/2010/main" val="22881914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contenido 2"/>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10"/>
          </p:nvPr>
        </p:nvSpPr>
        <p:spPr/>
        <p:txBody>
          <a:bodyPr/>
          <a:lstStyle/>
          <a:p>
            <a:fld id="{40771E8B-6CA5-40B2-8038-0E112F3DAC1C}" type="datetimeFigureOut">
              <a:rPr lang="es-ES" smtClean="0"/>
              <a:t>02/05/2023</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0F1556C4-DFC3-4611-A7CC-780699185E26}" type="slidenum">
              <a:rPr lang="es-ES" smtClean="0"/>
              <a:t>‹Nº›</a:t>
            </a:fld>
            <a:endParaRPr lang="es-ES"/>
          </a:p>
        </p:txBody>
      </p:sp>
    </p:spTree>
    <p:extLst>
      <p:ext uri="{BB962C8B-B14F-4D97-AF65-F5344CB8AC3E}">
        <p14:creationId xmlns:p14="http://schemas.microsoft.com/office/powerpoint/2010/main" val="33981744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p>
        </p:txBody>
      </p:sp>
      <p:sp>
        <p:nvSpPr>
          <p:cNvPr id="3" name="Marcador de texto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el estilo de texto del patrón</a:t>
            </a:r>
          </a:p>
        </p:txBody>
      </p:sp>
      <p:sp>
        <p:nvSpPr>
          <p:cNvPr id="4" name="Marcador de fecha 3"/>
          <p:cNvSpPr>
            <a:spLocks noGrp="1"/>
          </p:cNvSpPr>
          <p:nvPr>
            <p:ph type="dt" sz="half" idx="10"/>
          </p:nvPr>
        </p:nvSpPr>
        <p:spPr/>
        <p:txBody>
          <a:bodyPr/>
          <a:lstStyle/>
          <a:p>
            <a:fld id="{40771E8B-6CA5-40B2-8038-0E112F3DAC1C}" type="datetimeFigureOut">
              <a:rPr lang="es-ES" smtClean="0"/>
              <a:t>02/05/2023</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0F1556C4-DFC3-4611-A7CC-780699185E26}" type="slidenum">
              <a:rPr lang="es-ES" smtClean="0"/>
              <a:t>‹Nº›</a:t>
            </a:fld>
            <a:endParaRPr lang="es-ES"/>
          </a:p>
        </p:txBody>
      </p:sp>
    </p:spTree>
    <p:extLst>
      <p:ext uri="{BB962C8B-B14F-4D97-AF65-F5344CB8AC3E}">
        <p14:creationId xmlns:p14="http://schemas.microsoft.com/office/powerpoint/2010/main" val="23397005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contenido 2"/>
          <p:cNvSpPr>
            <a:spLocks noGrp="1"/>
          </p:cNvSpPr>
          <p:nvPr>
            <p:ph sz="half" idx="1"/>
          </p:nvPr>
        </p:nvSpPr>
        <p:spPr>
          <a:xfrm>
            <a:off x="838200" y="1825625"/>
            <a:ext cx="5181600" cy="435133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contenido 3"/>
          <p:cNvSpPr>
            <a:spLocks noGrp="1"/>
          </p:cNvSpPr>
          <p:nvPr>
            <p:ph sz="half" idx="2"/>
          </p:nvPr>
        </p:nvSpPr>
        <p:spPr>
          <a:xfrm>
            <a:off x="6172200" y="1825625"/>
            <a:ext cx="5181600" cy="435133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fecha 4"/>
          <p:cNvSpPr>
            <a:spLocks noGrp="1"/>
          </p:cNvSpPr>
          <p:nvPr>
            <p:ph type="dt" sz="half" idx="10"/>
          </p:nvPr>
        </p:nvSpPr>
        <p:spPr/>
        <p:txBody>
          <a:bodyPr/>
          <a:lstStyle/>
          <a:p>
            <a:fld id="{40771E8B-6CA5-40B2-8038-0E112F3DAC1C}" type="datetimeFigureOut">
              <a:rPr lang="es-ES" smtClean="0"/>
              <a:t>02/05/2023</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0F1556C4-DFC3-4611-A7CC-780699185E26}" type="slidenum">
              <a:rPr lang="es-ES" smtClean="0"/>
              <a:t>‹Nº›</a:t>
            </a:fld>
            <a:endParaRPr lang="es-ES"/>
          </a:p>
        </p:txBody>
      </p:sp>
    </p:spTree>
    <p:extLst>
      <p:ext uri="{BB962C8B-B14F-4D97-AF65-F5344CB8AC3E}">
        <p14:creationId xmlns:p14="http://schemas.microsoft.com/office/powerpoint/2010/main" val="9790298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es-ES"/>
              <a:t>Haga clic para modificar el estilo de título del patrón</a:t>
            </a:r>
          </a:p>
        </p:txBody>
      </p:sp>
      <p:sp>
        <p:nvSpPr>
          <p:cNvPr id="3" name="Marcador de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4" name="Marcador de contenido 3"/>
          <p:cNvSpPr>
            <a:spLocks noGrp="1"/>
          </p:cNvSpPr>
          <p:nvPr>
            <p:ph sz="half" idx="2"/>
          </p:nvPr>
        </p:nvSpPr>
        <p:spPr>
          <a:xfrm>
            <a:off x="839788" y="2505075"/>
            <a:ext cx="5157787" cy="368458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6" name="Marcador de contenido 5"/>
          <p:cNvSpPr>
            <a:spLocks noGrp="1"/>
          </p:cNvSpPr>
          <p:nvPr>
            <p:ph sz="quarter" idx="4"/>
          </p:nvPr>
        </p:nvSpPr>
        <p:spPr>
          <a:xfrm>
            <a:off x="6172200" y="2505075"/>
            <a:ext cx="5183188" cy="368458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Marcador de fecha 6"/>
          <p:cNvSpPr>
            <a:spLocks noGrp="1"/>
          </p:cNvSpPr>
          <p:nvPr>
            <p:ph type="dt" sz="half" idx="10"/>
          </p:nvPr>
        </p:nvSpPr>
        <p:spPr/>
        <p:txBody>
          <a:bodyPr/>
          <a:lstStyle/>
          <a:p>
            <a:fld id="{40771E8B-6CA5-40B2-8038-0E112F3DAC1C}" type="datetimeFigureOut">
              <a:rPr lang="es-ES" smtClean="0"/>
              <a:t>02/05/2023</a:t>
            </a:fld>
            <a:endParaRPr lang="es-ES"/>
          </a:p>
        </p:txBody>
      </p:sp>
      <p:sp>
        <p:nvSpPr>
          <p:cNvPr id="8" name="Marcador de pie de página 7"/>
          <p:cNvSpPr>
            <a:spLocks noGrp="1"/>
          </p:cNvSpPr>
          <p:nvPr>
            <p:ph type="ftr" sz="quarter" idx="11"/>
          </p:nvPr>
        </p:nvSpPr>
        <p:spPr/>
        <p:txBody>
          <a:bodyPr/>
          <a:lstStyle/>
          <a:p>
            <a:endParaRPr lang="es-ES"/>
          </a:p>
        </p:txBody>
      </p:sp>
      <p:sp>
        <p:nvSpPr>
          <p:cNvPr id="9" name="Marcador de número de diapositiva 8"/>
          <p:cNvSpPr>
            <a:spLocks noGrp="1"/>
          </p:cNvSpPr>
          <p:nvPr>
            <p:ph type="sldNum" sz="quarter" idx="12"/>
          </p:nvPr>
        </p:nvSpPr>
        <p:spPr/>
        <p:txBody>
          <a:bodyPr/>
          <a:lstStyle/>
          <a:p>
            <a:fld id="{0F1556C4-DFC3-4611-A7CC-780699185E26}" type="slidenum">
              <a:rPr lang="es-ES" smtClean="0"/>
              <a:t>‹Nº›</a:t>
            </a:fld>
            <a:endParaRPr lang="es-ES"/>
          </a:p>
        </p:txBody>
      </p:sp>
    </p:spTree>
    <p:extLst>
      <p:ext uri="{BB962C8B-B14F-4D97-AF65-F5344CB8AC3E}">
        <p14:creationId xmlns:p14="http://schemas.microsoft.com/office/powerpoint/2010/main" val="17523942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fecha 2"/>
          <p:cNvSpPr>
            <a:spLocks noGrp="1"/>
          </p:cNvSpPr>
          <p:nvPr>
            <p:ph type="dt" sz="half" idx="10"/>
          </p:nvPr>
        </p:nvSpPr>
        <p:spPr/>
        <p:txBody>
          <a:bodyPr/>
          <a:lstStyle/>
          <a:p>
            <a:fld id="{40771E8B-6CA5-40B2-8038-0E112F3DAC1C}" type="datetimeFigureOut">
              <a:rPr lang="es-ES" smtClean="0"/>
              <a:t>02/05/2023</a:t>
            </a:fld>
            <a:endParaRPr lang="es-ES"/>
          </a:p>
        </p:txBody>
      </p:sp>
      <p:sp>
        <p:nvSpPr>
          <p:cNvPr id="4" name="Marcador de pie de página 3"/>
          <p:cNvSpPr>
            <a:spLocks noGrp="1"/>
          </p:cNvSpPr>
          <p:nvPr>
            <p:ph type="ftr" sz="quarter" idx="11"/>
          </p:nvPr>
        </p:nvSpPr>
        <p:spPr/>
        <p:txBody>
          <a:bodyPr/>
          <a:lstStyle/>
          <a:p>
            <a:endParaRPr lang="es-ES"/>
          </a:p>
        </p:txBody>
      </p:sp>
      <p:sp>
        <p:nvSpPr>
          <p:cNvPr id="5" name="Marcador de número de diapositiva 4"/>
          <p:cNvSpPr>
            <a:spLocks noGrp="1"/>
          </p:cNvSpPr>
          <p:nvPr>
            <p:ph type="sldNum" sz="quarter" idx="12"/>
          </p:nvPr>
        </p:nvSpPr>
        <p:spPr/>
        <p:txBody>
          <a:bodyPr/>
          <a:lstStyle/>
          <a:p>
            <a:fld id="{0F1556C4-DFC3-4611-A7CC-780699185E26}" type="slidenum">
              <a:rPr lang="es-ES" smtClean="0"/>
              <a:t>‹Nº›</a:t>
            </a:fld>
            <a:endParaRPr lang="es-ES"/>
          </a:p>
        </p:txBody>
      </p:sp>
    </p:spTree>
    <p:extLst>
      <p:ext uri="{BB962C8B-B14F-4D97-AF65-F5344CB8AC3E}">
        <p14:creationId xmlns:p14="http://schemas.microsoft.com/office/powerpoint/2010/main" val="36306586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40771E8B-6CA5-40B2-8038-0E112F3DAC1C}" type="datetimeFigureOut">
              <a:rPr lang="es-ES" smtClean="0"/>
              <a:t>02/05/2023</a:t>
            </a:fld>
            <a:endParaRPr lang="es-ES"/>
          </a:p>
        </p:txBody>
      </p:sp>
      <p:sp>
        <p:nvSpPr>
          <p:cNvPr id="3" name="Marcador de pie de página 2"/>
          <p:cNvSpPr>
            <a:spLocks noGrp="1"/>
          </p:cNvSpPr>
          <p:nvPr>
            <p:ph type="ftr" sz="quarter" idx="11"/>
          </p:nvPr>
        </p:nvSpPr>
        <p:spPr/>
        <p:txBody>
          <a:bodyPr/>
          <a:lstStyle/>
          <a:p>
            <a:endParaRPr lang="es-ES"/>
          </a:p>
        </p:txBody>
      </p:sp>
      <p:sp>
        <p:nvSpPr>
          <p:cNvPr id="4" name="Marcador de número de diapositiva 3"/>
          <p:cNvSpPr>
            <a:spLocks noGrp="1"/>
          </p:cNvSpPr>
          <p:nvPr>
            <p:ph type="sldNum" sz="quarter" idx="12"/>
          </p:nvPr>
        </p:nvSpPr>
        <p:spPr/>
        <p:txBody>
          <a:bodyPr/>
          <a:lstStyle/>
          <a:p>
            <a:fld id="{0F1556C4-DFC3-4611-A7CC-780699185E26}" type="slidenum">
              <a:rPr lang="es-ES" smtClean="0"/>
              <a:t>‹Nº›</a:t>
            </a:fld>
            <a:endParaRPr lang="es-ES"/>
          </a:p>
        </p:txBody>
      </p:sp>
    </p:spTree>
    <p:extLst>
      <p:ext uri="{BB962C8B-B14F-4D97-AF65-F5344CB8AC3E}">
        <p14:creationId xmlns:p14="http://schemas.microsoft.com/office/powerpoint/2010/main" val="36823756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conteni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el estilo de texto del patrón</a:t>
            </a:r>
          </a:p>
        </p:txBody>
      </p:sp>
      <p:sp>
        <p:nvSpPr>
          <p:cNvPr id="5" name="Marcador de fecha 4"/>
          <p:cNvSpPr>
            <a:spLocks noGrp="1"/>
          </p:cNvSpPr>
          <p:nvPr>
            <p:ph type="dt" sz="half" idx="10"/>
          </p:nvPr>
        </p:nvSpPr>
        <p:spPr/>
        <p:txBody>
          <a:bodyPr/>
          <a:lstStyle/>
          <a:p>
            <a:fld id="{40771E8B-6CA5-40B2-8038-0E112F3DAC1C}" type="datetimeFigureOut">
              <a:rPr lang="es-ES" smtClean="0"/>
              <a:t>02/05/2023</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0F1556C4-DFC3-4611-A7CC-780699185E26}" type="slidenum">
              <a:rPr lang="es-ES" smtClean="0"/>
              <a:t>‹Nº›</a:t>
            </a:fld>
            <a:endParaRPr lang="es-ES"/>
          </a:p>
        </p:txBody>
      </p:sp>
    </p:spTree>
    <p:extLst>
      <p:ext uri="{BB962C8B-B14F-4D97-AF65-F5344CB8AC3E}">
        <p14:creationId xmlns:p14="http://schemas.microsoft.com/office/powerpoint/2010/main" val="13604498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posición de imagen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el estilo de texto del patrón</a:t>
            </a:r>
          </a:p>
        </p:txBody>
      </p:sp>
      <p:sp>
        <p:nvSpPr>
          <p:cNvPr id="5" name="Marcador de fecha 4"/>
          <p:cNvSpPr>
            <a:spLocks noGrp="1"/>
          </p:cNvSpPr>
          <p:nvPr>
            <p:ph type="dt" sz="half" idx="10"/>
          </p:nvPr>
        </p:nvSpPr>
        <p:spPr/>
        <p:txBody>
          <a:bodyPr/>
          <a:lstStyle/>
          <a:p>
            <a:fld id="{40771E8B-6CA5-40B2-8038-0E112F3DAC1C}" type="datetimeFigureOut">
              <a:rPr lang="es-ES" smtClean="0"/>
              <a:t>02/05/2023</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0F1556C4-DFC3-4611-A7CC-780699185E26}" type="slidenum">
              <a:rPr lang="es-ES" smtClean="0"/>
              <a:t>‹Nº›</a:t>
            </a:fld>
            <a:endParaRPr lang="es-ES"/>
          </a:p>
        </p:txBody>
      </p:sp>
    </p:spTree>
    <p:extLst>
      <p:ext uri="{BB962C8B-B14F-4D97-AF65-F5344CB8AC3E}">
        <p14:creationId xmlns:p14="http://schemas.microsoft.com/office/powerpoint/2010/main" val="3836035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texto vertical 2"/>
          <p:cNvSpPr>
            <a:spLocks noGrp="1"/>
          </p:cNvSpPr>
          <p:nvPr>
            <p:ph type="body" orient="vert" idx="1"/>
          </p:nvPr>
        </p:nvSpPr>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10"/>
          </p:nvPr>
        </p:nvSpPr>
        <p:spPr/>
        <p:txBody>
          <a:bodyPr/>
          <a:lstStyle/>
          <a:p>
            <a:fld id="{40771E8B-6CA5-40B2-8038-0E112F3DAC1C}" type="datetimeFigureOut">
              <a:rPr lang="es-ES" smtClean="0"/>
              <a:t>02/05/2023</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0F1556C4-DFC3-4611-A7CC-780699185E26}" type="slidenum">
              <a:rPr lang="es-ES" smtClean="0"/>
              <a:t>‹Nº›</a:t>
            </a:fld>
            <a:endParaRPr lang="es-ES"/>
          </a:p>
        </p:txBody>
      </p:sp>
    </p:spTree>
    <p:extLst>
      <p:ext uri="{BB962C8B-B14F-4D97-AF65-F5344CB8AC3E}">
        <p14:creationId xmlns:p14="http://schemas.microsoft.com/office/powerpoint/2010/main" val="5418632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es-ES"/>
              <a:t>Haga clic para modificar el estilo de título del patrón</a:t>
            </a:r>
          </a:p>
        </p:txBody>
      </p:sp>
      <p:sp>
        <p:nvSpPr>
          <p:cNvPr id="3" name="Marcador de texto vertical 2"/>
          <p:cNvSpPr>
            <a:spLocks noGrp="1"/>
          </p:cNvSpPr>
          <p:nvPr>
            <p:ph type="body" orient="vert" idx="1"/>
          </p:nvPr>
        </p:nvSpPr>
        <p:spPr>
          <a:xfrm>
            <a:off x="838200" y="365125"/>
            <a:ext cx="7734300" cy="5811838"/>
          </a:xfr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10"/>
          </p:nvPr>
        </p:nvSpPr>
        <p:spPr/>
        <p:txBody>
          <a:bodyPr/>
          <a:lstStyle/>
          <a:p>
            <a:fld id="{40771E8B-6CA5-40B2-8038-0E112F3DAC1C}" type="datetimeFigureOut">
              <a:rPr lang="es-ES" smtClean="0"/>
              <a:t>02/05/2023</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0F1556C4-DFC3-4611-A7CC-780699185E26}" type="slidenum">
              <a:rPr lang="es-ES" smtClean="0"/>
              <a:t>‹Nº›</a:t>
            </a:fld>
            <a:endParaRPr lang="es-ES"/>
          </a:p>
        </p:txBody>
      </p:sp>
    </p:spTree>
    <p:extLst>
      <p:ext uri="{BB962C8B-B14F-4D97-AF65-F5344CB8AC3E}">
        <p14:creationId xmlns:p14="http://schemas.microsoft.com/office/powerpoint/2010/main" val="22150962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0771E8B-6CA5-40B2-8038-0E112F3DAC1C}" type="datetimeFigureOut">
              <a:rPr lang="es-ES" smtClean="0"/>
              <a:t>02/05/2023</a:t>
            </a:fld>
            <a:endParaRPr lang="es-ES"/>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S"/>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F1556C4-DFC3-4611-A7CC-780699185E26}" type="slidenum">
              <a:rPr lang="es-ES" smtClean="0"/>
              <a:t>‹Nº›</a:t>
            </a:fld>
            <a:endParaRPr lang="es-ES"/>
          </a:p>
        </p:txBody>
      </p:sp>
    </p:spTree>
    <p:extLst>
      <p:ext uri="{BB962C8B-B14F-4D97-AF65-F5344CB8AC3E}">
        <p14:creationId xmlns:p14="http://schemas.microsoft.com/office/powerpoint/2010/main" val="293311899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9">
            <a:extLst>
              <a:ext uri="{FF2B5EF4-FFF2-40B4-BE49-F238E27FC236}">
                <a16:creationId xmlns:a16="http://schemas.microsoft.com/office/drawing/2014/main" id="{51E97C3D-86C0-41DC-9F8A-476CC05E5D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11">
            <a:extLst>
              <a:ext uri="{FF2B5EF4-FFF2-40B4-BE49-F238E27FC236}">
                <a16:creationId xmlns:a16="http://schemas.microsoft.com/office/drawing/2014/main" id="{309C9282-EF05-4BDC-AEC6-69DA837C6B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12192000" cy="6858000"/>
          </a:xfrm>
          <a:custGeom>
            <a:avLst/>
            <a:gdLst>
              <a:gd name="connsiteX0" fmla="*/ 12192000 w 12192000"/>
              <a:gd name="connsiteY0" fmla="*/ 0 h 6858000"/>
              <a:gd name="connsiteX1" fmla="*/ 11547944 w 12192000"/>
              <a:gd name="connsiteY1" fmla="*/ 0 h 6858000"/>
              <a:gd name="connsiteX2" fmla="*/ 11535738 w 12192000"/>
              <a:gd name="connsiteY2" fmla="*/ 281721 h 6858000"/>
              <a:gd name="connsiteX3" fmla="*/ 11431495 w 12192000"/>
              <a:gd name="connsiteY3" fmla="*/ 1677203 h 6858000"/>
              <a:gd name="connsiteX4" fmla="*/ 10688925 w 12192000"/>
              <a:gd name="connsiteY4" fmla="*/ 4351060 h 6858000"/>
              <a:gd name="connsiteX5" fmla="*/ 10614116 w 12192000"/>
              <a:gd name="connsiteY5" fmla="*/ 3932986 h 6858000"/>
              <a:gd name="connsiteX6" fmla="*/ 10409240 w 12192000"/>
              <a:gd name="connsiteY6" fmla="*/ 4928884 h 6858000"/>
              <a:gd name="connsiteX7" fmla="*/ 10387136 w 12192000"/>
              <a:gd name="connsiteY7" fmla="*/ 4870724 h 6858000"/>
              <a:gd name="connsiteX8" fmla="*/ 10289799 w 12192000"/>
              <a:gd name="connsiteY8" fmla="*/ 4976470 h 6858000"/>
              <a:gd name="connsiteX9" fmla="*/ 10129980 w 12192000"/>
              <a:gd name="connsiteY9" fmla="*/ 5424001 h 6858000"/>
              <a:gd name="connsiteX10" fmla="*/ 9891949 w 12192000"/>
              <a:gd name="connsiteY10" fmla="*/ 4861282 h 6858000"/>
              <a:gd name="connsiteX11" fmla="*/ 9533630 w 12192000"/>
              <a:gd name="connsiteY11" fmla="*/ 5484049 h 6858000"/>
              <a:gd name="connsiteX12" fmla="*/ 9443092 w 12192000"/>
              <a:gd name="connsiteY12" fmla="*/ 5803552 h 6858000"/>
              <a:gd name="connsiteX13" fmla="*/ 9287948 w 12192000"/>
              <a:gd name="connsiteY13" fmla="*/ 5141886 h 6858000"/>
              <a:gd name="connsiteX14" fmla="*/ 9177009 w 12192000"/>
              <a:gd name="connsiteY14" fmla="*/ 4893006 h 6858000"/>
              <a:gd name="connsiteX15" fmla="*/ 9032066 w 12192000"/>
              <a:gd name="connsiteY15" fmla="*/ 5025944 h 6858000"/>
              <a:gd name="connsiteX16" fmla="*/ 8803811 w 12192000"/>
              <a:gd name="connsiteY16" fmla="*/ 5801663 h 6858000"/>
              <a:gd name="connsiteX17" fmla="*/ 8700949 w 12192000"/>
              <a:gd name="connsiteY17" fmla="*/ 5925915 h 6858000"/>
              <a:gd name="connsiteX18" fmla="*/ 8748555 w 12192000"/>
              <a:gd name="connsiteY18" fmla="*/ 5238946 h 6858000"/>
              <a:gd name="connsiteX19" fmla="*/ 8684372 w 12192000"/>
              <a:gd name="connsiteY19" fmla="*/ 5060689 h 6858000"/>
              <a:gd name="connsiteX20" fmla="*/ 8644194 w 12192000"/>
              <a:gd name="connsiteY20" fmla="*/ 5062160 h 6858000"/>
              <a:gd name="connsiteX21" fmla="*/ 8631433 w 12192000"/>
              <a:gd name="connsiteY21" fmla="*/ 5067734 h 6858000"/>
              <a:gd name="connsiteX22" fmla="*/ 8615844 w 12192000"/>
              <a:gd name="connsiteY22" fmla="*/ 5190580 h 6858000"/>
              <a:gd name="connsiteX23" fmla="*/ 8575345 w 12192000"/>
              <a:gd name="connsiteY23" fmla="*/ 5337526 h 6858000"/>
              <a:gd name="connsiteX24" fmla="*/ 8550498 w 12192000"/>
              <a:gd name="connsiteY24" fmla="*/ 5350201 h 6858000"/>
              <a:gd name="connsiteX25" fmla="*/ 8542151 w 12192000"/>
              <a:gd name="connsiteY25" fmla="*/ 5394531 h 6858000"/>
              <a:gd name="connsiteX26" fmla="*/ 8476520 w 12192000"/>
              <a:gd name="connsiteY26" fmla="*/ 5849250 h 6858000"/>
              <a:gd name="connsiteX27" fmla="*/ 8295447 w 12192000"/>
              <a:gd name="connsiteY27" fmla="*/ 6027507 h 6858000"/>
              <a:gd name="connsiteX28" fmla="*/ 8083344 w 12192000"/>
              <a:gd name="connsiteY28" fmla="*/ 6329638 h 6858000"/>
              <a:gd name="connsiteX29" fmla="*/ 7917149 w 12192000"/>
              <a:gd name="connsiteY29" fmla="*/ 6112858 h 6858000"/>
              <a:gd name="connsiteX30" fmla="*/ 7658292 w 12192000"/>
              <a:gd name="connsiteY30" fmla="*/ 6450489 h 6858000"/>
              <a:gd name="connsiteX31" fmla="*/ 7330149 w 12192000"/>
              <a:gd name="connsiteY31" fmla="*/ 6344744 h 6858000"/>
              <a:gd name="connsiteX32" fmla="*/ 7263841 w 12192000"/>
              <a:gd name="connsiteY32" fmla="*/ 5766164 h 6858000"/>
              <a:gd name="connsiteX33" fmla="*/ 7167779 w 12192000"/>
              <a:gd name="connsiteY33" fmla="*/ 5101098 h 6858000"/>
              <a:gd name="connsiteX34" fmla="*/ 7113797 w 12192000"/>
              <a:gd name="connsiteY34" fmla="*/ 4588988 h 6858000"/>
              <a:gd name="connsiteX35" fmla="*/ 6999883 w 12192000"/>
              <a:gd name="connsiteY35" fmla="*/ 4229829 h 6858000"/>
              <a:gd name="connsiteX36" fmla="*/ 6910621 w 12192000"/>
              <a:gd name="connsiteY36" fmla="*/ 2668948 h 6858000"/>
              <a:gd name="connsiteX37" fmla="*/ 6821785 w 12192000"/>
              <a:gd name="connsiteY37" fmla="*/ 0 h 6858000"/>
              <a:gd name="connsiteX38" fmla="*/ 0 w 12192000"/>
              <a:gd name="connsiteY38" fmla="*/ 0 h 6858000"/>
              <a:gd name="connsiteX39" fmla="*/ 0 w 12192000"/>
              <a:gd name="connsiteY39" fmla="*/ 6858000 h 6858000"/>
              <a:gd name="connsiteX40" fmla="*/ 12192000 w 12192000"/>
              <a:gd name="connsiteY4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2192000" h="6858000">
                <a:moveTo>
                  <a:pt x="12192000" y="0"/>
                </a:moveTo>
                <a:lnTo>
                  <a:pt x="11547944" y="0"/>
                </a:lnTo>
                <a:lnTo>
                  <a:pt x="11535738" y="281721"/>
                </a:lnTo>
                <a:cubicBezTo>
                  <a:pt x="11506250" y="930250"/>
                  <a:pt x="11470174" y="1496443"/>
                  <a:pt x="11431495" y="1677203"/>
                </a:cubicBezTo>
                <a:cubicBezTo>
                  <a:pt x="10872549" y="4293277"/>
                  <a:pt x="10688925" y="4351060"/>
                  <a:pt x="10688925" y="4351060"/>
                </a:cubicBezTo>
                <a:cubicBezTo>
                  <a:pt x="10688925" y="4351060"/>
                  <a:pt x="10656621" y="4071210"/>
                  <a:pt x="10614116" y="3932986"/>
                </a:cubicBezTo>
                <a:cubicBezTo>
                  <a:pt x="10605614" y="4127483"/>
                  <a:pt x="10438569" y="4898294"/>
                  <a:pt x="10409240" y="4928884"/>
                </a:cubicBezTo>
                <a:cubicBezTo>
                  <a:pt x="10402015" y="4910756"/>
                  <a:pt x="10394363" y="4890363"/>
                  <a:pt x="10387136" y="4870724"/>
                </a:cubicBezTo>
                <a:cubicBezTo>
                  <a:pt x="10362909" y="4909246"/>
                  <a:pt x="10332305" y="4945124"/>
                  <a:pt x="10289799" y="4976470"/>
                </a:cubicBezTo>
                <a:cubicBezTo>
                  <a:pt x="10143581" y="5084482"/>
                  <a:pt x="10189062" y="5271424"/>
                  <a:pt x="10129980" y="5424001"/>
                </a:cubicBezTo>
                <a:cubicBezTo>
                  <a:pt x="9824791" y="5319388"/>
                  <a:pt x="9945931" y="5062199"/>
                  <a:pt x="9891949" y="4861282"/>
                </a:cubicBezTo>
                <a:cubicBezTo>
                  <a:pt x="9695575" y="5383591"/>
                  <a:pt x="9604613" y="5276334"/>
                  <a:pt x="9533630" y="5484049"/>
                </a:cubicBezTo>
                <a:cubicBezTo>
                  <a:pt x="9445643" y="5741993"/>
                  <a:pt x="9443092" y="5803552"/>
                  <a:pt x="9443092" y="5803552"/>
                </a:cubicBezTo>
                <a:cubicBezTo>
                  <a:pt x="9282847" y="5603013"/>
                  <a:pt x="9343630" y="5380569"/>
                  <a:pt x="9287948" y="5141886"/>
                </a:cubicBezTo>
                <a:cubicBezTo>
                  <a:pt x="9223339" y="5062954"/>
                  <a:pt x="9193586" y="4979491"/>
                  <a:pt x="9177009" y="4893006"/>
                </a:cubicBezTo>
                <a:cubicBezTo>
                  <a:pt x="9141304" y="4841644"/>
                  <a:pt x="9090723" y="5078439"/>
                  <a:pt x="9032066" y="5025944"/>
                </a:cubicBezTo>
                <a:cubicBezTo>
                  <a:pt x="8982759" y="5270291"/>
                  <a:pt x="8885422" y="5504443"/>
                  <a:pt x="8803811" y="5801663"/>
                </a:cubicBezTo>
                <a:cubicBezTo>
                  <a:pt x="8762156" y="5952352"/>
                  <a:pt x="8700523" y="5939888"/>
                  <a:pt x="8700949" y="5925915"/>
                </a:cubicBezTo>
                <a:cubicBezTo>
                  <a:pt x="8703498" y="5572422"/>
                  <a:pt x="8785958" y="5593194"/>
                  <a:pt x="8748555" y="5238946"/>
                </a:cubicBezTo>
                <a:cubicBezTo>
                  <a:pt x="8744304" y="5176254"/>
                  <a:pt x="8780858" y="5073151"/>
                  <a:pt x="8684372" y="5060689"/>
                </a:cubicBezTo>
                <a:cubicBezTo>
                  <a:pt x="8668751" y="5059084"/>
                  <a:pt x="8655481" y="5059715"/>
                  <a:pt x="8644194" y="5062160"/>
                </a:cubicBezTo>
                <a:lnTo>
                  <a:pt x="8631433" y="5067734"/>
                </a:lnTo>
                <a:lnTo>
                  <a:pt x="8615844" y="5190580"/>
                </a:lnTo>
                <a:cubicBezTo>
                  <a:pt x="8608004" y="5245246"/>
                  <a:pt x="8612043" y="5307373"/>
                  <a:pt x="8575345" y="5337526"/>
                </a:cubicBezTo>
                <a:lnTo>
                  <a:pt x="8550498" y="5350201"/>
                </a:lnTo>
                <a:lnTo>
                  <a:pt x="8542151" y="5394531"/>
                </a:lnTo>
                <a:cubicBezTo>
                  <a:pt x="8515492" y="5544617"/>
                  <a:pt x="8497560" y="5674203"/>
                  <a:pt x="8476520" y="5849250"/>
                </a:cubicBezTo>
                <a:cubicBezTo>
                  <a:pt x="8462492" y="5947820"/>
                  <a:pt x="8482471" y="6067917"/>
                  <a:pt x="8295447" y="6027507"/>
                </a:cubicBezTo>
                <a:cubicBezTo>
                  <a:pt x="8112674" y="6054698"/>
                  <a:pt x="8170906" y="6237864"/>
                  <a:pt x="8083344" y="6329638"/>
                </a:cubicBezTo>
                <a:cubicBezTo>
                  <a:pt x="7981758" y="6280541"/>
                  <a:pt x="8053166" y="6152135"/>
                  <a:pt x="7917149" y="6112858"/>
                </a:cubicBezTo>
                <a:cubicBezTo>
                  <a:pt x="7958379" y="6295648"/>
                  <a:pt x="7657017" y="6268455"/>
                  <a:pt x="7658292" y="6450489"/>
                </a:cubicBezTo>
                <a:cubicBezTo>
                  <a:pt x="7478068" y="6597401"/>
                  <a:pt x="7395183" y="6486367"/>
                  <a:pt x="7330149" y="6344744"/>
                </a:cubicBezTo>
                <a:cubicBezTo>
                  <a:pt x="7248964" y="6160822"/>
                  <a:pt x="7276167" y="5964059"/>
                  <a:pt x="7263841" y="5766164"/>
                </a:cubicBezTo>
                <a:cubicBezTo>
                  <a:pt x="7237063" y="5517661"/>
                  <a:pt x="7163953" y="5352622"/>
                  <a:pt x="7167779" y="5101098"/>
                </a:cubicBezTo>
                <a:cubicBezTo>
                  <a:pt x="7112947" y="4937571"/>
                  <a:pt x="7128674" y="4763090"/>
                  <a:pt x="7113797" y="4588988"/>
                </a:cubicBezTo>
                <a:cubicBezTo>
                  <a:pt x="7079792" y="4329155"/>
                  <a:pt x="7038137" y="4492306"/>
                  <a:pt x="6999883" y="4229829"/>
                </a:cubicBezTo>
                <a:cubicBezTo>
                  <a:pt x="6962053" y="3971130"/>
                  <a:pt x="6911047" y="2670836"/>
                  <a:pt x="6910621" y="2668948"/>
                </a:cubicBezTo>
                <a:cubicBezTo>
                  <a:pt x="6911047" y="2668948"/>
                  <a:pt x="6836662" y="1345614"/>
                  <a:pt x="6821785" y="0"/>
                </a:cubicBezTo>
                <a:lnTo>
                  <a:pt x="0" y="0"/>
                </a:lnTo>
                <a:lnTo>
                  <a:pt x="0" y="6858000"/>
                </a:lnTo>
                <a:lnTo>
                  <a:pt x="12192000" y="6858000"/>
                </a:lnTo>
                <a:close/>
              </a:path>
            </a:pathLst>
          </a:custGeom>
          <a:solidFill>
            <a:schemeClr val="bg2">
              <a:alpha val="50000"/>
            </a:schemeClr>
          </a:solidFill>
          <a:ln w="32707" cap="flat">
            <a:noFill/>
            <a:prstDash val="solid"/>
            <a:miter/>
          </a:ln>
        </p:spPr>
        <p:txBody>
          <a:bodyPr wrap="square" rtlCol="0" anchor="ctr">
            <a:noAutofit/>
          </a:bodyPr>
          <a:lstStyle/>
          <a:p>
            <a:pPr algn="ctr"/>
            <a:endParaRPr lang="en-US"/>
          </a:p>
        </p:txBody>
      </p:sp>
      <p:sp>
        <p:nvSpPr>
          <p:cNvPr id="2" name="Título 1"/>
          <p:cNvSpPr>
            <a:spLocks noGrp="1"/>
          </p:cNvSpPr>
          <p:nvPr>
            <p:ph type="ctrTitle"/>
          </p:nvPr>
        </p:nvSpPr>
        <p:spPr>
          <a:xfrm>
            <a:off x="6096000" y="1406005"/>
            <a:ext cx="5257800" cy="2806704"/>
          </a:xfrm>
        </p:spPr>
        <p:txBody>
          <a:bodyPr anchor="b">
            <a:normAutofit/>
          </a:bodyPr>
          <a:lstStyle/>
          <a:p>
            <a:pPr algn="l"/>
            <a:r>
              <a:rPr lang="es-ES" sz="4400">
                <a:ea typeface="+mj-lt"/>
                <a:cs typeface="+mj-lt"/>
              </a:rPr>
              <a:t>SISTEMA DE VENTA ON LINE DE SIDRA, CON LOGÍSTICA Y DISTRIBUCIÓN</a:t>
            </a:r>
            <a:endParaRPr lang="es-ES" sz="4400"/>
          </a:p>
        </p:txBody>
      </p:sp>
      <p:sp>
        <p:nvSpPr>
          <p:cNvPr id="3" name="Subtítulo 2"/>
          <p:cNvSpPr>
            <a:spLocks noGrp="1"/>
          </p:cNvSpPr>
          <p:nvPr>
            <p:ph type="subTitle" idx="1"/>
          </p:nvPr>
        </p:nvSpPr>
        <p:spPr>
          <a:xfrm>
            <a:off x="6096001" y="4279787"/>
            <a:ext cx="5257800" cy="1467873"/>
          </a:xfrm>
        </p:spPr>
        <p:txBody>
          <a:bodyPr vert="horz" lIns="91440" tIns="45720" rIns="91440" bIns="45720" rtlCol="0">
            <a:normAutofit/>
          </a:bodyPr>
          <a:lstStyle/>
          <a:p>
            <a:pPr algn="l"/>
            <a:r>
              <a:rPr lang="es-ES" sz="2000">
                <a:cs typeface="Calibri"/>
              </a:rPr>
              <a:t> </a:t>
            </a:r>
            <a:r>
              <a:rPr lang="es-ES" sz="2000" err="1">
                <a:cs typeface="Calibri"/>
              </a:rPr>
              <a:t>Laís</a:t>
            </a:r>
            <a:r>
              <a:rPr lang="es-ES" sz="2000">
                <a:cs typeface="Calibri"/>
              </a:rPr>
              <a:t> García Suárez, UO276208, DPPI23_E09-1</a:t>
            </a:r>
            <a:endParaRPr lang="en-US" sz="2000">
              <a:cs typeface="Calibri"/>
            </a:endParaRPr>
          </a:p>
          <a:p>
            <a:pPr algn="l"/>
            <a:r>
              <a:rPr lang="es-ES" sz="2000">
                <a:cs typeface="Calibri"/>
              </a:rPr>
              <a:t> Pablo Díaz Rubio, UO271245, DPPI23_E09-2</a:t>
            </a:r>
            <a:endParaRPr lang="en-US" sz="2000">
              <a:cs typeface="Calibri"/>
            </a:endParaRPr>
          </a:p>
          <a:p>
            <a:pPr algn="l"/>
            <a:r>
              <a:rPr lang="es-ES" sz="2000">
                <a:cs typeface="Calibri"/>
              </a:rPr>
              <a:t> Jesús González Méndez, UO263799, DPPI23_E09-3</a:t>
            </a:r>
            <a:endParaRPr lang="es-ES" sz="2000"/>
          </a:p>
        </p:txBody>
      </p:sp>
      <p:pic>
        <p:nvPicPr>
          <p:cNvPr id="5" name="Imagen 5" descr="Texto&#10;&#10;Descripción generada automáticamente">
            <a:extLst>
              <a:ext uri="{FF2B5EF4-FFF2-40B4-BE49-F238E27FC236}">
                <a16:creationId xmlns:a16="http://schemas.microsoft.com/office/drawing/2014/main" id="{DE3C148C-AF01-862B-1459-C383F7B05424}"/>
              </a:ext>
            </a:extLst>
          </p:cNvPr>
          <p:cNvPicPr>
            <a:picLocks noChangeAspect="1"/>
          </p:cNvPicPr>
          <p:nvPr/>
        </p:nvPicPr>
        <p:blipFill>
          <a:blip r:embed="rId3"/>
          <a:stretch>
            <a:fillRect/>
          </a:stretch>
        </p:blipFill>
        <p:spPr>
          <a:xfrm>
            <a:off x="1740607" y="966669"/>
            <a:ext cx="2929259" cy="893423"/>
          </a:xfrm>
          <a:prstGeom prst="rect">
            <a:avLst/>
          </a:prstGeom>
        </p:spPr>
      </p:pic>
      <p:pic>
        <p:nvPicPr>
          <p:cNvPr id="4" name="Imagen 4" descr="Imagen que contiene Mapa&#10;&#10;Descripción generada automáticamente">
            <a:extLst>
              <a:ext uri="{FF2B5EF4-FFF2-40B4-BE49-F238E27FC236}">
                <a16:creationId xmlns:a16="http://schemas.microsoft.com/office/drawing/2014/main" id="{36569450-93B4-54C7-9D98-8BD27AB980A2}"/>
              </a:ext>
            </a:extLst>
          </p:cNvPr>
          <p:cNvPicPr>
            <a:picLocks noChangeAspect="1"/>
          </p:cNvPicPr>
          <p:nvPr/>
        </p:nvPicPr>
        <p:blipFill>
          <a:blip r:embed="rId4"/>
          <a:stretch>
            <a:fillRect/>
          </a:stretch>
        </p:blipFill>
        <p:spPr>
          <a:xfrm>
            <a:off x="1883729" y="2806051"/>
            <a:ext cx="2643017" cy="1575804"/>
          </a:xfrm>
          <a:prstGeom prst="rect">
            <a:avLst/>
          </a:prstGeom>
        </p:spPr>
      </p:pic>
    </p:spTree>
    <p:extLst>
      <p:ext uri="{BB962C8B-B14F-4D97-AF65-F5344CB8AC3E}">
        <p14:creationId xmlns:p14="http://schemas.microsoft.com/office/powerpoint/2010/main" val="24062731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8D5FDC4-D99D-9D6C-1AF5-9773641D6FB4}"/>
              </a:ext>
            </a:extLst>
          </p:cNvPr>
          <p:cNvSpPr>
            <a:spLocks noGrp="1"/>
          </p:cNvSpPr>
          <p:nvPr>
            <p:ph type="title"/>
          </p:nvPr>
        </p:nvSpPr>
        <p:spPr/>
        <p:txBody>
          <a:bodyPr/>
          <a:lstStyle/>
          <a:p>
            <a:r>
              <a:rPr lang="es-ES">
                <a:cs typeface="Calibri Light"/>
              </a:rPr>
              <a:t>Índice</a:t>
            </a:r>
            <a:endParaRPr lang="es-ES"/>
          </a:p>
        </p:txBody>
      </p:sp>
      <p:sp>
        <p:nvSpPr>
          <p:cNvPr id="3" name="Marcador de contenido 2">
            <a:extLst>
              <a:ext uri="{FF2B5EF4-FFF2-40B4-BE49-F238E27FC236}">
                <a16:creationId xmlns:a16="http://schemas.microsoft.com/office/drawing/2014/main" id="{C7E3CAE9-E871-682B-4397-6D9F2C83D35F}"/>
              </a:ext>
            </a:extLst>
          </p:cNvPr>
          <p:cNvSpPr>
            <a:spLocks noGrp="1"/>
          </p:cNvSpPr>
          <p:nvPr>
            <p:ph idx="1"/>
          </p:nvPr>
        </p:nvSpPr>
        <p:spPr/>
        <p:txBody>
          <a:bodyPr vert="horz" lIns="91440" tIns="45720" rIns="91440" bIns="45720" rtlCol="0" anchor="t">
            <a:normAutofit fontScale="92500" lnSpcReduction="20000"/>
          </a:bodyPr>
          <a:lstStyle/>
          <a:p>
            <a:r>
              <a:rPr lang="es-ES">
                <a:ea typeface="+mn-lt"/>
                <a:cs typeface="+mn-lt"/>
              </a:rPr>
              <a:t>Resumen del trabajo realizado</a:t>
            </a:r>
          </a:p>
          <a:p>
            <a:r>
              <a:rPr lang="es-ES">
                <a:ea typeface="+mn-lt"/>
                <a:cs typeface="+mn-lt"/>
              </a:rPr>
              <a:t>Apartados realizados</a:t>
            </a:r>
          </a:p>
          <a:p>
            <a:r>
              <a:rPr lang="es-ES">
                <a:ea typeface="+mn-lt"/>
                <a:cs typeface="+mn-lt"/>
              </a:rPr>
              <a:t>Planificación del Proyecto (WBS)</a:t>
            </a:r>
          </a:p>
          <a:p>
            <a:r>
              <a:rPr lang="es-ES">
                <a:ea typeface="+mn-lt"/>
                <a:cs typeface="+mn-lt"/>
              </a:rPr>
              <a:t>Estructura del equipo (OBS)</a:t>
            </a:r>
            <a:endParaRPr lang="es-ES">
              <a:cs typeface="Calibri"/>
            </a:endParaRPr>
          </a:p>
          <a:p>
            <a:r>
              <a:rPr lang="es-ES">
                <a:ea typeface="+mn-lt"/>
                <a:cs typeface="+mn-lt"/>
              </a:rPr>
              <a:t>Productos (PBS)</a:t>
            </a:r>
            <a:endParaRPr lang="es-ES">
              <a:cs typeface="Calibri"/>
            </a:endParaRPr>
          </a:p>
          <a:p>
            <a:r>
              <a:rPr lang="es-ES">
                <a:ea typeface="+mn-lt"/>
                <a:cs typeface="+mn-lt"/>
              </a:rPr>
              <a:t>Trazabilidad de las estimaciones/ WBS/ Presupuesto</a:t>
            </a:r>
            <a:endParaRPr lang="es-ES">
              <a:cs typeface="Calibri"/>
            </a:endParaRPr>
          </a:p>
          <a:p>
            <a:r>
              <a:rPr lang="es-ES">
                <a:ea typeface="+mn-lt"/>
                <a:cs typeface="+mn-lt"/>
              </a:rPr>
              <a:t>Estimación de Esfuerzos</a:t>
            </a:r>
            <a:endParaRPr lang="es-ES">
              <a:cs typeface="Calibri"/>
            </a:endParaRPr>
          </a:p>
          <a:p>
            <a:r>
              <a:rPr lang="es-ES">
                <a:ea typeface="+mn-lt"/>
                <a:cs typeface="+mn-lt"/>
              </a:rPr>
              <a:t>Presupuesto del Proyecto</a:t>
            </a:r>
            <a:endParaRPr lang="es-ES">
              <a:cs typeface="Calibri"/>
            </a:endParaRPr>
          </a:p>
          <a:p>
            <a:r>
              <a:rPr lang="es-ES">
                <a:ea typeface="+mn-lt"/>
                <a:cs typeface="+mn-lt"/>
              </a:rPr>
              <a:t>Plan de Gestión de las comunicaciones</a:t>
            </a:r>
            <a:endParaRPr lang="es-ES">
              <a:cs typeface="Calibri"/>
            </a:endParaRPr>
          </a:p>
          <a:p>
            <a:r>
              <a:rPr lang="es-ES">
                <a:ea typeface="+mn-lt"/>
                <a:cs typeface="+mn-lt"/>
              </a:rPr>
              <a:t>Plan de Gestión de riesgos</a:t>
            </a:r>
            <a:endParaRPr lang="es-ES">
              <a:cs typeface="Calibri"/>
            </a:endParaRPr>
          </a:p>
          <a:p>
            <a:endParaRPr lang="es-ES">
              <a:cs typeface="Calibri"/>
            </a:endParaRPr>
          </a:p>
        </p:txBody>
      </p:sp>
    </p:spTree>
    <p:extLst>
      <p:ext uri="{BB962C8B-B14F-4D97-AF65-F5344CB8AC3E}">
        <p14:creationId xmlns:p14="http://schemas.microsoft.com/office/powerpoint/2010/main" val="31754593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AC2AC14-64A5-49CE-214B-4C626B0D4B2B}"/>
              </a:ext>
            </a:extLst>
          </p:cNvPr>
          <p:cNvSpPr>
            <a:spLocks noGrp="1"/>
          </p:cNvSpPr>
          <p:nvPr>
            <p:ph type="title"/>
          </p:nvPr>
        </p:nvSpPr>
        <p:spPr/>
        <p:txBody>
          <a:bodyPr/>
          <a:lstStyle/>
          <a:p>
            <a:r>
              <a:rPr lang="es-ES"/>
              <a:t>Resumen del trabajo realizado</a:t>
            </a:r>
          </a:p>
        </p:txBody>
      </p:sp>
      <p:pic>
        <p:nvPicPr>
          <p:cNvPr id="4" name="Imagen 4" descr="Imagen que contiene Texto&#10;&#10;Descripción generada automáticamente">
            <a:extLst>
              <a:ext uri="{FF2B5EF4-FFF2-40B4-BE49-F238E27FC236}">
                <a16:creationId xmlns:a16="http://schemas.microsoft.com/office/drawing/2014/main" id="{09F29525-8134-E3BC-00A8-B2E0F8A13865}"/>
              </a:ext>
            </a:extLst>
          </p:cNvPr>
          <p:cNvPicPr>
            <a:picLocks noGrp="1" noChangeAspect="1"/>
          </p:cNvPicPr>
          <p:nvPr>
            <p:ph idx="1"/>
          </p:nvPr>
        </p:nvPicPr>
        <p:blipFill>
          <a:blip r:embed="rId3"/>
          <a:stretch>
            <a:fillRect/>
          </a:stretch>
        </p:blipFill>
        <p:spPr>
          <a:xfrm>
            <a:off x="2798432" y="2030299"/>
            <a:ext cx="6417005" cy="3833132"/>
          </a:xfrm>
        </p:spPr>
      </p:pic>
    </p:spTree>
    <p:extLst>
      <p:ext uri="{BB962C8B-B14F-4D97-AF65-F5344CB8AC3E}">
        <p14:creationId xmlns:p14="http://schemas.microsoft.com/office/powerpoint/2010/main" val="15370697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6D02F84-3FFD-8040-9CE5-223F9D31A67F}"/>
              </a:ext>
            </a:extLst>
          </p:cNvPr>
          <p:cNvSpPr>
            <a:spLocks noGrp="1"/>
          </p:cNvSpPr>
          <p:nvPr>
            <p:ph type="title"/>
          </p:nvPr>
        </p:nvSpPr>
        <p:spPr/>
        <p:txBody>
          <a:bodyPr/>
          <a:lstStyle/>
          <a:p>
            <a:r>
              <a:rPr lang="es-ES"/>
              <a:t>Apartados realizados</a:t>
            </a:r>
          </a:p>
        </p:txBody>
      </p:sp>
      <p:graphicFrame>
        <p:nvGraphicFramePr>
          <p:cNvPr id="7" name="Tabla 7">
            <a:extLst>
              <a:ext uri="{FF2B5EF4-FFF2-40B4-BE49-F238E27FC236}">
                <a16:creationId xmlns:a16="http://schemas.microsoft.com/office/drawing/2014/main" id="{D770EDD0-3FB3-A2EB-6114-EF9E759967AA}"/>
              </a:ext>
            </a:extLst>
          </p:cNvPr>
          <p:cNvGraphicFramePr>
            <a:graphicFrameLocks noGrp="1"/>
          </p:cNvGraphicFramePr>
          <p:nvPr>
            <p:ph idx="1"/>
            <p:extLst>
              <p:ext uri="{D42A27DB-BD31-4B8C-83A1-F6EECF244321}">
                <p14:modId xmlns:p14="http://schemas.microsoft.com/office/powerpoint/2010/main" val="1437784369"/>
              </p:ext>
            </p:extLst>
          </p:nvPr>
        </p:nvGraphicFramePr>
        <p:xfrm>
          <a:off x="841168" y="1801090"/>
          <a:ext cx="10287609" cy="3016564"/>
        </p:xfrm>
        <a:graphic>
          <a:graphicData uri="http://schemas.openxmlformats.org/drawingml/2006/table">
            <a:tbl>
              <a:tblPr firstRow="1" bandRow="1">
                <a:tableStyleId>{5C22544A-7EE6-4342-B048-85BDC9FD1C3A}</a:tableStyleId>
              </a:tblPr>
              <a:tblGrid>
                <a:gridCol w="2627727">
                  <a:extLst>
                    <a:ext uri="{9D8B030D-6E8A-4147-A177-3AD203B41FA5}">
                      <a16:colId xmlns:a16="http://schemas.microsoft.com/office/drawing/2014/main" val="1800834367"/>
                    </a:ext>
                  </a:extLst>
                </a:gridCol>
                <a:gridCol w="2519227">
                  <a:extLst>
                    <a:ext uri="{9D8B030D-6E8A-4147-A177-3AD203B41FA5}">
                      <a16:colId xmlns:a16="http://schemas.microsoft.com/office/drawing/2014/main" val="1107114855"/>
                    </a:ext>
                  </a:extLst>
                </a:gridCol>
                <a:gridCol w="2567178">
                  <a:extLst>
                    <a:ext uri="{9D8B030D-6E8A-4147-A177-3AD203B41FA5}">
                      <a16:colId xmlns:a16="http://schemas.microsoft.com/office/drawing/2014/main" val="1846086150"/>
                    </a:ext>
                  </a:extLst>
                </a:gridCol>
                <a:gridCol w="2573477">
                  <a:extLst>
                    <a:ext uri="{9D8B030D-6E8A-4147-A177-3AD203B41FA5}">
                      <a16:colId xmlns:a16="http://schemas.microsoft.com/office/drawing/2014/main" val="1641267211"/>
                    </a:ext>
                  </a:extLst>
                </a:gridCol>
              </a:tblGrid>
              <a:tr h="629124">
                <a:tc gridSpan="4">
                  <a:txBody>
                    <a:bodyPr/>
                    <a:lstStyle/>
                    <a:p>
                      <a:pPr algn="ctr"/>
                      <a:r>
                        <a:rPr lang="es-ES"/>
                        <a:t>Trabajo individual realizado</a:t>
                      </a:r>
                    </a:p>
                  </a:txBody>
                  <a:tcPr/>
                </a:tc>
                <a:tc hMerge="1">
                  <a:txBody>
                    <a:bodyPr/>
                    <a:lstStyle/>
                    <a:p>
                      <a:endParaRPr lang="es-ES"/>
                    </a:p>
                  </a:txBody>
                  <a:tcPr/>
                </a:tc>
                <a:tc hMerge="1">
                  <a:txBody>
                    <a:bodyPr/>
                    <a:lstStyle/>
                    <a:p>
                      <a:endParaRPr lang="es-ES"/>
                    </a:p>
                  </a:txBody>
                  <a:tcPr/>
                </a:tc>
                <a:tc hMerge="1">
                  <a:txBody>
                    <a:bodyPr/>
                    <a:lstStyle/>
                    <a:p>
                      <a:endParaRPr lang="es-ES"/>
                    </a:p>
                  </a:txBody>
                  <a:tcPr/>
                </a:tc>
                <a:extLst>
                  <a:ext uri="{0D108BD9-81ED-4DB2-BD59-A6C34878D82A}">
                    <a16:rowId xmlns:a16="http://schemas.microsoft.com/office/drawing/2014/main" val="3288287651"/>
                  </a:ext>
                </a:extLst>
              </a:tr>
              <a:tr h="596860">
                <a:tc>
                  <a:txBody>
                    <a:bodyPr/>
                    <a:lstStyle/>
                    <a:p>
                      <a:pPr algn="ctr"/>
                      <a:endParaRPr lang="es-ES"/>
                    </a:p>
                  </a:txBody>
                  <a:tcPr/>
                </a:tc>
                <a:tc>
                  <a:txBody>
                    <a:bodyPr/>
                    <a:lstStyle/>
                    <a:p>
                      <a:pPr algn="ctr"/>
                      <a:r>
                        <a:rPr lang="es-ES" b="1"/>
                        <a:t>Pablo</a:t>
                      </a:r>
                      <a:endParaRPr lang="es-ES"/>
                    </a:p>
                  </a:txBody>
                  <a:tcPr/>
                </a:tc>
                <a:tc>
                  <a:txBody>
                    <a:bodyPr/>
                    <a:lstStyle/>
                    <a:p>
                      <a:pPr algn="ctr"/>
                      <a:r>
                        <a:rPr lang="es-ES" b="1"/>
                        <a:t>Laís</a:t>
                      </a:r>
                      <a:endParaRPr lang="es-ES" err="1"/>
                    </a:p>
                  </a:txBody>
                  <a:tcPr/>
                </a:tc>
                <a:tc>
                  <a:txBody>
                    <a:bodyPr/>
                    <a:lstStyle/>
                    <a:p>
                      <a:pPr algn="ctr"/>
                      <a:r>
                        <a:rPr lang="es-ES" b="1"/>
                        <a:t>Jesús</a:t>
                      </a:r>
                      <a:endParaRPr lang="es-ES"/>
                    </a:p>
                  </a:txBody>
                  <a:tcPr/>
                </a:tc>
                <a:extLst>
                  <a:ext uri="{0D108BD9-81ED-4DB2-BD59-A6C34878D82A}">
                    <a16:rowId xmlns:a16="http://schemas.microsoft.com/office/drawing/2014/main" val="2476456417"/>
                  </a:ext>
                </a:extLst>
              </a:tr>
              <a:tr h="596860">
                <a:tc>
                  <a:txBody>
                    <a:bodyPr/>
                    <a:lstStyle/>
                    <a:p>
                      <a:pPr algn="ctr"/>
                      <a:r>
                        <a:rPr lang="es-ES" b="1"/>
                        <a:t>Horas de trabajo</a:t>
                      </a:r>
                    </a:p>
                  </a:txBody>
                  <a:tcPr/>
                </a:tc>
                <a:tc>
                  <a:txBody>
                    <a:bodyPr/>
                    <a:lstStyle/>
                    <a:p>
                      <a:pPr algn="ctr"/>
                      <a:r>
                        <a:rPr lang="es-ES"/>
                        <a:t>149</a:t>
                      </a:r>
                    </a:p>
                  </a:txBody>
                  <a:tcPr/>
                </a:tc>
                <a:tc>
                  <a:txBody>
                    <a:bodyPr/>
                    <a:lstStyle/>
                    <a:p>
                      <a:pPr algn="ctr"/>
                      <a:r>
                        <a:rPr lang="es-ES"/>
                        <a:t>120</a:t>
                      </a:r>
                    </a:p>
                  </a:txBody>
                  <a:tcPr/>
                </a:tc>
                <a:tc>
                  <a:txBody>
                    <a:bodyPr/>
                    <a:lstStyle/>
                    <a:p>
                      <a:pPr algn="ctr"/>
                      <a:r>
                        <a:rPr lang="es-ES"/>
                        <a:t>129</a:t>
                      </a:r>
                    </a:p>
                  </a:txBody>
                  <a:tcPr/>
                </a:tc>
                <a:extLst>
                  <a:ext uri="{0D108BD9-81ED-4DB2-BD59-A6C34878D82A}">
                    <a16:rowId xmlns:a16="http://schemas.microsoft.com/office/drawing/2014/main" val="1935324901"/>
                  </a:ext>
                </a:extLst>
              </a:tr>
              <a:tr h="596860">
                <a:tc>
                  <a:txBody>
                    <a:bodyPr/>
                    <a:lstStyle/>
                    <a:p>
                      <a:pPr algn="ctr"/>
                      <a:r>
                        <a:rPr lang="es-ES" b="1"/>
                        <a:t>Tareas realizadas</a:t>
                      </a:r>
                    </a:p>
                  </a:txBody>
                  <a:tcPr/>
                </a:tc>
                <a:tc>
                  <a:txBody>
                    <a:bodyPr/>
                    <a:lstStyle/>
                    <a:p>
                      <a:pPr algn="ctr"/>
                      <a:r>
                        <a:rPr lang="es-ES"/>
                        <a:t>20</a:t>
                      </a:r>
                    </a:p>
                  </a:txBody>
                  <a:tcPr/>
                </a:tc>
                <a:tc>
                  <a:txBody>
                    <a:bodyPr/>
                    <a:lstStyle/>
                    <a:p>
                      <a:pPr algn="ctr"/>
                      <a:r>
                        <a:rPr lang="es-ES"/>
                        <a:t>12</a:t>
                      </a:r>
                    </a:p>
                  </a:txBody>
                  <a:tcPr/>
                </a:tc>
                <a:tc>
                  <a:txBody>
                    <a:bodyPr/>
                    <a:lstStyle/>
                    <a:p>
                      <a:pPr algn="ctr"/>
                      <a:r>
                        <a:rPr lang="es-ES"/>
                        <a:t>10</a:t>
                      </a:r>
                    </a:p>
                  </a:txBody>
                  <a:tcPr/>
                </a:tc>
                <a:extLst>
                  <a:ext uri="{0D108BD9-81ED-4DB2-BD59-A6C34878D82A}">
                    <a16:rowId xmlns:a16="http://schemas.microsoft.com/office/drawing/2014/main" val="2236512901"/>
                  </a:ext>
                </a:extLst>
              </a:tr>
              <a:tr h="596860">
                <a:tc>
                  <a:txBody>
                    <a:bodyPr/>
                    <a:lstStyle/>
                    <a:p>
                      <a:pPr algn="ctr"/>
                      <a:r>
                        <a:rPr lang="es-ES" b="1"/>
                        <a:t>Trabajo reseñable</a:t>
                      </a:r>
                    </a:p>
                  </a:txBody>
                  <a:tcPr/>
                </a:tc>
                <a:tc>
                  <a:txBody>
                    <a:bodyPr/>
                    <a:lstStyle/>
                    <a:p>
                      <a:pPr algn="ctr"/>
                      <a:r>
                        <a:rPr lang="es-ES"/>
                        <a:t>Planificación temporal</a:t>
                      </a:r>
                    </a:p>
                  </a:txBody>
                  <a:tcPr/>
                </a:tc>
                <a:tc>
                  <a:txBody>
                    <a:bodyPr/>
                    <a:lstStyle/>
                    <a:p>
                      <a:pPr lvl="0" algn="ctr">
                        <a:buNone/>
                      </a:pPr>
                      <a:r>
                        <a:rPr lang="es-ES"/>
                        <a:t>Análisis de riesgos</a:t>
                      </a:r>
                    </a:p>
                  </a:txBody>
                  <a:tcPr/>
                </a:tc>
                <a:tc>
                  <a:txBody>
                    <a:bodyPr/>
                    <a:lstStyle/>
                    <a:p>
                      <a:pPr algn="ctr"/>
                      <a:r>
                        <a:rPr lang="es-ES"/>
                        <a:t>Presupuesto</a:t>
                      </a:r>
                    </a:p>
                  </a:txBody>
                  <a:tcPr/>
                </a:tc>
                <a:extLst>
                  <a:ext uri="{0D108BD9-81ED-4DB2-BD59-A6C34878D82A}">
                    <a16:rowId xmlns:a16="http://schemas.microsoft.com/office/drawing/2014/main" val="455915110"/>
                  </a:ext>
                </a:extLst>
              </a:tr>
            </a:tbl>
          </a:graphicData>
        </a:graphic>
      </p:graphicFrame>
    </p:spTree>
    <p:extLst>
      <p:ext uri="{BB962C8B-B14F-4D97-AF65-F5344CB8AC3E}">
        <p14:creationId xmlns:p14="http://schemas.microsoft.com/office/powerpoint/2010/main" val="16776165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9A320C9-9735-4D13-8279-C1C6748413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ectangle 10">
            <a:extLst>
              <a:ext uri="{FF2B5EF4-FFF2-40B4-BE49-F238E27FC236}">
                <a16:creationId xmlns:a16="http://schemas.microsoft.com/office/drawing/2014/main" id="{92544CF4-9B52-4A7B-A4B3-88C72729B7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7126"/>
            <a:ext cx="11167447" cy="2018806"/>
          </a:xfrm>
          <a:prstGeom prst="rect">
            <a:avLst/>
          </a:prstGeom>
          <a:ln w="9525">
            <a:solidFill>
              <a:srgbClr val="DEDEDE"/>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 name="Rectangle 12">
            <a:extLst>
              <a:ext uri="{FF2B5EF4-FFF2-40B4-BE49-F238E27FC236}">
                <a16:creationId xmlns:a16="http://schemas.microsoft.com/office/drawing/2014/main" id="{E75862C5-5C00-4421-BC7B-9B7B86DBC8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E707B75C-2E57-A0E0-F70B-55D68C0039E1}"/>
              </a:ext>
            </a:extLst>
          </p:cNvPr>
          <p:cNvSpPr>
            <a:spLocks noGrp="1"/>
          </p:cNvSpPr>
          <p:nvPr>
            <p:ph type="title"/>
          </p:nvPr>
        </p:nvSpPr>
        <p:spPr>
          <a:xfrm>
            <a:off x="1115568" y="548640"/>
            <a:ext cx="10168128" cy="1179576"/>
          </a:xfrm>
        </p:spPr>
        <p:txBody>
          <a:bodyPr>
            <a:normAutofit/>
          </a:bodyPr>
          <a:lstStyle/>
          <a:p>
            <a:r>
              <a:rPr lang="es-ES" sz="4000"/>
              <a:t>Duración del proyecto</a:t>
            </a:r>
          </a:p>
        </p:txBody>
      </p:sp>
      <p:sp>
        <p:nvSpPr>
          <p:cNvPr id="15" name="Rectangle 14">
            <a:extLst>
              <a:ext uri="{FF2B5EF4-FFF2-40B4-BE49-F238E27FC236}">
                <a16:creationId xmlns:a16="http://schemas.microsoft.com/office/drawing/2014/main" id="{089440EF-9BE9-4AE9-8C28-00B02296CD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4" name="Tabla 4">
            <a:extLst>
              <a:ext uri="{FF2B5EF4-FFF2-40B4-BE49-F238E27FC236}">
                <a16:creationId xmlns:a16="http://schemas.microsoft.com/office/drawing/2014/main" id="{A9AFA467-B4E4-F4B1-1249-DCC35B8DA85C}"/>
              </a:ext>
            </a:extLst>
          </p:cNvPr>
          <p:cNvGraphicFramePr>
            <a:graphicFrameLocks noGrp="1"/>
          </p:cNvGraphicFramePr>
          <p:nvPr>
            <p:ph idx="1"/>
            <p:extLst>
              <p:ext uri="{D42A27DB-BD31-4B8C-83A1-F6EECF244321}">
                <p14:modId xmlns:p14="http://schemas.microsoft.com/office/powerpoint/2010/main" val="620792510"/>
              </p:ext>
            </p:extLst>
          </p:nvPr>
        </p:nvGraphicFramePr>
        <p:xfrm>
          <a:off x="6654426" y="182880"/>
          <a:ext cx="4548114" cy="1645920"/>
        </p:xfrm>
        <a:graphic>
          <a:graphicData uri="http://schemas.openxmlformats.org/drawingml/2006/table">
            <a:tbl>
              <a:tblPr firstRow="1" bandRow="1">
                <a:tableStyleId>{5C22544A-7EE6-4342-B048-85BDC9FD1C3A}</a:tableStyleId>
              </a:tblPr>
              <a:tblGrid>
                <a:gridCol w="1657633">
                  <a:extLst>
                    <a:ext uri="{9D8B030D-6E8A-4147-A177-3AD203B41FA5}">
                      <a16:colId xmlns:a16="http://schemas.microsoft.com/office/drawing/2014/main" val="2326080385"/>
                    </a:ext>
                  </a:extLst>
                </a:gridCol>
                <a:gridCol w="2890481">
                  <a:extLst>
                    <a:ext uri="{9D8B030D-6E8A-4147-A177-3AD203B41FA5}">
                      <a16:colId xmlns:a16="http://schemas.microsoft.com/office/drawing/2014/main" val="21588582"/>
                    </a:ext>
                  </a:extLst>
                </a:gridCol>
              </a:tblGrid>
              <a:tr h="377593">
                <a:tc gridSpan="2">
                  <a:txBody>
                    <a:bodyPr/>
                    <a:lstStyle/>
                    <a:p>
                      <a:r>
                        <a:rPr lang="es-ES" sz="1600"/>
                        <a:t>Planificación</a:t>
                      </a:r>
                    </a:p>
                  </a:txBody>
                  <a:tcPr marL="167640" marR="167640" marT="83820" marB="83820"/>
                </a:tc>
                <a:tc hMerge="1">
                  <a:txBody>
                    <a:bodyPr/>
                    <a:lstStyle/>
                    <a:p>
                      <a:endParaRPr lang="es-ES"/>
                    </a:p>
                  </a:txBody>
                  <a:tcPr/>
                </a:tc>
                <a:extLst>
                  <a:ext uri="{0D108BD9-81ED-4DB2-BD59-A6C34878D82A}">
                    <a16:rowId xmlns:a16="http://schemas.microsoft.com/office/drawing/2014/main" val="1920612510"/>
                  </a:ext>
                </a:extLst>
              </a:tr>
              <a:tr h="377593">
                <a:tc>
                  <a:txBody>
                    <a:bodyPr/>
                    <a:lstStyle/>
                    <a:p>
                      <a:r>
                        <a:rPr lang="es-ES" sz="1600"/>
                        <a:t>Inicio</a:t>
                      </a:r>
                    </a:p>
                  </a:txBody>
                  <a:tcPr marL="167640" marR="167640" marT="83820" marB="8382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1600"/>
                        <a:t>5 de Mayo de 2023</a:t>
                      </a:r>
                    </a:p>
                  </a:txBody>
                  <a:tcPr marL="167640" marR="167640" marT="83820" marB="83820"/>
                </a:tc>
                <a:extLst>
                  <a:ext uri="{0D108BD9-81ED-4DB2-BD59-A6C34878D82A}">
                    <a16:rowId xmlns:a16="http://schemas.microsoft.com/office/drawing/2014/main" val="2675353375"/>
                  </a:ext>
                </a:extLst>
              </a:tr>
              <a:tr h="377593">
                <a:tc>
                  <a:txBody>
                    <a:bodyPr/>
                    <a:lstStyle/>
                    <a:p>
                      <a:r>
                        <a:rPr lang="es-ES" sz="1600"/>
                        <a:t>Final</a:t>
                      </a:r>
                    </a:p>
                  </a:txBody>
                  <a:tcPr marL="167640" marR="167640" marT="83820" marB="8382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1600"/>
                        <a:t>14 de Septiembre de 2023</a:t>
                      </a:r>
                    </a:p>
                  </a:txBody>
                  <a:tcPr marL="167640" marR="167640" marT="83820" marB="83820"/>
                </a:tc>
                <a:extLst>
                  <a:ext uri="{0D108BD9-81ED-4DB2-BD59-A6C34878D82A}">
                    <a16:rowId xmlns:a16="http://schemas.microsoft.com/office/drawing/2014/main" val="3613512009"/>
                  </a:ext>
                </a:extLst>
              </a:tr>
              <a:tr h="377593">
                <a:tc>
                  <a:txBody>
                    <a:bodyPr/>
                    <a:lstStyle/>
                    <a:p>
                      <a:r>
                        <a:rPr lang="es-ES" sz="1600"/>
                        <a:t>Duración total</a:t>
                      </a:r>
                    </a:p>
                  </a:txBody>
                  <a:tcPr marL="167640" marR="167640" marT="83820" marB="8382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1600" b="0" i="0">
                          <a:solidFill>
                            <a:srgbClr val="000000"/>
                          </a:solidFill>
                          <a:effectLst/>
                          <a:latin typeface="Calibri" panose="020F0502020204030204" pitchFamily="34" charset="0"/>
                        </a:rPr>
                        <a:t>147 días (5 meses)</a:t>
                      </a:r>
                      <a:r>
                        <a:rPr lang="es-ES" sz="1600"/>
                        <a:t> </a:t>
                      </a:r>
                    </a:p>
                  </a:txBody>
                  <a:tcPr marL="167640" marR="167640" marT="83820" marB="83820"/>
                </a:tc>
                <a:extLst>
                  <a:ext uri="{0D108BD9-81ED-4DB2-BD59-A6C34878D82A}">
                    <a16:rowId xmlns:a16="http://schemas.microsoft.com/office/drawing/2014/main" val="131382474"/>
                  </a:ext>
                </a:extLst>
              </a:tr>
            </a:tbl>
          </a:graphicData>
        </a:graphic>
      </p:graphicFrame>
      <p:pic>
        <p:nvPicPr>
          <p:cNvPr id="6" name="Imagen 5">
            <a:extLst>
              <a:ext uri="{FF2B5EF4-FFF2-40B4-BE49-F238E27FC236}">
                <a16:creationId xmlns:a16="http://schemas.microsoft.com/office/drawing/2014/main" id="{8EA5C01E-F4CF-6D82-F5CD-F6D597F2DF96}"/>
              </a:ext>
            </a:extLst>
          </p:cNvPr>
          <p:cNvPicPr>
            <a:picLocks noChangeAspect="1"/>
          </p:cNvPicPr>
          <p:nvPr/>
        </p:nvPicPr>
        <p:blipFill>
          <a:blip r:embed="rId3"/>
          <a:stretch>
            <a:fillRect/>
          </a:stretch>
        </p:blipFill>
        <p:spPr>
          <a:xfrm>
            <a:off x="498834" y="2551006"/>
            <a:ext cx="11255017" cy="3758354"/>
          </a:xfrm>
          <a:prstGeom prst="rect">
            <a:avLst/>
          </a:prstGeom>
        </p:spPr>
      </p:pic>
    </p:spTree>
    <p:extLst>
      <p:ext uri="{BB962C8B-B14F-4D97-AF65-F5344CB8AC3E}">
        <p14:creationId xmlns:p14="http://schemas.microsoft.com/office/powerpoint/2010/main" val="37608347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0C9C474-38B1-2B87-613A-5667DF821027}"/>
              </a:ext>
            </a:extLst>
          </p:cNvPr>
          <p:cNvSpPr>
            <a:spLocks noGrp="1"/>
          </p:cNvSpPr>
          <p:nvPr>
            <p:ph type="title"/>
          </p:nvPr>
        </p:nvSpPr>
        <p:spPr/>
        <p:txBody>
          <a:bodyPr/>
          <a:lstStyle/>
          <a:p>
            <a:r>
              <a:rPr lang="es-ES">
                <a:cs typeface="Calibri Light"/>
              </a:rPr>
              <a:t>Planificación del Proyecto (WBS)</a:t>
            </a:r>
            <a:endParaRPr lang="es-ES"/>
          </a:p>
        </p:txBody>
      </p:sp>
      <p:pic>
        <p:nvPicPr>
          <p:cNvPr id="4" name="Imagen 4">
            <a:extLst>
              <a:ext uri="{FF2B5EF4-FFF2-40B4-BE49-F238E27FC236}">
                <a16:creationId xmlns:a16="http://schemas.microsoft.com/office/drawing/2014/main" id="{24E7A076-0454-4026-4D58-BF274D159DAE}"/>
              </a:ext>
            </a:extLst>
          </p:cNvPr>
          <p:cNvPicPr>
            <a:picLocks noGrp="1" noChangeAspect="1"/>
          </p:cNvPicPr>
          <p:nvPr>
            <p:ph idx="1"/>
          </p:nvPr>
        </p:nvPicPr>
        <p:blipFill>
          <a:blip r:embed="rId3"/>
          <a:stretch>
            <a:fillRect/>
          </a:stretch>
        </p:blipFill>
        <p:spPr>
          <a:xfrm>
            <a:off x="3462608" y="1825625"/>
            <a:ext cx="5266783" cy="4351338"/>
          </a:xfrm>
        </p:spPr>
      </p:pic>
    </p:spTree>
    <p:extLst>
      <p:ext uri="{BB962C8B-B14F-4D97-AF65-F5344CB8AC3E}">
        <p14:creationId xmlns:p14="http://schemas.microsoft.com/office/powerpoint/2010/main" val="20731795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955A2079-FA98-4876-80F0-72364A7D2E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90C9C474-38B1-2B87-613A-5667DF821027}"/>
              </a:ext>
            </a:extLst>
          </p:cNvPr>
          <p:cNvSpPr>
            <a:spLocks noGrp="1"/>
          </p:cNvSpPr>
          <p:nvPr>
            <p:ph type="title"/>
          </p:nvPr>
        </p:nvSpPr>
        <p:spPr>
          <a:xfrm>
            <a:off x="836675" y="192012"/>
            <a:ext cx="10515600" cy="1133499"/>
          </a:xfrm>
        </p:spPr>
        <p:txBody>
          <a:bodyPr>
            <a:normAutofit/>
          </a:bodyPr>
          <a:lstStyle/>
          <a:p>
            <a:pPr algn="ctr"/>
            <a:r>
              <a:rPr lang="es-ES" sz="5200">
                <a:cs typeface="Calibri Light"/>
              </a:rPr>
              <a:t>Planificación del Proyecto (WBS)</a:t>
            </a:r>
            <a:endParaRPr lang="es-ES" sz="5200"/>
          </a:p>
        </p:txBody>
      </p:sp>
      <p:sp>
        <p:nvSpPr>
          <p:cNvPr id="8" name="CuadroTexto 7">
            <a:extLst>
              <a:ext uri="{FF2B5EF4-FFF2-40B4-BE49-F238E27FC236}">
                <a16:creationId xmlns:a16="http://schemas.microsoft.com/office/drawing/2014/main" id="{EFF8A37A-F145-319B-9BC2-01CEF5D276DD}"/>
              </a:ext>
            </a:extLst>
          </p:cNvPr>
          <p:cNvSpPr txBox="1"/>
          <p:nvPr/>
        </p:nvSpPr>
        <p:spPr>
          <a:xfrm>
            <a:off x="4724400" y="3200400"/>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s-ES"/>
          </a:p>
        </p:txBody>
      </p:sp>
      <p:graphicFrame>
        <p:nvGraphicFramePr>
          <p:cNvPr id="7" name="Marcador de contenido 6">
            <a:extLst>
              <a:ext uri="{FF2B5EF4-FFF2-40B4-BE49-F238E27FC236}">
                <a16:creationId xmlns:a16="http://schemas.microsoft.com/office/drawing/2014/main" id="{8CD7A86E-D28B-E416-A624-DD005658014F}"/>
              </a:ext>
            </a:extLst>
          </p:cNvPr>
          <p:cNvGraphicFramePr>
            <a:graphicFrameLocks noGrp="1"/>
          </p:cNvGraphicFramePr>
          <p:nvPr>
            <p:ph idx="1"/>
            <p:extLst>
              <p:ext uri="{D42A27DB-BD31-4B8C-83A1-F6EECF244321}">
                <p14:modId xmlns:p14="http://schemas.microsoft.com/office/powerpoint/2010/main" val="617016492"/>
              </p:ext>
            </p:extLst>
          </p:nvPr>
        </p:nvGraphicFramePr>
        <p:xfrm>
          <a:off x="1221659" y="1172496"/>
          <a:ext cx="9748682" cy="5562092"/>
        </p:xfrm>
        <a:graphic>
          <a:graphicData uri="http://schemas.openxmlformats.org/drawingml/2006/table">
            <a:tbl>
              <a:tblPr firstRow="1" firstCol="1" bandRow="1">
                <a:tableStyleId>{5C22544A-7EE6-4342-B048-85BDC9FD1C3A}</a:tableStyleId>
              </a:tblPr>
              <a:tblGrid>
                <a:gridCol w="5587731">
                  <a:extLst>
                    <a:ext uri="{9D8B030D-6E8A-4147-A177-3AD203B41FA5}">
                      <a16:colId xmlns:a16="http://schemas.microsoft.com/office/drawing/2014/main" val="1655111568"/>
                    </a:ext>
                  </a:extLst>
                </a:gridCol>
                <a:gridCol w="1196508">
                  <a:extLst>
                    <a:ext uri="{9D8B030D-6E8A-4147-A177-3AD203B41FA5}">
                      <a16:colId xmlns:a16="http://schemas.microsoft.com/office/drawing/2014/main" val="2718205531"/>
                    </a:ext>
                  </a:extLst>
                </a:gridCol>
                <a:gridCol w="1502098">
                  <a:extLst>
                    <a:ext uri="{9D8B030D-6E8A-4147-A177-3AD203B41FA5}">
                      <a16:colId xmlns:a16="http://schemas.microsoft.com/office/drawing/2014/main" val="3496983913"/>
                    </a:ext>
                  </a:extLst>
                </a:gridCol>
                <a:gridCol w="1462345">
                  <a:extLst>
                    <a:ext uri="{9D8B030D-6E8A-4147-A177-3AD203B41FA5}">
                      <a16:colId xmlns:a16="http://schemas.microsoft.com/office/drawing/2014/main" val="1230448437"/>
                    </a:ext>
                  </a:extLst>
                </a:gridCol>
              </a:tblGrid>
              <a:tr h="104296">
                <a:tc>
                  <a:txBody>
                    <a:bodyPr/>
                    <a:lstStyle/>
                    <a:p>
                      <a:r>
                        <a:rPr lang="es-ES" sz="400">
                          <a:effectLst/>
                        </a:rPr>
                        <a:t>Task Name</a:t>
                      </a:r>
                      <a:endParaRPr lang="es-ES" sz="800">
                        <a:effectLst/>
                      </a:endParaRPr>
                    </a:p>
                  </a:txBody>
                  <a:tcPr marL="29444" marR="29444" marT="0" marB="0"/>
                </a:tc>
                <a:tc>
                  <a:txBody>
                    <a:bodyPr/>
                    <a:lstStyle/>
                    <a:p>
                      <a:r>
                        <a:rPr lang="es-ES" sz="400">
                          <a:effectLst/>
                        </a:rPr>
                        <a:t>Duración</a:t>
                      </a:r>
                      <a:endParaRPr lang="es-ES" sz="800">
                        <a:effectLst/>
                      </a:endParaRPr>
                    </a:p>
                  </a:txBody>
                  <a:tcPr marL="29444" marR="29444" marT="0" marB="0"/>
                </a:tc>
                <a:tc>
                  <a:txBody>
                    <a:bodyPr/>
                    <a:lstStyle/>
                    <a:p>
                      <a:r>
                        <a:rPr lang="es-ES" sz="400">
                          <a:effectLst/>
                        </a:rPr>
                        <a:t>Comienzo</a:t>
                      </a:r>
                      <a:endParaRPr lang="es-ES" sz="800">
                        <a:effectLst/>
                      </a:endParaRPr>
                    </a:p>
                  </a:txBody>
                  <a:tcPr marL="29444" marR="29444" marT="0" marB="0"/>
                </a:tc>
                <a:tc>
                  <a:txBody>
                    <a:bodyPr/>
                    <a:lstStyle/>
                    <a:p>
                      <a:r>
                        <a:rPr lang="es-ES" sz="400">
                          <a:effectLst/>
                        </a:rPr>
                        <a:t>Fin</a:t>
                      </a:r>
                      <a:endParaRPr lang="es-ES" sz="800">
                        <a:effectLst/>
                      </a:endParaRPr>
                    </a:p>
                  </a:txBody>
                  <a:tcPr marL="29444" marR="29444" marT="0" marB="0"/>
                </a:tc>
                <a:extLst>
                  <a:ext uri="{0D108BD9-81ED-4DB2-BD59-A6C34878D82A}">
                    <a16:rowId xmlns:a16="http://schemas.microsoft.com/office/drawing/2014/main" val="3345365014"/>
                  </a:ext>
                </a:extLst>
              </a:tr>
              <a:tr h="171584">
                <a:tc>
                  <a:txBody>
                    <a:bodyPr/>
                    <a:lstStyle/>
                    <a:p>
                      <a:r>
                        <a:rPr lang="es-ES" sz="800">
                          <a:effectLst/>
                        </a:rPr>
                        <a:t>Desarrollo de sistema de venta inLine de Sidra, con logistica y distribucion</a:t>
                      </a:r>
                    </a:p>
                  </a:txBody>
                  <a:tcPr marL="29444" marR="29444" marT="0" marB="0"/>
                </a:tc>
                <a:tc>
                  <a:txBody>
                    <a:bodyPr/>
                    <a:lstStyle/>
                    <a:p>
                      <a:r>
                        <a:rPr lang="es-ES" sz="800">
                          <a:effectLst/>
                        </a:rPr>
                        <a:t>753,5 hora</a:t>
                      </a:r>
                    </a:p>
                  </a:txBody>
                  <a:tcPr marL="29444" marR="29444" marT="0" marB="0"/>
                </a:tc>
                <a:tc>
                  <a:txBody>
                    <a:bodyPr/>
                    <a:lstStyle/>
                    <a:p>
                      <a:r>
                        <a:rPr lang="es-ES" sz="800">
                          <a:effectLst/>
                        </a:rPr>
                        <a:t>vie 05/05/23</a:t>
                      </a:r>
                    </a:p>
                  </a:txBody>
                  <a:tcPr marL="29444" marR="29444" marT="0" marB="0"/>
                </a:tc>
                <a:tc>
                  <a:txBody>
                    <a:bodyPr/>
                    <a:lstStyle/>
                    <a:p>
                      <a:r>
                        <a:rPr lang="es-ES" sz="800">
                          <a:effectLst/>
                        </a:rPr>
                        <a:t>jue 14/09/23</a:t>
                      </a:r>
                    </a:p>
                  </a:txBody>
                  <a:tcPr marL="29444" marR="29444" marT="0" marB="0"/>
                </a:tc>
                <a:extLst>
                  <a:ext uri="{0D108BD9-81ED-4DB2-BD59-A6C34878D82A}">
                    <a16:rowId xmlns:a16="http://schemas.microsoft.com/office/drawing/2014/main" val="1894979016"/>
                  </a:ext>
                </a:extLst>
              </a:tr>
              <a:tr h="171584">
                <a:tc>
                  <a:txBody>
                    <a:bodyPr/>
                    <a:lstStyle/>
                    <a:p>
                      <a:r>
                        <a:rPr lang="es-ES" sz="800">
                          <a:effectLst/>
                        </a:rPr>
                        <a:t>   </a:t>
                      </a:r>
                      <a:r>
                        <a:rPr lang="es-ES" sz="800" err="1">
                          <a:effectLst/>
                        </a:rPr>
                        <a:t>Gestion</a:t>
                      </a:r>
                      <a:r>
                        <a:rPr lang="es-ES" sz="800">
                          <a:effectLst/>
                        </a:rPr>
                        <a:t> del proyecto</a:t>
                      </a:r>
                    </a:p>
                  </a:txBody>
                  <a:tcPr marL="29444" marR="29444" marT="0" marB="0"/>
                </a:tc>
                <a:tc>
                  <a:txBody>
                    <a:bodyPr/>
                    <a:lstStyle/>
                    <a:p>
                      <a:r>
                        <a:rPr lang="es-ES" sz="800">
                          <a:effectLst/>
                        </a:rPr>
                        <a:t>753,5 hrs</a:t>
                      </a:r>
                    </a:p>
                  </a:txBody>
                  <a:tcPr marL="29444" marR="29444" marT="0" marB="0"/>
                </a:tc>
                <a:tc>
                  <a:txBody>
                    <a:bodyPr/>
                    <a:lstStyle/>
                    <a:p>
                      <a:r>
                        <a:rPr lang="es-ES" sz="800">
                          <a:effectLst/>
                        </a:rPr>
                        <a:t>vie 05/05/23</a:t>
                      </a:r>
                    </a:p>
                  </a:txBody>
                  <a:tcPr marL="29444" marR="29444" marT="0" marB="0"/>
                </a:tc>
                <a:tc>
                  <a:txBody>
                    <a:bodyPr/>
                    <a:lstStyle/>
                    <a:p>
                      <a:r>
                        <a:rPr lang="es-ES" sz="800">
                          <a:effectLst/>
                        </a:rPr>
                        <a:t>jue 14/09/23</a:t>
                      </a:r>
                    </a:p>
                  </a:txBody>
                  <a:tcPr marL="29444" marR="29444" marT="0" marB="0"/>
                </a:tc>
                <a:extLst>
                  <a:ext uri="{0D108BD9-81ED-4DB2-BD59-A6C34878D82A}">
                    <a16:rowId xmlns:a16="http://schemas.microsoft.com/office/drawing/2014/main" val="96532273"/>
                  </a:ext>
                </a:extLst>
              </a:tr>
              <a:tr h="171584">
                <a:tc>
                  <a:txBody>
                    <a:bodyPr/>
                    <a:lstStyle/>
                    <a:p>
                      <a:r>
                        <a:rPr lang="es-ES" sz="800">
                          <a:effectLst/>
                        </a:rPr>
                        <a:t>      Gestion del proyecto inicial</a:t>
                      </a:r>
                    </a:p>
                  </a:txBody>
                  <a:tcPr marL="29444" marR="29444" marT="0" marB="0"/>
                </a:tc>
                <a:tc>
                  <a:txBody>
                    <a:bodyPr/>
                    <a:lstStyle/>
                    <a:p>
                      <a:r>
                        <a:rPr lang="es-ES" sz="800">
                          <a:effectLst/>
                        </a:rPr>
                        <a:t>88,5 hrs</a:t>
                      </a:r>
                    </a:p>
                  </a:txBody>
                  <a:tcPr marL="29444" marR="29444" marT="0" marB="0"/>
                </a:tc>
                <a:tc>
                  <a:txBody>
                    <a:bodyPr/>
                    <a:lstStyle/>
                    <a:p>
                      <a:r>
                        <a:rPr lang="es-ES" sz="800">
                          <a:effectLst/>
                        </a:rPr>
                        <a:t>vie 05/05/23</a:t>
                      </a:r>
                    </a:p>
                  </a:txBody>
                  <a:tcPr marL="29444" marR="29444" marT="0" marB="0"/>
                </a:tc>
                <a:tc>
                  <a:txBody>
                    <a:bodyPr/>
                    <a:lstStyle/>
                    <a:p>
                      <a:r>
                        <a:rPr lang="es-ES" sz="800">
                          <a:effectLst/>
                        </a:rPr>
                        <a:t>lun 22/05/23</a:t>
                      </a:r>
                    </a:p>
                  </a:txBody>
                  <a:tcPr marL="29444" marR="29444" marT="0" marB="0"/>
                </a:tc>
                <a:extLst>
                  <a:ext uri="{0D108BD9-81ED-4DB2-BD59-A6C34878D82A}">
                    <a16:rowId xmlns:a16="http://schemas.microsoft.com/office/drawing/2014/main" val="995146553"/>
                  </a:ext>
                </a:extLst>
              </a:tr>
              <a:tr h="171584">
                <a:tc>
                  <a:txBody>
                    <a:bodyPr/>
                    <a:lstStyle/>
                    <a:p>
                      <a:r>
                        <a:rPr lang="es-ES" sz="800">
                          <a:effectLst/>
                        </a:rPr>
                        <a:t>         Arranque del proyecto</a:t>
                      </a:r>
                    </a:p>
                  </a:txBody>
                  <a:tcPr marL="29444" marR="29444" marT="0" marB="0"/>
                </a:tc>
                <a:tc>
                  <a:txBody>
                    <a:bodyPr/>
                    <a:lstStyle/>
                    <a:p>
                      <a:r>
                        <a:rPr lang="es-ES" sz="800">
                          <a:effectLst/>
                        </a:rPr>
                        <a:t>12,5 hrs</a:t>
                      </a:r>
                    </a:p>
                  </a:txBody>
                  <a:tcPr marL="29444" marR="29444" marT="0" marB="0"/>
                </a:tc>
                <a:tc>
                  <a:txBody>
                    <a:bodyPr/>
                    <a:lstStyle/>
                    <a:p>
                      <a:r>
                        <a:rPr lang="es-ES" sz="800">
                          <a:effectLst/>
                        </a:rPr>
                        <a:t>vie 05/05/23</a:t>
                      </a:r>
                    </a:p>
                  </a:txBody>
                  <a:tcPr marL="29444" marR="29444" marT="0" marB="0"/>
                </a:tc>
                <a:tc>
                  <a:txBody>
                    <a:bodyPr/>
                    <a:lstStyle/>
                    <a:p>
                      <a:r>
                        <a:rPr lang="es-ES" sz="800">
                          <a:effectLst/>
                        </a:rPr>
                        <a:t>lun 08/05/23</a:t>
                      </a:r>
                    </a:p>
                  </a:txBody>
                  <a:tcPr marL="29444" marR="29444" marT="0" marB="0"/>
                </a:tc>
                <a:extLst>
                  <a:ext uri="{0D108BD9-81ED-4DB2-BD59-A6C34878D82A}">
                    <a16:rowId xmlns:a16="http://schemas.microsoft.com/office/drawing/2014/main" val="2253421520"/>
                  </a:ext>
                </a:extLst>
              </a:tr>
              <a:tr h="171584">
                <a:tc>
                  <a:txBody>
                    <a:bodyPr/>
                    <a:lstStyle/>
                    <a:p>
                      <a:r>
                        <a:rPr lang="es-ES" sz="800">
                          <a:effectLst/>
                        </a:rPr>
                        <a:t>         Planificación del sistema</a:t>
                      </a:r>
                    </a:p>
                  </a:txBody>
                  <a:tcPr marL="29444" marR="29444" marT="0" marB="0"/>
                </a:tc>
                <a:tc>
                  <a:txBody>
                    <a:bodyPr/>
                    <a:lstStyle/>
                    <a:p>
                      <a:r>
                        <a:rPr lang="es-ES" sz="800">
                          <a:effectLst/>
                        </a:rPr>
                        <a:t>58 hrs</a:t>
                      </a:r>
                    </a:p>
                  </a:txBody>
                  <a:tcPr marL="29444" marR="29444" marT="0" marB="0"/>
                </a:tc>
                <a:tc>
                  <a:txBody>
                    <a:bodyPr/>
                    <a:lstStyle/>
                    <a:p>
                      <a:r>
                        <a:rPr lang="es-ES" sz="800">
                          <a:effectLst/>
                        </a:rPr>
                        <a:t>lun 08/05/23</a:t>
                      </a:r>
                    </a:p>
                  </a:txBody>
                  <a:tcPr marL="29444" marR="29444" marT="0" marB="0"/>
                </a:tc>
                <a:tc>
                  <a:txBody>
                    <a:bodyPr/>
                    <a:lstStyle/>
                    <a:p>
                      <a:r>
                        <a:rPr lang="es-ES" sz="800">
                          <a:effectLst/>
                        </a:rPr>
                        <a:t>mié 17/05/23</a:t>
                      </a:r>
                    </a:p>
                  </a:txBody>
                  <a:tcPr marL="29444" marR="29444" marT="0" marB="0"/>
                </a:tc>
                <a:extLst>
                  <a:ext uri="{0D108BD9-81ED-4DB2-BD59-A6C34878D82A}">
                    <a16:rowId xmlns:a16="http://schemas.microsoft.com/office/drawing/2014/main" val="3653951099"/>
                  </a:ext>
                </a:extLst>
              </a:tr>
              <a:tr h="171584">
                <a:tc>
                  <a:txBody>
                    <a:bodyPr/>
                    <a:lstStyle/>
                    <a:p>
                      <a:r>
                        <a:rPr lang="es-ES" sz="800">
                          <a:effectLst/>
                        </a:rPr>
                        <a:t>         Estudio de viabilidad del sistema</a:t>
                      </a:r>
                    </a:p>
                  </a:txBody>
                  <a:tcPr marL="29444" marR="29444" marT="0" marB="0"/>
                </a:tc>
                <a:tc>
                  <a:txBody>
                    <a:bodyPr/>
                    <a:lstStyle/>
                    <a:p>
                      <a:r>
                        <a:rPr lang="es-ES" sz="800">
                          <a:effectLst/>
                        </a:rPr>
                        <a:t>18 hrs</a:t>
                      </a:r>
                    </a:p>
                  </a:txBody>
                  <a:tcPr marL="29444" marR="29444" marT="0" marB="0"/>
                </a:tc>
                <a:tc>
                  <a:txBody>
                    <a:bodyPr/>
                    <a:lstStyle/>
                    <a:p>
                      <a:r>
                        <a:rPr lang="es-ES" sz="800">
                          <a:effectLst/>
                        </a:rPr>
                        <a:t>mié 17/05/23</a:t>
                      </a:r>
                    </a:p>
                  </a:txBody>
                  <a:tcPr marL="29444" marR="29444" marT="0" marB="0"/>
                </a:tc>
                <a:tc>
                  <a:txBody>
                    <a:bodyPr/>
                    <a:lstStyle/>
                    <a:p>
                      <a:r>
                        <a:rPr lang="es-ES" sz="800">
                          <a:effectLst/>
                        </a:rPr>
                        <a:t>lun 22/05/23</a:t>
                      </a:r>
                    </a:p>
                  </a:txBody>
                  <a:tcPr marL="29444" marR="29444" marT="0" marB="0"/>
                </a:tc>
                <a:extLst>
                  <a:ext uri="{0D108BD9-81ED-4DB2-BD59-A6C34878D82A}">
                    <a16:rowId xmlns:a16="http://schemas.microsoft.com/office/drawing/2014/main" val="642277455"/>
                  </a:ext>
                </a:extLst>
              </a:tr>
              <a:tr h="171584">
                <a:tc>
                  <a:txBody>
                    <a:bodyPr/>
                    <a:lstStyle/>
                    <a:p>
                      <a:r>
                        <a:rPr lang="es-ES" sz="800">
                          <a:effectLst/>
                        </a:rPr>
                        <a:t>   Analisis de requisitos</a:t>
                      </a:r>
                    </a:p>
                  </a:txBody>
                  <a:tcPr marL="29444" marR="29444" marT="0" marB="0"/>
                </a:tc>
                <a:tc>
                  <a:txBody>
                    <a:bodyPr/>
                    <a:lstStyle/>
                    <a:p>
                      <a:r>
                        <a:rPr lang="es-ES" sz="800">
                          <a:effectLst/>
                        </a:rPr>
                        <a:t>92 hrs</a:t>
                      </a:r>
                    </a:p>
                  </a:txBody>
                  <a:tcPr marL="29444" marR="29444" marT="0" marB="0"/>
                </a:tc>
                <a:tc>
                  <a:txBody>
                    <a:bodyPr/>
                    <a:lstStyle/>
                    <a:p>
                      <a:r>
                        <a:rPr lang="es-ES" sz="800">
                          <a:effectLst/>
                        </a:rPr>
                        <a:t>lun 22/05/23</a:t>
                      </a:r>
                    </a:p>
                  </a:txBody>
                  <a:tcPr marL="29444" marR="29444" marT="0" marB="0"/>
                </a:tc>
                <a:tc>
                  <a:txBody>
                    <a:bodyPr/>
                    <a:lstStyle/>
                    <a:p>
                      <a:r>
                        <a:rPr lang="es-ES" sz="800">
                          <a:effectLst/>
                        </a:rPr>
                        <a:t>mar 06/06/23</a:t>
                      </a:r>
                    </a:p>
                  </a:txBody>
                  <a:tcPr marL="29444" marR="29444" marT="0" marB="0"/>
                </a:tc>
                <a:extLst>
                  <a:ext uri="{0D108BD9-81ED-4DB2-BD59-A6C34878D82A}">
                    <a16:rowId xmlns:a16="http://schemas.microsoft.com/office/drawing/2014/main" val="86172564"/>
                  </a:ext>
                </a:extLst>
              </a:tr>
              <a:tr h="171584">
                <a:tc>
                  <a:txBody>
                    <a:bodyPr/>
                    <a:lstStyle/>
                    <a:p>
                      <a:r>
                        <a:rPr lang="es-ES" sz="800">
                          <a:effectLst/>
                        </a:rPr>
                        <a:t>   Diseño y Arquitectura del software</a:t>
                      </a:r>
                    </a:p>
                  </a:txBody>
                  <a:tcPr marL="29444" marR="29444" marT="0" marB="0"/>
                </a:tc>
                <a:tc>
                  <a:txBody>
                    <a:bodyPr/>
                    <a:lstStyle/>
                    <a:p>
                      <a:r>
                        <a:rPr lang="es-ES" sz="800">
                          <a:effectLst/>
                        </a:rPr>
                        <a:t>86 hrs</a:t>
                      </a:r>
                    </a:p>
                  </a:txBody>
                  <a:tcPr marL="29444" marR="29444" marT="0" marB="0"/>
                </a:tc>
                <a:tc>
                  <a:txBody>
                    <a:bodyPr/>
                    <a:lstStyle/>
                    <a:p>
                      <a:r>
                        <a:rPr lang="es-ES" sz="800">
                          <a:effectLst/>
                        </a:rPr>
                        <a:t>mié 07/06/23</a:t>
                      </a:r>
                    </a:p>
                  </a:txBody>
                  <a:tcPr marL="29444" marR="29444" marT="0" marB="0"/>
                </a:tc>
                <a:tc>
                  <a:txBody>
                    <a:bodyPr/>
                    <a:lstStyle/>
                    <a:p>
                      <a:r>
                        <a:rPr lang="es-ES" sz="800">
                          <a:effectLst/>
                        </a:rPr>
                        <a:t>mié 21/06/23</a:t>
                      </a:r>
                    </a:p>
                  </a:txBody>
                  <a:tcPr marL="29444" marR="29444" marT="0" marB="0"/>
                </a:tc>
                <a:extLst>
                  <a:ext uri="{0D108BD9-81ED-4DB2-BD59-A6C34878D82A}">
                    <a16:rowId xmlns:a16="http://schemas.microsoft.com/office/drawing/2014/main" val="2050483245"/>
                  </a:ext>
                </a:extLst>
              </a:tr>
              <a:tr h="0">
                <a:tc>
                  <a:txBody>
                    <a:bodyPr/>
                    <a:lstStyle/>
                    <a:p>
                      <a:r>
                        <a:rPr lang="es-ES" sz="800">
                          <a:effectLst/>
                        </a:rPr>
                        <a:t>      Definición de la arquitectura del sistema</a:t>
                      </a:r>
                    </a:p>
                  </a:txBody>
                  <a:tcPr marL="29444" marR="29444" marT="0" marB="0"/>
                </a:tc>
                <a:tc>
                  <a:txBody>
                    <a:bodyPr/>
                    <a:lstStyle/>
                    <a:p>
                      <a:r>
                        <a:rPr lang="es-ES" sz="800">
                          <a:effectLst/>
                        </a:rPr>
                        <a:t>18 hrs</a:t>
                      </a:r>
                    </a:p>
                  </a:txBody>
                  <a:tcPr marL="29444" marR="29444" marT="0" marB="0"/>
                </a:tc>
                <a:tc>
                  <a:txBody>
                    <a:bodyPr/>
                    <a:lstStyle/>
                    <a:p>
                      <a:r>
                        <a:rPr lang="es-ES" sz="800">
                          <a:effectLst/>
                        </a:rPr>
                        <a:t>mié 07/06/23</a:t>
                      </a:r>
                    </a:p>
                  </a:txBody>
                  <a:tcPr marL="29444" marR="29444" marT="0" marB="0"/>
                </a:tc>
                <a:tc>
                  <a:txBody>
                    <a:bodyPr/>
                    <a:lstStyle/>
                    <a:p>
                      <a:r>
                        <a:rPr lang="es-ES" sz="800">
                          <a:effectLst/>
                        </a:rPr>
                        <a:t>vie 09/06/23</a:t>
                      </a:r>
                    </a:p>
                  </a:txBody>
                  <a:tcPr marL="29444" marR="29444" marT="0" marB="0"/>
                </a:tc>
                <a:extLst>
                  <a:ext uri="{0D108BD9-81ED-4DB2-BD59-A6C34878D82A}">
                    <a16:rowId xmlns:a16="http://schemas.microsoft.com/office/drawing/2014/main" val="726472762"/>
                  </a:ext>
                </a:extLst>
              </a:tr>
              <a:tr h="171584">
                <a:tc>
                  <a:txBody>
                    <a:bodyPr/>
                    <a:lstStyle/>
                    <a:p>
                      <a:r>
                        <a:rPr lang="es-ES" sz="800">
                          <a:effectLst/>
                        </a:rPr>
                        <a:t>      Diseño de casos de uso</a:t>
                      </a:r>
                    </a:p>
                  </a:txBody>
                  <a:tcPr marL="29444" marR="29444" marT="0" marB="0"/>
                </a:tc>
                <a:tc>
                  <a:txBody>
                    <a:bodyPr/>
                    <a:lstStyle/>
                    <a:p>
                      <a:r>
                        <a:rPr lang="es-ES" sz="800">
                          <a:effectLst/>
                        </a:rPr>
                        <a:t>18 hrs</a:t>
                      </a:r>
                    </a:p>
                  </a:txBody>
                  <a:tcPr marL="29444" marR="29444" marT="0" marB="0"/>
                </a:tc>
                <a:tc>
                  <a:txBody>
                    <a:bodyPr/>
                    <a:lstStyle/>
                    <a:p>
                      <a:r>
                        <a:rPr lang="es-ES" sz="800">
                          <a:effectLst/>
                        </a:rPr>
                        <a:t>vie 09/06/23</a:t>
                      </a:r>
                    </a:p>
                  </a:txBody>
                  <a:tcPr marL="29444" marR="29444" marT="0" marB="0"/>
                </a:tc>
                <a:tc>
                  <a:txBody>
                    <a:bodyPr/>
                    <a:lstStyle/>
                    <a:p>
                      <a:r>
                        <a:rPr lang="es-ES" sz="800">
                          <a:effectLst/>
                        </a:rPr>
                        <a:t>mar 13/06/23</a:t>
                      </a:r>
                    </a:p>
                  </a:txBody>
                  <a:tcPr marL="29444" marR="29444" marT="0" marB="0"/>
                </a:tc>
                <a:extLst>
                  <a:ext uri="{0D108BD9-81ED-4DB2-BD59-A6C34878D82A}">
                    <a16:rowId xmlns:a16="http://schemas.microsoft.com/office/drawing/2014/main" val="2561669165"/>
                  </a:ext>
                </a:extLst>
              </a:tr>
              <a:tr h="171584">
                <a:tc>
                  <a:txBody>
                    <a:bodyPr/>
                    <a:lstStyle/>
                    <a:p>
                      <a:r>
                        <a:rPr lang="es-ES" sz="800">
                          <a:effectLst/>
                        </a:rPr>
                        <a:t>      Diseño de la arquitectura de módulos del sistema</a:t>
                      </a:r>
                    </a:p>
                  </a:txBody>
                  <a:tcPr marL="29444" marR="29444" marT="0" marB="0"/>
                </a:tc>
                <a:tc>
                  <a:txBody>
                    <a:bodyPr/>
                    <a:lstStyle/>
                    <a:p>
                      <a:r>
                        <a:rPr lang="es-ES" sz="800">
                          <a:effectLst/>
                        </a:rPr>
                        <a:t>16 hrs</a:t>
                      </a:r>
                    </a:p>
                  </a:txBody>
                  <a:tcPr marL="29444" marR="29444" marT="0" marB="0"/>
                </a:tc>
                <a:tc>
                  <a:txBody>
                    <a:bodyPr/>
                    <a:lstStyle/>
                    <a:p>
                      <a:r>
                        <a:rPr lang="es-ES" sz="800">
                          <a:effectLst/>
                        </a:rPr>
                        <a:t>mar 13/06/23</a:t>
                      </a:r>
                    </a:p>
                  </a:txBody>
                  <a:tcPr marL="29444" marR="29444" marT="0" marB="0"/>
                </a:tc>
                <a:tc>
                  <a:txBody>
                    <a:bodyPr/>
                    <a:lstStyle/>
                    <a:p>
                      <a:r>
                        <a:rPr lang="es-ES" sz="800">
                          <a:effectLst/>
                        </a:rPr>
                        <a:t>jue 15/06/23</a:t>
                      </a:r>
                    </a:p>
                  </a:txBody>
                  <a:tcPr marL="29444" marR="29444" marT="0" marB="0"/>
                </a:tc>
                <a:extLst>
                  <a:ext uri="{0D108BD9-81ED-4DB2-BD59-A6C34878D82A}">
                    <a16:rowId xmlns:a16="http://schemas.microsoft.com/office/drawing/2014/main" val="4204606403"/>
                  </a:ext>
                </a:extLst>
              </a:tr>
              <a:tr h="171584">
                <a:tc>
                  <a:txBody>
                    <a:bodyPr/>
                    <a:lstStyle/>
                    <a:p>
                      <a:r>
                        <a:rPr lang="es-ES" sz="800">
                          <a:effectLst/>
                        </a:rPr>
                        <a:t>      Verificación y aceptación de la arquitectura del sistema</a:t>
                      </a:r>
                    </a:p>
                  </a:txBody>
                  <a:tcPr marL="29444" marR="29444" marT="0" marB="0"/>
                </a:tc>
                <a:tc>
                  <a:txBody>
                    <a:bodyPr/>
                    <a:lstStyle/>
                    <a:p>
                      <a:r>
                        <a:rPr lang="es-ES" sz="800">
                          <a:effectLst/>
                        </a:rPr>
                        <a:t>16 hrs</a:t>
                      </a:r>
                    </a:p>
                  </a:txBody>
                  <a:tcPr marL="29444" marR="29444" marT="0" marB="0"/>
                </a:tc>
                <a:tc>
                  <a:txBody>
                    <a:bodyPr/>
                    <a:lstStyle/>
                    <a:p>
                      <a:r>
                        <a:rPr lang="es-ES" sz="800">
                          <a:effectLst/>
                        </a:rPr>
                        <a:t>jue 15/06/23</a:t>
                      </a:r>
                    </a:p>
                  </a:txBody>
                  <a:tcPr marL="29444" marR="29444" marT="0" marB="0"/>
                </a:tc>
                <a:tc>
                  <a:txBody>
                    <a:bodyPr/>
                    <a:lstStyle/>
                    <a:p>
                      <a:r>
                        <a:rPr lang="es-ES" sz="800">
                          <a:effectLst/>
                        </a:rPr>
                        <a:t>lun 19/06/23</a:t>
                      </a:r>
                    </a:p>
                  </a:txBody>
                  <a:tcPr marL="29444" marR="29444" marT="0" marB="0"/>
                </a:tc>
                <a:extLst>
                  <a:ext uri="{0D108BD9-81ED-4DB2-BD59-A6C34878D82A}">
                    <a16:rowId xmlns:a16="http://schemas.microsoft.com/office/drawing/2014/main" val="1470944457"/>
                  </a:ext>
                </a:extLst>
              </a:tr>
              <a:tr h="171584">
                <a:tc>
                  <a:txBody>
                    <a:bodyPr/>
                    <a:lstStyle/>
                    <a:p>
                      <a:r>
                        <a:rPr lang="es-ES" sz="800">
                          <a:effectLst/>
                        </a:rPr>
                        <a:t>      Diseño de la migración y carga inicial de datos</a:t>
                      </a:r>
                    </a:p>
                  </a:txBody>
                  <a:tcPr marL="29444" marR="29444" marT="0" marB="0"/>
                </a:tc>
                <a:tc>
                  <a:txBody>
                    <a:bodyPr/>
                    <a:lstStyle/>
                    <a:p>
                      <a:r>
                        <a:rPr lang="es-ES" sz="800">
                          <a:effectLst/>
                        </a:rPr>
                        <a:t>10 hrs</a:t>
                      </a:r>
                    </a:p>
                  </a:txBody>
                  <a:tcPr marL="29444" marR="29444" marT="0" marB="0"/>
                </a:tc>
                <a:tc>
                  <a:txBody>
                    <a:bodyPr/>
                    <a:lstStyle/>
                    <a:p>
                      <a:r>
                        <a:rPr lang="es-ES" sz="800">
                          <a:effectLst/>
                        </a:rPr>
                        <a:t>lun 19/06/23</a:t>
                      </a:r>
                    </a:p>
                  </a:txBody>
                  <a:tcPr marL="29444" marR="29444" marT="0" marB="0"/>
                </a:tc>
                <a:tc>
                  <a:txBody>
                    <a:bodyPr/>
                    <a:lstStyle/>
                    <a:p>
                      <a:r>
                        <a:rPr lang="es-ES" sz="800">
                          <a:effectLst/>
                        </a:rPr>
                        <a:t>mar 20/06/23</a:t>
                      </a:r>
                    </a:p>
                  </a:txBody>
                  <a:tcPr marL="29444" marR="29444" marT="0" marB="0"/>
                </a:tc>
                <a:extLst>
                  <a:ext uri="{0D108BD9-81ED-4DB2-BD59-A6C34878D82A}">
                    <a16:rowId xmlns:a16="http://schemas.microsoft.com/office/drawing/2014/main" val="1304033699"/>
                  </a:ext>
                </a:extLst>
              </a:tr>
              <a:tr h="171584">
                <a:tc>
                  <a:txBody>
                    <a:bodyPr/>
                    <a:lstStyle/>
                    <a:p>
                      <a:r>
                        <a:rPr lang="es-ES" sz="800">
                          <a:effectLst/>
                        </a:rPr>
                        <a:t>      Aprobación del diseño del sistema</a:t>
                      </a:r>
                    </a:p>
                  </a:txBody>
                  <a:tcPr marL="29444" marR="29444" marT="0" marB="0"/>
                </a:tc>
                <a:tc>
                  <a:txBody>
                    <a:bodyPr/>
                    <a:lstStyle/>
                    <a:p>
                      <a:r>
                        <a:rPr lang="es-ES" sz="800">
                          <a:effectLst/>
                        </a:rPr>
                        <a:t>8 hrs</a:t>
                      </a:r>
                    </a:p>
                  </a:txBody>
                  <a:tcPr marL="29444" marR="29444" marT="0" marB="0"/>
                </a:tc>
                <a:tc>
                  <a:txBody>
                    <a:bodyPr/>
                    <a:lstStyle/>
                    <a:p>
                      <a:r>
                        <a:rPr lang="es-ES" sz="800">
                          <a:effectLst/>
                        </a:rPr>
                        <a:t>mar 20/06/23</a:t>
                      </a:r>
                    </a:p>
                  </a:txBody>
                  <a:tcPr marL="29444" marR="29444" marT="0" marB="0"/>
                </a:tc>
                <a:tc>
                  <a:txBody>
                    <a:bodyPr/>
                    <a:lstStyle/>
                    <a:p>
                      <a:r>
                        <a:rPr lang="es-ES" sz="800">
                          <a:effectLst/>
                        </a:rPr>
                        <a:t>mié 21/06/23</a:t>
                      </a:r>
                    </a:p>
                  </a:txBody>
                  <a:tcPr marL="29444" marR="29444" marT="0" marB="0"/>
                </a:tc>
                <a:extLst>
                  <a:ext uri="{0D108BD9-81ED-4DB2-BD59-A6C34878D82A}">
                    <a16:rowId xmlns:a16="http://schemas.microsoft.com/office/drawing/2014/main" val="981445391"/>
                  </a:ext>
                </a:extLst>
              </a:tr>
              <a:tr h="188356">
                <a:tc>
                  <a:txBody>
                    <a:bodyPr/>
                    <a:lstStyle/>
                    <a:p>
                      <a:r>
                        <a:rPr lang="es-ES" sz="800">
                          <a:effectLst/>
                        </a:rPr>
                        <a:t>   Desarrollo de los módulos</a:t>
                      </a:r>
                    </a:p>
                  </a:txBody>
                  <a:tcPr marL="29444" marR="29444" marT="0" marB="0"/>
                </a:tc>
                <a:tc>
                  <a:txBody>
                    <a:bodyPr/>
                    <a:lstStyle/>
                    <a:p>
                      <a:r>
                        <a:rPr lang="es-ES" sz="800">
                          <a:effectLst/>
                        </a:rPr>
                        <a:t>251 hrs</a:t>
                      </a:r>
                    </a:p>
                  </a:txBody>
                  <a:tcPr marL="29444" marR="29444" marT="0" marB="0"/>
                </a:tc>
                <a:tc>
                  <a:txBody>
                    <a:bodyPr/>
                    <a:lstStyle/>
                    <a:p>
                      <a:r>
                        <a:rPr lang="es-ES" sz="800">
                          <a:effectLst/>
                        </a:rPr>
                        <a:t>jue 22/06/23</a:t>
                      </a:r>
                    </a:p>
                  </a:txBody>
                  <a:tcPr marL="29444" marR="29444" marT="0" marB="0"/>
                </a:tc>
                <a:tc>
                  <a:txBody>
                    <a:bodyPr/>
                    <a:lstStyle/>
                    <a:p>
                      <a:r>
                        <a:rPr lang="es-ES" sz="800">
                          <a:effectLst/>
                        </a:rPr>
                        <a:t>vie 04/08/23</a:t>
                      </a:r>
                    </a:p>
                  </a:txBody>
                  <a:tcPr marL="29444" marR="29444" marT="0" marB="0"/>
                </a:tc>
                <a:extLst>
                  <a:ext uri="{0D108BD9-81ED-4DB2-BD59-A6C34878D82A}">
                    <a16:rowId xmlns:a16="http://schemas.microsoft.com/office/drawing/2014/main" val="1126824283"/>
                  </a:ext>
                </a:extLst>
              </a:tr>
              <a:tr h="171584">
                <a:tc>
                  <a:txBody>
                    <a:bodyPr/>
                    <a:lstStyle/>
                    <a:p>
                      <a:r>
                        <a:rPr lang="es-ES" sz="800">
                          <a:effectLst/>
                        </a:rPr>
                        <a:t>      Desarrollo del módulo de logística</a:t>
                      </a:r>
                    </a:p>
                  </a:txBody>
                  <a:tcPr marL="29444" marR="29444" marT="0" marB="0"/>
                </a:tc>
                <a:tc>
                  <a:txBody>
                    <a:bodyPr/>
                    <a:lstStyle/>
                    <a:p>
                      <a:r>
                        <a:rPr lang="es-ES" sz="800">
                          <a:effectLst/>
                        </a:rPr>
                        <a:t>88 hrs</a:t>
                      </a:r>
                    </a:p>
                  </a:txBody>
                  <a:tcPr marL="29444" marR="29444" marT="0" marB="0"/>
                </a:tc>
                <a:tc>
                  <a:txBody>
                    <a:bodyPr/>
                    <a:lstStyle/>
                    <a:p>
                      <a:r>
                        <a:rPr lang="es-ES" sz="800">
                          <a:effectLst/>
                        </a:rPr>
                        <a:t>jue 22/06/23</a:t>
                      </a:r>
                    </a:p>
                  </a:txBody>
                  <a:tcPr marL="29444" marR="29444" marT="0" marB="0"/>
                </a:tc>
                <a:tc>
                  <a:txBody>
                    <a:bodyPr/>
                    <a:lstStyle/>
                    <a:p>
                      <a:r>
                        <a:rPr lang="es-ES" sz="800">
                          <a:effectLst/>
                        </a:rPr>
                        <a:t>vie 07/07/23</a:t>
                      </a:r>
                    </a:p>
                  </a:txBody>
                  <a:tcPr marL="29444" marR="29444" marT="0" marB="0"/>
                </a:tc>
                <a:extLst>
                  <a:ext uri="{0D108BD9-81ED-4DB2-BD59-A6C34878D82A}">
                    <a16:rowId xmlns:a16="http://schemas.microsoft.com/office/drawing/2014/main" val="281466468"/>
                  </a:ext>
                </a:extLst>
              </a:tr>
              <a:tr h="171584">
                <a:tc>
                  <a:txBody>
                    <a:bodyPr/>
                    <a:lstStyle/>
                    <a:p>
                      <a:r>
                        <a:rPr lang="es-ES" sz="800">
                          <a:effectLst/>
                        </a:rPr>
                        <a:t>         Desarrollo del módulo de Picking y distribución</a:t>
                      </a:r>
                    </a:p>
                  </a:txBody>
                  <a:tcPr marL="29444" marR="29444" marT="0" marB="0"/>
                </a:tc>
                <a:tc>
                  <a:txBody>
                    <a:bodyPr/>
                    <a:lstStyle/>
                    <a:p>
                      <a:r>
                        <a:rPr lang="es-ES" sz="800">
                          <a:effectLst/>
                        </a:rPr>
                        <a:t>38 hrs</a:t>
                      </a:r>
                    </a:p>
                  </a:txBody>
                  <a:tcPr marL="29444" marR="29444" marT="0" marB="0"/>
                </a:tc>
                <a:tc>
                  <a:txBody>
                    <a:bodyPr/>
                    <a:lstStyle/>
                    <a:p>
                      <a:r>
                        <a:rPr lang="es-ES" sz="800">
                          <a:effectLst/>
                        </a:rPr>
                        <a:t>jue 22/06/23</a:t>
                      </a:r>
                    </a:p>
                  </a:txBody>
                  <a:tcPr marL="29444" marR="29444" marT="0" marB="0"/>
                </a:tc>
                <a:tc>
                  <a:txBody>
                    <a:bodyPr/>
                    <a:lstStyle/>
                    <a:p>
                      <a:r>
                        <a:rPr lang="es-ES" sz="800">
                          <a:effectLst/>
                        </a:rPr>
                        <a:t>mié 28/06/23</a:t>
                      </a:r>
                    </a:p>
                  </a:txBody>
                  <a:tcPr marL="29444" marR="29444" marT="0" marB="0"/>
                </a:tc>
                <a:extLst>
                  <a:ext uri="{0D108BD9-81ED-4DB2-BD59-A6C34878D82A}">
                    <a16:rowId xmlns:a16="http://schemas.microsoft.com/office/drawing/2014/main" val="2111403102"/>
                  </a:ext>
                </a:extLst>
              </a:tr>
              <a:tr h="171584">
                <a:tc>
                  <a:txBody>
                    <a:bodyPr/>
                    <a:lstStyle/>
                    <a:p>
                      <a:r>
                        <a:rPr lang="es-ES" sz="800">
                          <a:effectLst/>
                        </a:rPr>
                        <a:t>         Desarrollo del módulo de gestion de almacén</a:t>
                      </a:r>
                    </a:p>
                  </a:txBody>
                  <a:tcPr marL="29444" marR="29444" marT="0" marB="0"/>
                </a:tc>
                <a:tc>
                  <a:txBody>
                    <a:bodyPr/>
                    <a:lstStyle/>
                    <a:p>
                      <a:r>
                        <a:rPr lang="es-ES" sz="800">
                          <a:effectLst/>
                        </a:rPr>
                        <a:t>50 hrs</a:t>
                      </a:r>
                    </a:p>
                  </a:txBody>
                  <a:tcPr marL="29444" marR="29444" marT="0" marB="0"/>
                </a:tc>
                <a:tc>
                  <a:txBody>
                    <a:bodyPr/>
                    <a:lstStyle/>
                    <a:p>
                      <a:r>
                        <a:rPr lang="es-ES" sz="800">
                          <a:effectLst/>
                        </a:rPr>
                        <a:t>mié 28/06/23</a:t>
                      </a:r>
                    </a:p>
                  </a:txBody>
                  <a:tcPr marL="29444" marR="29444" marT="0" marB="0"/>
                </a:tc>
                <a:tc>
                  <a:txBody>
                    <a:bodyPr/>
                    <a:lstStyle/>
                    <a:p>
                      <a:r>
                        <a:rPr lang="es-ES" sz="800">
                          <a:effectLst/>
                        </a:rPr>
                        <a:t>vie 07/07/23</a:t>
                      </a:r>
                    </a:p>
                  </a:txBody>
                  <a:tcPr marL="29444" marR="29444" marT="0" marB="0"/>
                </a:tc>
                <a:extLst>
                  <a:ext uri="{0D108BD9-81ED-4DB2-BD59-A6C34878D82A}">
                    <a16:rowId xmlns:a16="http://schemas.microsoft.com/office/drawing/2014/main" val="4105643602"/>
                  </a:ext>
                </a:extLst>
              </a:tr>
              <a:tr h="171584">
                <a:tc>
                  <a:txBody>
                    <a:bodyPr/>
                    <a:lstStyle/>
                    <a:p>
                      <a:r>
                        <a:rPr lang="es-ES" sz="800">
                          <a:effectLst/>
                        </a:rPr>
                        <a:t>      Desarrollo del módulo de Gestión de Usuarios</a:t>
                      </a:r>
                    </a:p>
                  </a:txBody>
                  <a:tcPr marL="29444" marR="29444" marT="0" marB="0"/>
                </a:tc>
                <a:tc>
                  <a:txBody>
                    <a:bodyPr/>
                    <a:lstStyle/>
                    <a:p>
                      <a:r>
                        <a:rPr lang="es-ES" sz="800">
                          <a:effectLst/>
                        </a:rPr>
                        <a:t>64 hrs</a:t>
                      </a:r>
                    </a:p>
                  </a:txBody>
                  <a:tcPr marL="29444" marR="29444" marT="0" marB="0"/>
                </a:tc>
                <a:tc>
                  <a:txBody>
                    <a:bodyPr/>
                    <a:lstStyle/>
                    <a:p>
                      <a:r>
                        <a:rPr lang="es-ES" sz="800">
                          <a:effectLst/>
                        </a:rPr>
                        <a:t>vie 07/07/23</a:t>
                      </a:r>
                    </a:p>
                  </a:txBody>
                  <a:tcPr marL="29444" marR="29444" marT="0" marB="0"/>
                </a:tc>
                <a:tc>
                  <a:txBody>
                    <a:bodyPr/>
                    <a:lstStyle/>
                    <a:p>
                      <a:r>
                        <a:rPr lang="es-ES" sz="800">
                          <a:effectLst/>
                        </a:rPr>
                        <a:t>mié 19/07/23</a:t>
                      </a:r>
                    </a:p>
                  </a:txBody>
                  <a:tcPr marL="29444" marR="29444" marT="0" marB="0"/>
                </a:tc>
                <a:extLst>
                  <a:ext uri="{0D108BD9-81ED-4DB2-BD59-A6C34878D82A}">
                    <a16:rowId xmlns:a16="http://schemas.microsoft.com/office/drawing/2014/main" val="1262465732"/>
                  </a:ext>
                </a:extLst>
              </a:tr>
              <a:tr h="171584">
                <a:tc>
                  <a:txBody>
                    <a:bodyPr/>
                    <a:lstStyle/>
                    <a:p>
                      <a:r>
                        <a:rPr lang="es-ES" sz="800">
                          <a:effectLst/>
                        </a:rPr>
                        <a:t>      Desarrollo de los módulos de soporte y control de infraestructura</a:t>
                      </a:r>
                    </a:p>
                  </a:txBody>
                  <a:tcPr marL="29444" marR="29444" marT="0" marB="0"/>
                </a:tc>
                <a:tc>
                  <a:txBody>
                    <a:bodyPr/>
                    <a:lstStyle/>
                    <a:p>
                      <a:r>
                        <a:rPr lang="es-ES" sz="800">
                          <a:effectLst/>
                        </a:rPr>
                        <a:t>123 hrs</a:t>
                      </a:r>
                    </a:p>
                  </a:txBody>
                  <a:tcPr marL="29444" marR="29444" marT="0" marB="0"/>
                </a:tc>
                <a:tc>
                  <a:txBody>
                    <a:bodyPr/>
                    <a:lstStyle/>
                    <a:p>
                      <a:r>
                        <a:rPr lang="es-ES" sz="800">
                          <a:effectLst/>
                        </a:rPr>
                        <a:t>jue 22/06/23</a:t>
                      </a:r>
                    </a:p>
                  </a:txBody>
                  <a:tcPr marL="29444" marR="29444" marT="0" marB="0"/>
                </a:tc>
                <a:tc>
                  <a:txBody>
                    <a:bodyPr/>
                    <a:lstStyle/>
                    <a:p>
                      <a:r>
                        <a:rPr lang="es-ES" sz="800">
                          <a:effectLst/>
                        </a:rPr>
                        <a:t>jue 13/07/23</a:t>
                      </a:r>
                    </a:p>
                  </a:txBody>
                  <a:tcPr marL="29444" marR="29444" marT="0" marB="0"/>
                </a:tc>
                <a:extLst>
                  <a:ext uri="{0D108BD9-81ED-4DB2-BD59-A6C34878D82A}">
                    <a16:rowId xmlns:a16="http://schemas.microsoft.com/office/drawing/2014/main" val="1130997821"/>
                  </a:ext>
                </a:extLst>
              </a:tr>
              <a:tr h="171584">
                <a:tc>
                  <a:txBody>
                    <a:bodyPr/>
                    <a:lstStyle/>
                    <a:p>
                      <a:r>
                        <a:rPr lang="es-ES" sz="800">
                          <a:effectLst/>
                        </a:rPr>
                        <a:t>         Registros de transportistas, proveedores y picking</a:t>
                      </a:r>
                    </a:p>
                  </a:txBody>
                  <a:tcPr marL="29444" marR="29444" marT="0" marB="0"/>
                </a:tc>
                <a:tc>
                  <a:txBody>
                    <a:bodyPr/>
                    <a:lstStyle/>
                    <a:p>
                      <a:r>
                        <a:rPr lang="es-ES" sz="800">
                          <a:effectLst/>
                        </a:rPr>
                        <a:t>41 hrs</a:t>
                      </a:r>
                    </a:p>
                  </a:txBody>
                  <a:tcPr marL="29444" marR="29444" marT="0" marB="0"/>
                </a:tc>
                <a:tc>
                  <a:txBody>
                    <a:bodyPr/>
                    <a:lstStyle/>
                    <a:p>
                      <a:r>
                        <a:rPr lang="es-ES" sz="800">
                          <a:effectLst/>
                        </a:rPr>
                        <a:t>jue 22/06/23</a:t>
                      </a:r>
                    </a:p>
                  </a:txBody>
                  <a:tcPr marL="29444" marR="29444" marT="0" marB="0"/>
                </a:tc>
                <a:tc>
                  <a:txBody>
                    <a:bodyPr/>
                    <a:lstStyle/>
                    <a:p>
                      <a:r>
                        <a:rPr lang="es-ES" sz="800">
                          <a:effectLst/>
                        </a:rPr>
                        <a:t>jue 29/06/23</a:t>
                      </a:r>
                    </a:p>
                  </a:txBody>
                  <a:tcPr marL="29444" marR="29444" marT="0" marB="0"/>
                </a:tc>
                <a:extLst>
                  <a:ext uri="{0D108BD9-81ED-4DB2-BD59-A6C34878D82A}">
                    <a16:rowId xmlns:a16="http://schemas.microsoft.com/office/drawing/2014/main" val="809002971"/>
                  </a:ext>
                </a:extLst>
              </a:tr>
              <a:tr h="171584">
                <a:tc>
                  <a:txBody>
                    <a:bodyPr/>
                    <a:lstStyle/>
                    <a:p>
                      <a:r>
                        <a:rPr lang="es-ES" sz="800">
                          <a:effectLst/>
                        </a:rPr>
                        <a:t>         CRUD transportistas y clientes</a:t>
                      </a:r>
                    </a:p>
                  </a:txBody>
                  <a:tcPr marL="29444" marR="29444" marT="0" marB="0"/>
                </a:tc>
                <a:tc>
                  <a:txBody>
                    <a:bodyPr/>
                    <a:lstStyle/>
                    <a:p>
                      <a:r>
                        <a:rPr lang="es-ES" sz="800">
                          <a:effectLst/>
                        </a:rPr>
                        <a:t>41 hrs</a:t>
                      </a:r>
                    </a:p>
                  </a:txBody>
                  <a:tcPr marL="29444" marR="29444" marT="0" marB="0"/>
                </a:tc>
                <a:tc>
                  <a:txBody>
                    <a:bodyPr/>
                    <a:lstStyle/>
                    <a:p>
                      <a:r>
                        <a:rPr lang="es-ES" sz="800">
                          <a:effectLst/>
                        </a:rPr>
                        <a:t>jue 29/06/23</a:t>
                      </a:r>
                    </a:p>
                  </a:txBody>
                  <a:tcPr marL="29444" marR="29444" marT="0" marB="0"/>
                </a:tc>
                <a:tc>
                  <a:txBody>
                    <a:bodyPr/>
                    <a:lstStyle/>
                    <a:p>
                      <a:r>
                        <a:rPr lang="es-ES" sz="800">
                          <a:effectLst/>
                        </a:rPr>
                        <a:t>jue 06/07/23</a:t>
                      </a:r>
                    </a:p>
                  </a:txBody>
                  <a:tcPr marL="29444" marR="29444" marT="0" marB="0"/>
                </a:tc>
                <a:extLst>
                  <a:ext uri="{0D108BD9-81ED-4DB2-BD59-A6C34878D82A}">
                    <a16:rowId xmlns:a16="http://schemas.microsoft.com/office/drawing/2014/main" val="2734457875"/>
                  </a:ext>
                </a:extLst>
              </a:tr>
              <a:tr h="171584">
                <a:tc>
                  <a:txBody>
                    <a:bodyPr/>
                    <a:lstStyle/>
                    <a:p>
                      <a:r>
                        <a:rPr lang="es-ES" sz="800">
                          <a:effectLst/>
                        </a:rPr>
                        <a:t>         Consultas</a:t>
                      </a:r>
                    </a:p>
                  </a:txBody>
                  <a:tcPr marL="29444" marR="29444" marT="0" marB="0"/>
                </a:tc>
                <a:tc>
                  <a:txBody>
                    <a:bodyPr/>
                    <a:lstStyle/>
                    <a:p>
                      <a:r>
                        <a:rPr lang="es-ES" sz="800">
                          <a:effectLst/>
                        </a:rPr>
                        <a:t>41 hrs</a:t>
                      </a:r>
                    </a:p>
                  </a:txBody>
                  <a:tcPr marL="29444" marR="29444" marT="0" marB="0"/>
                </a:tc>
                <a:tc>
                  <a:txBody>
                    <a:bodyPr/>
                    <a:lstStyle/>
                    <a:p>
                      <a:r>
                        <a:rPr lang="es-ES" sz="800">
                          <a:effectLst/>
                        </a:rPr>
                        <a:t>jue 06/07/23</a:t>
                      </a:r>
                    </a:p>
                  </a:txBody>
                  <a:tcPr marL="29444" marR="29444" marT="0" marB="0"/>
                </a:tc>
                <a:tc>
                  <a:txBody>
                    <a:bodyPr/>
                    <a:lstStyle/>
                    <a:p>
                      <a:r>
                        <a:rPr lang="es-ES" sz="800">
                          <a:effectLst/>
                        </a:rPr>
                        <a:t>jue 13/07/23</a:t>
                      </a:r>
                    </a:p>
                  </a:txBody>
                  <a:tcPr marL="29444" marR="29444" marT="0" marB="0"/>
                </a:tc>
                <a:extLst>
                  <a:ext uri="{0D108BD9-81ED-4DB2-BD59-A6C34878D82A}">
                    <a16:rowId xmlns:a16="http://schemas.microsoft.com/office/drawing/2014/main" val="3015766057"/>
                  </a:ext>
                </a:extLst>
              </a:tr>
              <a:tr h="171584">
                <a:tc>
                  <a:txBody>
                    <a:bodyPr/>
                    <a:lstStyle/>
                    <a:p>
                      <a:r>
                        <a:rPr lang="es-ES" sz="800">
                          <a:effectLst/>
                        </a:rPr>
                        <a:t>      Desarrollo del módulo de comercio electrónico</a:t>
                      </a:r>
                    </a:p>
                  </a:txBody>
                  <a:tcPr marL="29444" marR="29444" marT="0" marB="0"/>
                </a:tc>
                <a:tc>
                  <a:txBody>
                    <a:bodyPr/>
                    <a:lstStyle/>
                    <a:p>
                      <a:r>
                        <a:rPr lang="es-ES" sz="800">
                          <a:effectLst/>
                        </a:rPr>
                        <a:t>251 hrs</a:t>
                      </a:r>
                    </a:p>
                  </a:txBody>
                  <a:tcPr marL="29444" marR="29444" marT="0" marB="0"/>
                </a:tc>
                <a:tc>
                  <a:txBody>
                    <a:bodyPr/>
                    <a:lstStyle/>
                    <a:p>
                      <a:r>
                        <a:rPr lang="es-ES" sz="800">
                          <a:effectLst/>
                        </a:rPr>
                        <a:t>jue 22/06/23</a:t>
                      </a:r>
                    </a:p>
                  </a:txBody>
                  <a:tcPr marL="29444" marR="29444" marT="0" marB="0"/>
                </a:tc>
                <a:tc>
                  <a:txBody>
                    <a:bodyPr/>
                    <a:lstStyle/>
                    <a:p>
                      <a:r>
                        <a:rPr lang="es-ES" sz="800">
                          <a:effectLst/>
                        </a:rPr>
                        <a:t>vie 04/08/23</a:t>
                      </a:r>
                    </a:p>
                  </a:txBody>
                  <a:tcPr marL="29444" marR="29444" marT="0" marB="0"/>
                </a:tc>
                <a:extLst>
                  <a:ext uri="{0D108BD9-81ED-4DB2-BD59-A6C34878D82A}">
                    <a16:rowId xmlns:a16="http://schemas.microsoft.com/office/drawing/2014/main" val="839226439"/>
                  </a:ext>
                </a:extLst>
              </a:tr>
              <a:tr h="171584">
                <a:tc>
                  <a:txBody>
                    <a:bodyPr/>
                    <a:lstStyle/>
                    <a:p>
                      <a:r>
                        <a:rPr lang="es-ES" sz="800">
                          <a:effectLst/>
                        </a:rPr>
                        <a:t>      Desarrollo de aplicaciones de usuario</a:t>
                      </a:r>
                    </a:p>
                  </a:txBody>
                  <a:tcPr marL="29444" marR="29444" marT="0" marB="0"/>
                </a:tc>
                <a:tc>
                  <a:txBody>
                    <a:bodyPr/>
                    <a:lstStyle/>
                    <a:p>
                      <a:r>
                        <a:rPr lang="es-ES" sz="800">
                          <a:effectLst/>
                        </a:rPr>
                        <a:t>55 hrs</a:t>
                      </a:r>
                    </a:p>
                  </a:txBody>
                  <a:tcPr marL="29444" marR="29444" marT="0" marB="0"/>
                </a:tc>
                <a:tc>
                  <a:txBody>
                    <a:bodyPr/>
                    <a:lstStyle/>
                    <a:p>
                      <a:r>
                        <a:rPr lang="es-ES" sz="800">
                          <a:effectLst/>
                        </a:rPr>
                        <a:t>jue 13/07/23</a:t>
                      </a:r>
                    </a:p>
                  </a:txBody>
                  <a:tcPr marL="29444" marR="29444" marT="0" marB="0"/>
                </a:tc>
                <a:tc>
                  <a:txBody>
                    <a:bodyPr/>
                    <a:lstStyle/>
                    <a:p>
                      <a:r>
                        <a:rPr lang="es-ES" sz="800">
                          <a:effectLst/>
                        </a:rPr>
                        <a:t>lun 24/07/23</a:t>
                      </a:r>
                    </a:p>
                  </a:txBody>
                  <a:tcPr marL="29444" marR="29444" marT="0" marB="0"/>
                </a:tc>
                <a:extLst>
                  <a:ext uri="{0D108BD9-81ED-4DB2-BD59-A6C34878D82A}">
                    <a16:rowId xmlns:a16="http://schemas.microsoft.com/office/drawing/2014/main" val="2957882899"/>
                  </a:ext>
                </a:extLst>
              </a:tr>
              <a:tr h="171584">
                <a:tc>
                  <a:txBody>
                    <a:bodyPr/>
                    <a:lstStyle/>
                    <a:p>
                      <a:r>
                        <a:rPr lang="es-ES" sz="800">
                          <a:effectLst/>
                        </a:rPr>
                        <a:t>         Desarrollo de aplicaciones web de usuario</a:t>
                      </a:r>
                    </a:p>
                  </a:txBody>
                  <a:tcPr marL="29444" marR="29444" marT="0" marB="0"/>
                </a:tc>
                <a:tc>
                  <a:txBody>
                    <a:bodyPr/>
                    <a:lstStyle/>
                    <a:p>
                      <a:r>
                        <a:rPr lang="es-ES" sz="800">
                          <a:effectLst/>
                        </a:rPr>
                        <a:t>34 hrs</a:t>
                      </a:r>
                    </a:p>
                  </a:txBody>
                  <a:tcPr marL="29444" marR="29444" marT="0" marB="0"/>
                </a:tc>
                <a:tc>
                  <a:txBody>
                    <a:bodyPr/>
                    <a:lstStyle/>
                    <a:p>
                      <a:r>
                        <a:rPr lang="es-ES" sz="800">
                          <a:effectLst/>
                        </a:rPr>
                        <a:t>jue 13/07/23</a:t>
                      </a:r>
                    </a:p>
                  </a:txBody>
                  <a:tcPr marL="29444" marR="29444" marT="0" marB="0"/>
                </a:tc>
                <a:tc>
                  <a:txBody>
                    <a:bodyPr/>
                    <a:lstStyle/>
                    <a:p>
                      <a:r>
                        <a:rPr lang="es-ES" sz="800">
                          <a:effectLst/>
                        </a:rPr>
                        <a:t>mié 19/07/23</a:t>
                      </a:r>
                    </a:p>
                  </a:txBody>
                  <a:tcPr marL="29444" marR="29444" marT="0" marB="0"/>
                </a:tc>
                <a:extLst>
                  <a:ext uri="{0D108BD9-81ED-4DB2-BD59-A6C34878D82A}">
                    <a16:rowId xmlns:a16="http://schemas.microsoft.com/office/drawing/2014/main" val="1278005136"/>
                  </a:ext>
                </a:extLst>
              </a:tr>
              <a:tr h="171584">
                <a:tc>
                  <a:txBody>
                    <a:bodyPr/>
                    <a:lstStyle/>
                    <a:p>
                      <a:r>
                        <a:rPr lang="es-ES" sz="800">
                          <a:effectLst/>
                        </a:rPr>
                        <a:t>         Desarrollo de aplicaciones movil</a:t>
                      </a:r>
                    </a:p>
                  </a:txBody>
                  <a:tcPr marL="29444" marR="29444" marT="0" marB="0"/>
                </a:tc>
                <a:tc>
                  <a:txBody>
                    <a:bodyPr/>
                    <a:lstStyle/>
                    <a:p>
                      <a:r>
                        <a:rPr lang="es-ES" sz="800">
                          <a:effectLst/>
                        </a:rPr>
                        <a:t>24 hrs</a:t>
                      </a:r>
                    </a:p>
                  </a:txBody>
                  <a:tcPr marL="29444" marR="29444" marT="0" marB="0"/>
                </a:tc>
                <a:tc>
                  <a:txBody>
                    <a:bodyPr/>
                    <a:lstStyle/>
                    <a:p>
                      <a:r>
                        <a:rPr lang="es-ES" sz="800">
                          <a:effectLst/>
                        </a:rPr>
                        <a:t>mié 19/07/23</a:t>
                      </a:r>
                    </a:p>
                  </a:txBody>
                  <a:tcPr marL="29444" marR="29444" marT="0" marB="0"/>
                </a:tc>
                <a:tc>
                  <a:txBody>
                    <a:bodyPr/>
                    <a:lstStyle/>
                    <a:p>
                      <a:r>
                        <a:rPr lang="es-ES" sz="800">
                          <a:effectLst/>
                        </a:rPr>
                        <a:t>lun 24/07/23</a:t>
                      </a:r>
                    </a:p>
                  </a:txBody>
                  <a:tcPr marL="29444" marR="29444" marT="0" marB="0"/>
                </a:tc>
                <a:extLst>
                  <a:ext uri="{0D108BD9-81ED-4DB2-BD59-A6C34878D82A}">
                    <a16:rowId xmlns:a16="http://schemas.microsoft.com/office/drawing/2014/main" val="3745221994"/>
                  </a:ext>
                </a:extLst>
              </a:tr>
              <a:tr h="171584">
                <a:tc>
                  <a:txBody>
                    <a:bodyPr/>
                    <a:lstStyle/>
                    <a:p>
                      <a:r>
                        <a:rPr lang="es-ES" sz="800">
                          <a:effectLst/>
                        </a:rPr>
                        <a:t>   Pruebas y depuracion</a:t>
                      </a:r>
                    </a:p>
                  </a:txBody>
                  <a:tcPr marL="29444" marR="29444" marT="0" marB="0"/>
                </a:tc>
                <a:tc>
                  <a:txBody>
                    <a:bodyPr/>
                    <a:lstStyle/>
                    <a:p>
                      <a:r>
                        <a:rPr lang="es-ES" sz="800">
                          <a:effectLst/>
                        </a:rPr>
                        <a:t>56 hrs</a:t>
                      </a:r>
                    </a:p>
                  </a:txBody>
                  <a:tcPr marL="29444" marR="29444" marT="0" marB="0"/>
                </a:tc>
                <a:tc>
                  <a:txBody>
                    <a:bodyPr/>
                    <a:lstStyle/>
                    <a:p>
                      <a:r>
                        <a:rPr lang="es-ES" sz="800">
                          <a:effectLst/>
                        </a:rPr>
                        <a:t>vie 04/08/23</a:t>
                      </a:r>
                    </a:p>
                  </a:txBody>
                  <a:tcPr marL="29444" marR="29444" marT="0" marB="0"/>
                </a:tc>
                <a:tc>
                  <a:txBody>
                    <a:bodyPr/>
                    <a:lstStyle/>
                    <a:p>
                      <a:r>
                        <a:rPr lang="es-ES" sz="800">
                          <a:effectLst/>
                        </a:rPr>
                        <a:t>mar 15/08/23</a:t>
                      </a:r>
                    </a:p>
                  </a:txBody>
                  <a:tcPr marL="29444" marR="29444" marT="0" marB="0"/>
                </a:tc>
                <a:extLst>
                  <a:ext uri="{0D108BD9-81ED-4DB2-BD59-A6C34878D82A}">
                    <a16:rowId xmlns:a16="http://schemas.microsoft.com/office/drawing/2014/main" val="2563451473"/>
                  </a:ext>
                </a:extLst>
              </a:tr>
              <a:tr h="171584">
                <a:tc>
                  <a:txBody>
                    <a:bodyPr/>
                    <a:lstStyle/>
                    <a:p>
                      <a:r>
                        <a:rPr lang="es-ES" sz="800">
                          <a:effectLst/>
                        </a:rPr>
                        <a:t>   Documentación del sistema</a:t>
                      </a:r>
                    </a:p>
                  </a:txBody>
                  <a:tcPr marL="29444" marR="29444" marT="0" marB="0"/>
                </a:tc>
                <a:tc>
                  <a:txBody>
                    <a:bodyPr/>
                    <a:lstStyle/>
                    <a:p>
                      <a:r>
                        <a:rPr lang="es-ES" sz="800">
                          <a:effectLst/>
                        </a:rPr>
                        <a:t>52 hrs</a:t>
                      </a:r>
                    </a:p>
                  </a:txBody>
                  <a:tcPr marL="29444" marR="29444" marT="0" marB="0"/>
                </a:tc>
                <a:tc>
                  <a:txBody>
                    <a:bodyPr/>
                    <a:lstStyle/>
                    <a:p>
                      <a:r>
                        <a:rPr lang="es-ES" sz="800">
                          <a:effectLst/>
                        </a:rPr>
                        <a:t>mar 15/08/23</a:t>
                      </a:r>
                    </a:p>
                  </a:txBody>
                  <a:tcPr marL="29444" marR="29444" marT="0" marB="0"/>
                </a:tc>
                <a:tc>
                  <a:txBody>
                    <a:bodyPr/>
                    <a:lstStyle/>
                    <a:p>
                      <a:r>
                        <a:rPr lang="es-ES" sz="800">
                          <a:effectLst/>
                        </a:rPr>
                        <a:t>jue 24/08/23</a:t>
                      </a:r>
                    </a:p>
                  </a:txBody>
                  <a:tcPr marL="29444" marR="29444" marT="0" marB="0"/>
                </a:tc>
                <a:extLst>
                  <a:ext uri="{0D108BD9-81ED-4DB2-BD59-A6C34878D82A}">
                    <a16:rowId xmlns:a16="http://schemas.microsoft.com/office/drawing/2014/main" val="2687389511"/>
                  </a:ext>
                </a:extLst>
              </a:tr>
              <a:tr h="171584">
                <a:tc>
                  <a:txBody>
                    <a:bodyPr/>
                    <a:lstStyle/>
                    <a:p>
                      <a:r>
                        <a:rPr lang="es-ES" sz="800">
                          <a:effectLst/>
                        </a:rPr>
                        <a:t>   Formación del personal</a:t>
                      </a:r>
                    </a:p>
                  </a:txBody>
                  <a:tcPr marL="29444" marR="29444" marT="0" marB="0"/>
                </a:tc>
                <a:tc>
                  <a:txBody>
                    <a:bodyPr/>
                    <a:lstStyle/>
                    <a:p>
                      <a:r>
                        <a:rPr lang="es-ES" sz="800">
                          <a:effectLst/>
                        </a:rPr>
                        <a:t>80 hrs</a:t>
                      </a:r>
                    </a:p>
                  </a:txBody>
                  <a:tcPr marL="29444" marR="29444" marT="0" marB="0"/>
                </a:tc>
                <a:tc>
                  <a:txBody>
                    <a:bodyPr/>
                    <a:lstStyle/>
                    <a:p>
                      <a:r>
                        <a:rPr lang="es-ES" sz="800">
                          <a:effectLst/>
                        </a:rPr>
                        <a:t>mar 29/08/23</a:t>
                      </a:r>
                    </a:p>
                  </a:txBody>
                  <a:tcPr marL="29444" marR="29444" marT="0" marB="0"/>
                </a:tc>
                <a:tc>
                  <a:txBody>
                    <a:bodyPr/>
                    <a:lstStyle/>
                    <a:p>
                      <a:r>
                        <a:rPr lang="es-ES" sz="800">
                          <a:effectLst/>
                        </a:rPr>
                        <a:t>mar 12/09/23</a:t>
                      </a:r>
                    </a:p>
                  </a:txBody>
                  <a:tcPr marL="29444" marR="29444" marT="0" marB="0"/>
                </a:tc>
                <a:extLst>
                  <a:ext uri="{0D108BD9-81ED-4DB2-BD59-A6C34878D82A}">
                    <a16:rowId xmlns:a16="http://schemas.microsoft.com/office/drawing/2014/main" val="1018711898"/>
                  </a:ext>
                </a:extLst>
              </a:tr>
              <a:tr h="171584">
                <a:tc>
                  <a:txBody>
                    <a:bodyPr/>
                    <a:lstStyle/>
                    <a:p>
                      <a:r>
                        <a:rPr lang="es-ES" sz="800">
                          <a:effectLst/>
                        </a:rPr>
                        <a:t>   Cierre del proyecto</a:t>
                      </a:r>
                    </a:p>
                  </a:txBody>
                  <a:tcPr marL="29444" marR="29444" marT="0" marB="0"/>
                </a:tc>
                <a:tc>
                  <a:txBody>
                    <a:bodyPr/>
                    <a:lstStyle/>
                    <a:p>
                      <a:r>
                        <a:rPr lang="es-ES" sz="800">
                          <a:effectLst/>
                        </a:rPr>
                        <a:t>12 hrs</a:t>
                      </a:r>
                    </a:p>
                  </a:txBody>
                  <a:tcPr marL="29444" marR="29444" marT="0" marB="0"/>
                </a:tc>
                <a:tc>
                  <a:txBody>
                    <a:bodyPr/>
                    <a:lstStyle/>
                    <a:p>
                      <a:r>
                        <a:rPr lang="es-ES" sz="800">
                          <a:effectLst/>
                        </a:rPr>
                        <a:t>mar 12/09/23</a:t>
                      </a:r>
                    </a:p>
                  </a:txBody>
                  <a:tcPr marL="29444" marR="29444" marT="0" marB="0"/>
                </a:tc>
                <a:tc>
                  <a:txBody>
                    <a:bodyPr/>
                    <a:lstStyle/>
                    <a:p>
                      <a:r>
                        <a:rPr lang="es-ES" sz="800">
                          <a:effectLst/>
                        </a:rPr>
                        <a:t>mié 13/09/23</a:t>
                      </a:r>
                    </a:p>
                  </a:txBody>
                  <a:tcPr marL="29444" marR="29444" marT="0" marB="0"/>
                </a:tc>
                <a:extLst>
                  <a:ext uri="{0D108BD9-81ED-4DB2-BD59-A6C34878D82A}">
                    <a16:rowId xmlns:a16="http://schemas.microsoft.com/office/drawing/2014/main" val="2693207195"/>
                  </a:ext>
                </a:extLst>
              </a:tr>
              <a:tr h="171584">
                <a:tc>
                  <a:txBody>
                    <a:bodyPr/>
                    <a:lstStyle/>
                    <a:p>
                      <a:r>
                        <a:rPr lang="es-ES" sz="800">
                          <a:effectLst/>
                        </a:rPr>
                        <a:t>Adquisición del hardware</a:t>
                      </a:r>
                    </a:p>
                  </a:txBody>
                  <a:tcPr marL="29444" marR="29444" marT="0" marB="0"/>
                </a:tc>
                <a:tc>
                  <a:txBody>
                    <a:bodyPr/>
                    <a:lstStyle/>
                    <a:p>
                      <a:r>
                        <a:rPr lang="es-ES" sz="800">
                          <a:effectLst/>
                        </a:rPr>
                        <a:t>387 hrs</a:t>
                      </a:r>
                    </a:p>
                  </a:txBody>
                  <a:tcPr marL="29444" marR="29444" marT="0" marB="0"/>
                </a:tc>
                <a:tc>
                  <a:txBody>
                    <a:bodyPr/>
                    <a:lstStyle/>
                    <a:p>
                      <a:r>
                        <a:rPr lang="es-ES" sz="800">
                          <a:effectLst/>
                        </a:rPr>
                        <a:t>jue 22/06/23</a:t>
                      </a:r>
                    </a:p>
                  </a:txBody>
                  <a:tcPr marL="29444" marR="29444" marT="0" marB="0"/>
                </a:tc>
                <a:tc>
                  <a:txBody>
                    <a:bodyPr/>
                    <a:lstStyle/>
                    <a:p>
                      <a:r>
                        <a:rPr lang="es-ES" sz="800">
                          <a:effectLst/>
                        </a:rPr>
                        <a:t>mar 29/08/23</a:t>
                      </a:r>
                    </a:p>
                  </a:txBody>
                  <a:tcPr marL="29444" marR="29444" marT="0" marB="0"/>
                </a:tc>
                <a:extLst>
                  <a:ext uri="{0D108BD9-81ED-4DB2-BD59-A6C34878D82A}">
                    <a16:rowId xmlns:a16="http://schemas.microsoft.com/office/drawing/2014/main" val="3440430792"/>
                  </a:ext>
                </a:extLst>
              </a:tr>
            </a:tbl>
          </a:graphicData>
        </a:graphic>
      </p:graphicFrame>
    </p:spTree>
    <p:extLst>
      <p:ext uri="{BB962C8B-B14F-4D97-AF65-F5344CB8AC3E}">
        <p14:creationId xmlns:p14="http://schemas.microsoft.com/office/powerpoint/2010/main" val="22081624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C6F93F3-1906-1DD6-E759-32C5D93C880E}"/>
              </a:ext>
            </a:extLst>
          </p:cNvPr>
          <p:cNvSpPr>
            <a:spLocks noGrp="1"/>
          </p:cNvSpPr>
          <p:nvPr>
            <p:ph type="title"/>
          </p:nvPr>
        </p:nvSpPr>
        <p:spPr/>
        <p:txBody>
          <a:bodyPr/>
          <a:lstStyle/>
          <a:p>
            <a:r>
              <a:rPr lang="es-ES">
                <a:cs typeface="Calibri Light"/>
              </a:rPr>
              <a:t>Estructura del equipo (OBS)</a:t>
            </a:r>
            <a:endParaRPr lang="es-ES"/>
          </a:p>
        </p:txBody>
      </p:sp>
      <p:pic>
        <p:nvPicPr>
          <p:cNvPr id="3" name="Imagen 3">
            <a:extLst>
              <a:ext uri="{FF2B5EF4-FFF2-40B4-BE49-F238E27FC236}">
                <a16:creationId xmlns:a16="http://schemas.microsoft.com/office/drawing/2014/main" id="{75661E76-0933-E6A4-E5DA-59D4D1064069}"/>
              </a:ext>
            </a:extLst>
          </p:cNvPr>
          <p:cNvPicPr>
            <a:picLocks noGrp="1" noChangeAspect="1"/>
          </p:cNvPicPr>
          <p:nvPr>
            <p:ph idx="1"/>
          </p:nvPr>
        </p:nvPicPr>
        <p:blipFill>
          <a:blip r:embed="rId3"/>
          <a:stretch>
            <a:fillRect/>
          </a:stretch>
        </p:blipFill>
        <p:spPr>
          <a:xfrm>
            <a:off x="699642" y="1501518"/>
            <a:ext cx="10792716" cy="4991357"/>
          </a:xfrm>
        </p:spPr>
      </p:pic>
    </p:spTree>
    <p:extLst>
      <p:ext uri="{BB962C8B-B14F-4D97-AF65-F5344CB8AC3E}">
        <p14:creationId xmlns:p14="http://schemas.microsoft.com/office/powerpoint/2010/main" val="10355173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1A95671B-3CC6-4792-9114-B74FAEA224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AC942289-8C9F-E55A-EE8E-0CF552445926}"/>
              </a:ext>
            </a:extLst>
          </p:cNvPr>
          <p:cNvSpPr>
            <a:spLocks noGrp="1"/>
          </p:cNvSpPr>
          <p:nvPr>
            <p:ph type="title"/>
          </p:nvPr>
        </p:nvSpPr>
        <p:spPr>
          <a:xfrm>
            <a:off x="1008184" y="174032"/>
            <a:ext cx="10175631" cy="1111843"/>
          </a:xfrm>
        </p:spPr>
        <p:txBody>
          <a:bodyPr anchor="ctr">
            <a:normAutofit/>
          </a:bodyPr>
          <a:lstStyle/>
          <a:p>
            <a:pPr algn="ctr"/>
            <a:r>
              <a:rPr lang="es-ES" sz="4000">
                <a:cs typeface="Calibri Light"/>
              </a:rPr>
              <a:t>Productos (PBS)</a:t>
            </a:r>
            <a:endParaRPr lang="es-ES" sz="4000"/>
          </a:p>
        </p:txBody>
      </p:sp>
      <p:pic>
        <p:nvPicPr>
          <p:cNvPr id="6" name="Imagen 5">
            <a:extLst>
              <a:ext uri="{FF2B5EF4-FFF2-40B4-BE49-F238E27FC236}">
                <a16:creationId xmlns:a16="http://schemas.microsoft.com/office/drawing/2014/main" id="{A95D8E45-D46E-0394-6902-02B41F425BE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2238" y="1285875"/>
            <a:ext cx="11824475" cy="4907158"/>
          </a:xfrm>
          <a:prstGeom prst="rect">
            <a:avLst/>
          </a:prstGeom>
        </p:spPr>
      </p:pic>
    </p:spTree>
    <p:extLst>
      <p:ext uri="{BB962C8B-B14F-4D97-AF65-F5344CB8AC3E}">
        <p14:creationId xmlns:p14="http://schemas.microsoft.com/office/powerpoint/2010/main" val="19530436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D565E68-E810-2B60-64B1-410FAE71C95E}"/>
              </a:ext>
            </a:extLst>
          </p:cNvPr>
          <p:cNvSpPr>
            <a:spLocks noGrp="1"/>
          </p:cNvSpPr>
          <p:nvPr>
            <p:ph type="title"/>
          </p:nvPr>
        </p:nvSpPr>
        <p:spPr/>
        <p:txBody>
          <a:bodyPr>
            <a:normAutofit/>
          </a:bodyPr>
          <a:lstStyle/>
          <a:p>
            <a:r>
              <a:rPr lang="es-ES">
                <a:solidFill>
                  <a:srgbClr val="000000"/>
                </a:solidFill>
                <a:latin typeface="Calibri Light"/>
                <a:cs typeface="Calibri Light"/>
              </a:rPr>
              <a:t>Trazabilidad de las estimaciones/ WBS/ Presupuesto (Modulo 2: Gestión de almacén)</a:t>
            </a:r>
            <a:endParaRPr lang="es-ES"/>
          </a:p>
        </p:txBody>
      </p:sp>
      <p:sp>
        <p:nvSpPr>
          <p:cNvPr id="8" name="CuadroTexto 7">
            <a:extLst>
              <a:ext uri="{FF2B5EF4-FFF2-40B4-BE49-F238E27FC236}">
                <a16:creationId xmlns:a16="http://schemas.microsoft.com/office/drawing/2014/main" id="{28A497CE-5E10-B5F1-CE5A-200CFA5FECD0}"/>
              </a:ext>
            </a:extLst>
          </p:cNvPr>
          <p:cNvSpPr txBox="1"/>
          <p:nvPr/>
        </p:nvSpPr>
        <p:spPr>
          <a:xfrm>
            <a:off x="4804773" y="3912631"/>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s-ES"/>
          </a:p>
        </p:txBody>
      </p:sp>
      <p:sp>
        <p:nvSpPr>
          <p:cNvPr id="17" name="CuadroTexto 16">
            <a:extLst>
              <a:ext uri="{FF2B5EF4-FFF2-40B4-BE49-F238E27FC236}">
                <a16:creationId xmlns:a16="http://schemas.microsoft.com/office/drawing/2014/main" id="{FBE4BF00-F56A-0F80-F457-9961A8A1A334}"/>
              </a:ext>
            </a:extLst>
          </p:cNvPr>
          <p:cNvSpPr txBox="1"/>
          <p:nvPr/>
        </p:nvSpPr>
        <p:spPr>
          <a:xfrm>
            <a:off x="1003737" y="2155548"/>
            <a:ext cx="577327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s-ES">
                <a:cs typeface="Calibri"/>
              </a:rPr>
              <a:t>Estimaciones</a:t>
            </a:r>
            <a:endParaRPr lang="es-ES"/>
          </a:p>
        </p:txBody>
      </p:sp>
      <p:sp>
        <p:nvSpPr>
          <p:cNvPr id="18" name="CuadroTexto 17">
            <a:extLst>
              <a:ext uri="{FF2B5EF4-FFF2-40B4-BE49-F238E27FC236}">
                <a16:creationId xmlns:a16="http://schemas.microsoft.com/office/drawing/2014/main" id="{3BBC23D1-7FD5-AD5B-082A-DACAA2AD9209}"/>
              </a:ext>
            </a:extLst>
          </p:cNvPr>
          <p:cNvSpPr txBox="1"/>
          <p:nvPr/>
        </p:nvSpPr>
        <p:spPr>
          <a:xfrm>
            <a:off x="1034650" y="3638125"/>
            <a:ext cx="577327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s-ES">
                <a:cs typeface="Calibri"/>
              </a:rPr>
              <a:t>WBS</a:t>
            </a:r>
            <a:endParaRPr lang="es-ES"/>
          </a:p>
        </p:txBody>
      </p:sp>
      <p:sp>
        <p:nvSpPr>
          <p:cNvPr id="19" name="CuadroTexto 18">
            <a:extLst>
              <a:ext uri="{FF2B5EF4-FFF2-40B4-BE49-F238E27FC236}">
                <a16:creationId xmlns:a16="http://schemas.microsoft.com/office/drawing/2014/main" id="{87234B81-8091-91C8-B324-0E04330DE955}"/>
              </a:ext>
            </a:extLst>
          </p:cNvPr>
          <p:cNvSpPr txBox="1"/>
          <p:nvPr/>
        </p:nvSpPr>
        <p:spPr>
          <a:xfrm>
            <a:off x="1005901" y="4684213"/>
            <a:ext cx="577327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s-ES">
                <a:cs typeface="Calibri"/>
              </a:rPr>
              <a:t>Presupuesto</a:t>
            </a:r>
            <a:endParaRPr lang="es-ES"/>
          </a:p>
        </p:txBody>
      </p:sp>
      <p:pic>
        <p:nvPicPr>
          <p:cNvPr id="20" name="Imagen 20" descr="Gráfico, Gráfico de rectángulos&#10;&#10;Descripción generada automáticamente">
            <a:extLst>
              <a:ext uri="{FF2B5EF4-FFF2-40B4-BE49-F238E27FC236}">
                <a16:creationId xmlns:a16="http://schemas.microsoft.com/office/drawing/2014/main" id="{94381B76-913E-0CBF-E619-B21791A63045}"/>
              </a:ext>
            </a:extLst>
          </p:cNvPr>
          <p:cNvPicPr>
            <a:picLocks noChangeAspect="1"/>
          </p:cNvPicPr>
          <p:nvPr/>
        </p:nvPicPr>
        <p:blipFill>
          <a:blip r:embed="rId3"/>
          <a:stretch>
            <a:fillRect/>
          </a:stretch>
        </p:blipFill>
        <p:spPr>
          <a:xfrm>
            <a:off x="5925362" y="1696180"/>
            <a:ext cx="5200146" cy="906680"/>
          </a:xfrm>
          <a:prstGeom prst="rect">
            <a:avLst/>
          </a:prstGeom>
        </p:spPr>
      </p:pic>
      <p:pic>
        <p:nvPicPr>
          <p:cNvPr id="3" name="Imagen 3" descr="Gráfico, Gráfico de rectángulos&#10;&#10;Descripción generada automáticamente">
            <a:extLst>
              <a:ext uri="{FF2B5EF4-FFF2-40B4-BE49-F238E27FC236}">
                <a16:creationId xmlns:a16="http://schemas.microsoft.com/office/drawing/2014/main" id="{700D8BBA-12F8-067B-3429-526848FB4A3D}"/>
              </a:ext>
            </a:extLst>
          </p:cNvPr>
          <p:cNvPicPr>
            <a:picLocks noChangeAspect="1"/>
          </p:cNvPicPr>
          <p:nvPr/>
        </p:nvPicPr>
        <p:blipFill>
          <a:blip r:embed="rId4"/>
          <a:stretch>
            <a:fillRect/>
          </a:stretch>
        </p:blipFill>
        <p:spPr>
          <a:xfrm>
            <a:off x="1003739" y="2706232"/>
            <a:ext cx="10121770" cy="833464"/>
          </a:xfrm>
          <a:prstGeom prst="rect">
            <a:avLst/>
          </a:prstGeom>
        </p:spPr>
      </p:pic>
      <p:pic>
        <p:nvPicPr>
          <p:cNvPr id="4" name="Imagen 4">
            <a:extLst>
              <a:ext uri="{FF2B5EF4-FFF2-40B4-BE49-F238E27FC236}">
                <a16:creationId xmlns:a16="http://schemas.microsoft.com/office/drawing/2014/main" id="{593E057E-FB9C-BE81-36B0-9C6265FF4891}"/>
              </a:ext>
            </a:extLst>
          </p:cNvPr>
          <p:cNvPicPr>
            <a:picLocks noChangeAspect="1"/>
          </p:cNvPicPr>
          <p:nvPr/>
        </p:nvPicPr>
        <p:blipFill>
          <a:blip r:embed="rId5"/>
          <a:stretch>
            <a:fillRect/>
          </a:stretch>
        </p:blipFill>
        <p:spPr>
          <a:xfrm>
            <a:off x="1003120" y="4123470"/>
            <a:ext cx="10123006" cy="376178"/>
          </a:xfrm>
          <a:prstGeom prst="rect">
            <a:avLst/>
          </a:prstGeom>
        </p:spPr>
      </p:pic>
      <p:pic>
        <p:nvPicPr>
          <p:cNvPr id="5" name="Imagen 5" descr="Forma, Rectángulo&#10;&#10;Descripción generada automáticamente">
            <a:extLst>
              <a:ext uri="{FF2B5EF4-FFF2-40B4-BE49-F238E27FC236}">
                <a16:creationId xmlns:a16="http://schemas.microsoft.com/office/drawing/2014/main" id="{02739A1A-508D-A0AF-63E8-08E090A2B0E1}"/>
              </a:ext>
            </a:extLst>
          </p:cNvPr>
          <p:cNvPicPr>
            <a:picLocks noChangeAspect="1"/>
          </p:cNvPicPr>
          <p:nvPr/>
        </p:nvPicPr>
        <p:blipFill>
          <a:blip r:embed="rId6"/>
          <a:stretch>
            <a:fillRect/>
          </a:stretch>
        </p:blipFill>
        <p:spPr>
          <a:xfrm>
            <a:off x="1035269" y="5146728"/>
            <a:ext cx="10089930" cy="327250"/>
          </a:xfrm>
          <a:prstGeom prst="rect">
            <a:avLst/>
          </a:prstGeom>
        </p:spPr>
      </p:pic>
    </p:spTree>
    <p:extLst>
      <p:ext uri="{BB962C8B-B14F-4D97-AF65-F5344CB8AC3E}">
        <p14:creationId xmlns:p14="http://schemas.microsoft.com/office/powerpoint/2010/main" val="41076654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955A2079-FA98-4876-80F0-72364A7D2E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79095EC8-2A2C-66F7-7190-743050A8F8ED}"/>
              </a:ext>
            </a:extLst>
          </p:cNvPr>
          <p:cNvSpPr>
            <a:spLocks noGrp="1"/>
          </p:cNvSpPr>
          <p:nvPr>
            <p:ph type="title"/>
          </p:nvPr>
        </p:nvSpPr>
        <p:spPr>
          <a:xfrm>
            <a:off x="838200" y="557188"/>
            <a:ext cx="10515600" cy="1133499"/>
          </a:xfrm>
        </p:spPr>
        <p:txBody>
          <a:bodyPr>
            <a:normAutofit/>
          </a:bodyPr>
          <a:lstStyle/>
          <a:p>
            <a:pPr algn="ctr"/>
            <a:r>
              <a:rPr lang="es-ES" sz="5200">
                <a:latin typeface="Calibri Light"/>
                <a:cs typeface="Calibri Light"/>
              </a:rPr>
              <a:t>Estimación de Esfuerzos</a:t>
            </a:r>
            <a:endParaRPr lang="es-ES" sz="5200"/>
          </a:p>
        </p:txBody>
      </p:sp>
      <p:graphicFrame>
        <p:nvGraphicFramePr>
          <p:cNvPr id="7" name="Marcador de contenido 6">
            <a:extLst>
              <a:ext uri="{FF2B5EF4-FFF2-40B4-BE49-F238E27FC236}">
                <a16:creationId xmlns:a16="http://schemas.microsoft.com/office/drawing/2014/main" id="{69899C8E-0FD8-F543-1A89-22FCB625AEA2}"/>
              </a:ext>
            </a:extLst>
          </p:cNvPr>
          <p:cNvGraphicFramePr>
            <a:graphicFrameLocks noGrp="1"/>
          </p:cNvGraphicFramePr>
          <p:nvPr>
            <p:ph idx="1"/>
            <p:extLst>
              <p:ext uri="{D42A27DB-BD31-4B8C-83A1-F6EECF244321}">
                <p14:modId xmlns:p14="http://schemas.microsoft.com/office/powerpoint/2010/main" val="3754632211"/>
              </p:ext>
            </p:extLst>
          </p:nvPr>
        </p:nvGraphicFramePr>
        <p:xfrm>
          <a:off x="838200" y="2517875"/>
          <a:ext cx="10515603" cy="2974396"/>
        </p:xfrm>
        <a:graphic>
          <a:graphicData uri="http://schemas.openxmlformats.org/drawingml/2006/table">
            <a:tbl>
              <a:tblPr firstRow="1" firstCol="1" bandRow="1">
                <a:tableStyleId>{5C22544A-7EE6-4342-B048-85BDC9FD1C3A}</a:tableStyleId>
              </a:tblPr>
              <a:tblGrid>
                <a:gridCol w="5621179">
                  <a:extLst>
                    <a:ext uri="{9D8B030D-6E8A-4147-A177-3AD203B41FA5}">
                      <a16:colId xmlns:a16="http://schemas.microsoft.com/office/drawing/2014/main" val="2037345228"/>
                    </a:ext>
                  </a:extLst>
                </a:gridCol>
                <a:gridCol w="737153">
                  <a:extLst>
                    <a:ext uri="{9D8B030D-6E8A-4147-A177-3AD203B41FA5}">
                      <a16:colId xmlns:a16="http://schemas.microsoft.com/office/drawing/2014/main" val="418088568"/>
                    </a:ext>
                  </a:extLst>
                </a:gridCol>
                <a:gridCol w="1129642">
                  <a:extLst>
                    <a:ext uri="{9D8B030D-6E8A-4147-A177-3AD203B41FA5}">
                      <a16:colId xmlns:a16="http://schemas.microsoft.com/office/drawing/2014/main" val="4232171700"/>
                    </a:ext>
                  </a:extLst>
                </a:gridCol>
                <a:gridCol w="794337">
                  <a:extLst>
                    <a:ext uri="{9D8B030D-6E8A-4147-A177-3AD203B41FA5}">
                      <a16:colId xmlns:a16="http://schemas.microsoft.com/office/drawing/2014/main" val="190928123"/>
                    </a:ext>
                  </a:extLst>
                </a:gridCol>
                <a:gridCol w="1023072">
                  <a:extLst>
                    <a:ext uri="{9D8B030D-6E8A-4147-A177-3AD203B41FA5}">
                      <a16:colId xmlns:a16="http://schemas.microsoft.com/office/drawing/2014/main" val="3385942803"/>
                    </a:ext>
                  </a:extLst>
                </a:gridCol>
                <a:gridCol w="1210220">
                  <a:extLst>
                    <a:ext uri="{9D8B030D-6E8A-4147-A177-3AD203B41FA5}">
                      <a16:colId xmlns:a16="http://schemas.microsoft.com/office/drawing/2014/main" val="2507551311"/>
                    </a:ext>
                  </a:extLst>
                </a:gridCol>
              </a:tblGrid>
              <a:tr h="808477">
                <a:tc>
                  <a:txBody>
                    <a:bodyPr/>
                    <a:lstStyle/>
                    <a:p>
                      <a:endParaRPr lang="es-ES" sz="2900">
                        <a:effectLst/>
                      </a:endParaRPr>
                    </a:p>
                  </a:txBody>
                  <a:tcPr marL="112288" marR="112288" marT="0" marB="0"/>
                </a:tc>
                <a:tc>
                  <a:txBody>
                    <a:bodyPr/>
                    <a:lstStyle/>
                    <a:p>
                      <a:pPr algn="ctr"/>
                      <a:r>
                        <a:rPr lang="es-ES" sz="1600">
                          <a:effectLst/>
                        </a:rPr>
                        <a:t>CF</a:t>
                      </a:r>
                      <a:endParaRPr lang="es-ES" sz="2900">
                        <a:effectLst/>
                      </a:endParaRPr>
                    </a:p>
                  </a:txBody>
                  <a:tcPr marL="112288" marR="112288" marT="0" marB="0"/>
                </a:tc>
                <a:tc>
                  <a:txBody>
                    <a:bodyPr/>
                    <a:lstStyle/>
                    <a:p>
                      <a:pPr algn="ctr"/>
                      <a:r>
                        <a:rPr lang="el-GR" sz="1600">
                          <a:effectLst/>
                        </a:rPr>
                        <a:t>Σ </a:t>
                      </a:r>
                      <a:r>
                        <a:rPr lang="es-ES" sz="1600">
                          <a:effectLst/>
                        </a:rPr>
                        <a:t>factores de ajuste</a:t>
                      </a:r>
                      <a:endParaRPr lang="es-ES" sz="2900">
                        <a:effectLst/>
                      </a:endParaRPr>
                    </a:p>
                  </a:txBody>
                  <a:tcPr marL="112288" marR="112288" marT="0" marB="0"/>
                </a:tc>
                <a:tc>
                  <a:txBody>
                    <a:bodyPr/>
                    <a:lstStyle/>
                    <a:p>
                      <a:pPr algn="ctr"/>
                      <a:r>
                        <a:rPr lang="es-ES" sz="1600">
                          <a:effectLst/>
                        </a:rPr>
                        <a:t>CK</a:t>
                      </a:r>
                      <a:endParaRPr lang="es-ES" sz="2900">
                        <a:effectLst/>
                      </a:endParaRPr>
                    </a:p>
                  </a:txBody>
                  <a:tcPr marL="112288" marR="112288" marT="0" marB="0"/>
                </a:tc>
                <a:tc>
                  <a:txBody>
                    <a:bodyPr/>
                    <a:lstStyle/>
                    <a:p>
                      <a:r>
                        <a:rPr lang="es-ES" sz="1600">
                          <a:effectLst/>
                        </a:rPr>
                        <a:t>PF</a:t>
                      </a:r>
                      <a:endParaRPr lang="es-ES" sz="2900">
                        <a:effectLst/>
                      </a:endParaRPr>
                    </a:p>
                  </a:txBody>
                  <a:tcPr marL="112288" marR="112288" marT="0" marB="0"/>
                </a:tc>
                <a:tc>
                  <a:txBody>
                    <a:bodyPr/>
                    <a:lstStyle/>
                    <a:p>
                      <a:r>
                        <a:rPr lang="es-ES" sz="1600">
                          <a:effectLst/>
                        </a:rPr>
                        <a:t>Esfuerzo</a:t>
                      </a:r>
                      <a:endParaRPr lang="es-ES" sz="2900">
                        <a:effectLst/>
                      </a:endParaRPr>
                    </a:p>
                  </a:txBody>
                  <a:tcPr marL="112288" marR="112288" marT="0" marB="0"/>
                </a:tc>
                <a:extLst>
                  <a:ext uri="{0D108BD9-81ED-4DB2-BD59-A6C34878D82A}">
                    <a16:rowId xmlns:a16="http://schemas.microsoft.com/office/drawing/2014/main" val="4107866425"/>
                  </a:ext>
                </a:extLst>
              </a:tr>
              <a:tr h="309417">
                <a:tc>
                  <a:txBody>
                    <a:bodyPr/>
                    <a:lstStyle/>
                    <a:p>
                      <a:r>
                        <a:rPr lang="es-ES" sz="1600">
                          <a:effectLst/>
                        </a:rPr>
                        <a:t>Modulo 1 Módulo de comercio electrónico</a:t>
                      </a:r>
                      <a:endParaRPr lang="es-ES" sz="2900">
                        <a:effectLst/>
                      </a:endParaRPr>
                    </a:p>
                  </a:txBody>
                  <a:tcPr marL="112288" marR="112288" marT="0" marB="0"/>
                </a:tc>
                <a:tc>
                  <a:txBody>
                    <a:bodyPr/>
                    <a:lstStyle/>
                    <a:p>
                      <a:pPr algn="ctr"/>
                      <a:r>
                        <a:rPr lang="es-ES" sz="1600">
                          <a:effectLst/>
                        </a:rPr>
                        <a:t>128</a:t>
                      </a:r>
                      <a:endParaRPr lang="es-ES" sz="2900">
                        <a:effectLst/>
                      </a:endParaRPr>
                    </a:p>
                  </a:txBody>
                  <a:tcPr marL="112288" marR="112288" marT="0" marB="0"/>
                </a:tc>
                <a:tc>
                  <a:txBody>
                    <a:bodyPr/>
                    <a:lstStyle/>
                    <a:p>
                      <a:pPr algn="ctr"/>
                      <a:r>
                        <a:rPr lang="es-ES" sz="1600">
                          <a:effectLst/>
                        </a:rPr>
                        <a:t>21</a:t>
                      </a:r>
                      <a:endParaRPr lang="es-ES" sz="2900">
                        <a:effectLst/>
                      </a:endParaRPr>
                    </a:p>
                  </a:txBody>
                  <a:tcPr marL="112288" marR="112288" marT="0" marB="0"/>
                </a:tc>
                <a:tc>
                  <a:txBody>
                    <a:bodyPr/>
                    <a:lstStyle/>
                    <a:p>
                      <a:pPr algn="ctr"/>
                      <a:r>
                        <a:rPr lang="es-ES" sz="1600">
                          <a:effectLst/>
                        </a:rPr>
                        <a:t>0,86</a:t>
                      </a:r>
                      <a:endParaRPr lang="es-ES" sz="2900">
                        <a:effectLst/>
                      </a:endParaRPr>
                    </a:p>
                  </a:txBody>
                  <a:tcPr marL="112288" marR="112288" marT="0" marB="0"/>
                </a:tc>
                <a:tc>
                  <a:txBody>
                    <a:bodyPr/>
                    <a:lstStyle/>
                    <a:p>
                      <a:pPr algn="r"/>
                      <a:r>
                        <a:rPr lang="es-ES" sz="1600">
                          <a:effectLst/>
                        </a:rPr>
                        <a:t>110,08</a:t>
                      </a:r>
                      <a:endParaRPr lang="es-ES" sz="2900">
                        <a:effectLst/>
                      </a:endParaRPr>
                    </a:p>
                  </a:txBody>
                  <a:tcPr marL="112288" marR="112288" marT="0" marB="0"/>
                </a:tc>
                <a:tc>
                  <a:txBody>
                    <a:bodyPr/>
                    <a:lstStyle/>
                    <a:p>
                      <a:pPr algn="r"/>
                      <a:r>
                        <a:rPr lang="es-ES" sz="1600">
                          <a:effectLst/>
                        </a:rPr>
                        <a:t>250</a:t>
                      </a:r>
                      <a:endParaRPr lang="es-ES" sz="2900">
                        <a:effectLst/>
                      </a:endParaRPr>
                    </a:p>
                  </a:txBody>
                  <a:tcPr marL="112288" marR="112288" marT="0" marB="0"/>
                </a:tc>
                <a:extLst>
                  <a:ext uri="{0D108BD9-81ED-4DB2-BD59-A6C34878D82A}">
                    <a16:rowId xmlns:a16="http://schemas.microsoft.com/office/drawing/2014/main" val="1677378590"/>
                  </a:ext>
                </a:extLst>
              </a:tr>
              <a:tr h="309417">
                <a:tc>
                  <a:txBody>
                    <a:bodyPr/>
                    <a:lstStyle/>
                    <a:p>
                      <a:r>
                        <a:rPr lang="es-ES" sz="1600">
                          <a:effectLst/>
                        </a:rPr>
                        <a:t>Modulo 2 Gestión de almacén</a:t>
                      </a:r>
                      <a:endParaRPr lang="es-ES" sz="2900">
                        <a:effectLst/>
                      </a:endParaRPr>
                    </a:p>
                  </a:txBody>
                  <a:tcPr marL="112288" marR="112288" marT="0" marB="0"/>
                </a:tc>
                <a:tc>
                  <a:txBody>
                    <a:bodyPr/>
                    <a:lstStyle/>
                    <a:p>
                      <a:pPr algn="ctr"/>
                      <a:r>
                        <a:rPr lang="es-ES" sz="1600">
                          <a:effectLst/>
                        </a:rPr>
                        <a:t>18</a:t>
                      </a:r>
                      <a:endParaRPr lang="es-ES" sz="2900">
                        <a:effectLst/>
                      </a:endParaRPr>
                    </a:p>
                  </a:txBody>
                  <a:tcPr marL="112288" marR="112288" marT="0" marB="0"/>
                </a:tc>
                <a:tc>
                  <a:txBody>
                    <a:bodyPr/>
                    <a:lstStyle/>
                    <a:p>
                      <a:pPr algn="ctr"/>
                      <a:r>
                        <a:rPr lang="es-ES" sz="1600">
                          <a:effectLst/>
                        </a:rPr>
                        <a:t>21</a:t>
                      </a:r>
                      <a:endParaRPr lang="es-ES" sz="2900">
                        <a:effectLst/>
                      </a:endParaRPr>
                    </a:p>
                  </a:txBody>
                  <a:tcPr marL="112288" marR="112288" marT="0" marB="0"/>
                </a:tc>
                <a:tc>
                  <a:txBody>
                    <a:bodyPr/>
                    <a:lstStyle/>
                    <a:p>
                      <a:pPr algn="ctr"/>
                      <a:r>
                        <a:rPr lang="es-ES" sz="1600">
                          <a:effectLst/>
                        </a:rPr>
                        <a:t>0,86</a:t>
                      </a:r>
                      <a:endParaRPr lang="es-ES" sz="2900">
                        <a:effectLst/>
                      </a:endParaRPr>
                    </a:p>
                  </a:txBody>
                  <a:tcPr marL="112288" marR="112288" marT="0" marB="0"/>
                </a:tc>
                <a:tc>
                  <a:txBody>
                    <a:bodyPr/>
                    <a:lstStyle/>
                    <a:p>
                      <a:pPr algn="r"/>
                      <a:r>
                        <a:rPr lang="es-ES" sz="1600">
                          <a:effectLst/>
                        </a:rPr>
                        <a:t>15,48</a:t>
                      </a:r>
                      <a:endParaRPr lang="es-ES" sz="2900">
                        <a:effectLst/>
                      </a:endParaRPr>
                    </a:p>
                  </a:txBody>
                  <a:tcPr marL="112288" marR="112288" marT="0" marB="0"/>
                </a:tc>
                <a:tc>
                  <a:txBody>
                    <a:bodyPr/>
                    <a:lstStyle/>
                    <a:p>
                      <a:pPr algn="r"/>
                      <a:r>
                        <a:rPr lang="es-ES" sz="1600">
                          <a:effectLst/>
                        </a:rPr>
                        <a:t>50</a:t>
                      </a:r>
                      <a:endParaRPr lang="es-ES" sz="2900">
                        <a:effectLst/>
                      </a:endParaRPr>
                    </a:p>
                  </a:txBody>
                  <a:tcPr marL="112288" marR="112288" marT="0" marB="0"/>
                </a:tc>
                <a:extLst>
                  <a:ext uri="{0D108BD9-81ED-4DB2-BD59-A6C34878D82A}">
                    <a16:rowId xmlns:a16="http://schemas.microsoft.com/office/drawing/2014/main" val="115999557"/>
                  </a:ext>
                </a:extLst>
              </a:tr>
              <a:tr h="309417">
                <a:tc>
                  <a:txBody>
                    <a:bodyPr/>
                    <a:lstStyle/>
                    <a:p>
                      <a:r>
                        <a:rPr lang="es-ES" sz="1600">
                          <a:effectLst/>
                        </a:rPr>
                        <a:t>Modulo 3 Módulo de Suministro</a:t>
                      </a:r>
                      <a:endParaRPr lang="es-ES" sz="2900">
                        <a:effectLst/>
                      </a:endParaRPr>
                    </a:p>
                  </a:txBody>
                  <a:tcPr marL="112288" marR="112288" marT="0" marB="0"/>
                </a:tc>
                <a:tc>
                  <a:txBody>
                    <a:bodyPr/>
                    <a:lstStyle/>
                    <a:p>
                      <a:pPr algn="ctr"/>
                      <a:r>
                        <a:rPr lang="es-ES" sz="1600">
                          <a:effectLst/>
                        </a:rPr>
                        <a:t>21</a:t>
                      </a:r>
                      <a:endParaRPr lang="es-ES" sz="2900">
                        <a:effectLst/>
                      </a:endParaRPr>
                    </a:p>
                  </a:txBody>
                  <a:tcPr marL="112288" marR="112288" marT="0" marB="0"/>
                </a:tc>
                <a:tc>
                  <a:txBody>
                    <a:bodyPr/>
                    <a:lstStyle/>
                    <a:p>
                      <a:pPr algn="ctr"/>
                      <a:r>
                        <a:rPr lang="es-ES" sz="1600">
                          <a:effectLst/>
                        </a:rPr>
                        <a:t>21</a:t>
                      </a:r>
                      <a:endParaRPr lang="es-ES" sz="2900">
                        <a:effectLst/>
                      </a:endParaRPr>
                    </a:p>
                  </a:txBody>
                  <a:tcPr marL="112288" marR="112288" marT="0" marB="0"/>
                </a:tc>
                <a:tc>
                  <a:txBody>
                    <a:bodyPr/>
                    <a:lstStyle/>
                    <a:p>
                      <a:pPr algn="ctr"/>
                      <a:r>
                        <a:rPr lang="es-ES" sz="1600">
                          <a:effectLst/>
                        </a:rPr>
                        <a:t>0,86</a:t>
                      </a:r>
                      <a:endParaRPr lang="es-ES" sz="2900">
                        <a:effectLst/>
                      </a:endParaRPr>
                    </a:p>
                  </a:txBody>
                  <a:tcPr marL="112288" marR="112288" marT="0" marB="0"/>
                </a:tc>
                <a:tc>
                  <a:txBody>
                    <a:bodyPr/>
                    <a:lstStyle/>
                    <a:p>
                      <a:pPr algn="r"/>
                      <a:r>
                        <a:rPr lang="es-ES" sz="1600">
                          <a:effectLst/>
                        </a:rPr>
                        <a:t>18,06</a:t>
                      </a:r>
                      <a:endParaRPr lang="es-ES" sz="2900">
                        <a:effectLst/>
                      </a:endParaRPr>
                    </a:p>
                  </a:txBody>
                  <a:tcPr marL="112288" marR="112288" marT="0" marB="0"/>
                </a:tc>
                <a:tc>
                  <a:txBody>
                    <a:bodyPr/>
                    <a:lstStyle/>
                    <a:p>
                      <a:pPr algn="r"/>
                      <a:r>
                        <a:rPr lang="es-ES" sz="1600">
                          <a:effectLst/>
                        </a:rPr>
                        <a:t>55</a:t>
                      </a:r>
                      <a:endParaRPr lang="es-ES" sz="2900">
                        <a:effectLst/>
                      </a:endParaRPr>
                    </a:p>
                  </a:txBody>
                  <a:tcPr marL="112288" marR="112288" marT="0" marB="0"/>
                </a:tc>
                <a:extLst>
                  <a:ext uri="{0D108BD9-81ED-4DB2-BD59-A6C34878D82A}">
                    <a16:rowId xmlns:a16="http://schemas.microsoft.com/office/drawing/2014/main" val="4193293277"/>
                  </a:ext>
                </a:extLst>
              </a:tr>
              <a:tr h="309417">
                <a:tc>
                  <a:txBody>
                    <a:bodyPr/>
                    <a:lstStyle/>
                    <a:p>
                      <a:r>
                        <a:rPr lang="es-ES" sz="1600">
                          <a:effectLst/>
                        </a:rPr>
                        <a:t>Modulo 4 Módulo de Picking y distribución</a:t>
                      </a:r>
                      <a:endParaRPr lang="es-ES" sz="2900">
                        <a:effectLst/>
                      </a:endParaRPr>
                    </a:p>
                  </a:txBody>
                  <a:tcPr marL="112288" marR="112288" marT="0" marB="0"/>
                </a:tc>
                <a:tc>
                  <a:txBody>
                    <a:bodyPr/>
                    <a:lstStyle/>
                    <a:p>
                      <a:pPr algn="ctr"/>
                      <a:r>
                        <a:rPr lang="es-ES" sz="1600">
                          <a:effectLst/>
                        </a:rPr>
                        <a:t>10</a:t>
                      </a:r>
                      <a:endParaRPr lang="es-ES" sz="2900">
                        <a:effectLst/>
                      </a:endParaRPr>
                    </a:p>
                  </a:txBody>
                  <a:tcPr marL="112288" marR="112288" marT="0" marB="0"/>
                </a:tc>
                <a:tc>
                  <a:txBody>
                    <a:bodyPr/>
                    <a:lstStyle/>
                    <a:p>
                      <a:pPr algn="ctr"/>
                      <a:r>
                        <a:rPr lang="es-ES" sz="1600">
                          <a:effectLst/>
                        </a:rPr>
                        <a:t>21</a:t>
                      </a:r>
                      <a:endParaRPr lang="es-ES" sz="2900">
                        <a:effectLst/>
                      </a:endParaRPr>
                    </a:p>
                  </a:txBody>
                  <a:tcPr marL="112288" marR="112288" marT="0" marB="0"/>
                </a:tc>
                <a:tc>
                  <a:txBody>
                    <a:bodyPr/>
                    <a:lstStyle/>
                    <a:p>
                      <a:pPr algn="ctr"/>
                      <a:r>
                        <a:rPr lang="es-ES" sz="1600">
                          <a:effectLst/>
                        </a:rPr>
                        <a:t>0,86</a:t>
                      </a:r>
                      <a:endParaRPr lang="es-ES" sz="2900">
                        <a:effectLst/>
                      </a:endParaRPr>
                    </a:p>
                  </a:txBody>
                  <a:tcPr marL="112288" marR="112288" marT="0" marB="0"/>
                </a:tc>
                <a:tc>
                  <a:txBody>
                    <a:bodyPr/>
                    <a:lstStyle/>
                    <a:p>
                      <a:pPr algn="r"/>
                      <a:r>
                        <a:rPr lang="es-ES" sz="1600">
                          <a:effectLst/>
                        </a:rPr>
                        <a:t>8,6</a:t>
                      </a:r>
                      <a:endParaRPr lang="es-ES" sz="2900">
                        <a:effectLst/>
                      </a:endParaRPr>
                    </a:p>
                  </a:txBody>
                  <a:tcPr marL="112288" marR="112288" marT="0" marB="0"/>
                </a:tc>
                <a:tc>
                  <a:txBody>
                    <a:bodyPr/>
                    <a:lstStyle/>
                    <a:p>
                      <a:pPr algn="r"/>
                      <a:r>
                        <a:rPr lang="es-ES" sz="1600">
                          <a:effectLst/>
                        </a:rPr>
                        <a:t>38</a:t>
                      </a:r>
                      <a:endParaRPr lang="es-ES" sz="2900">
                        <a:effectLst/>
                      </a:endParaRPr>
                    </a:p>
                  </a:txBody>
                  <a:tcPr marL="112288" marR="112288" marT="0" marB="0"/>
                </a:tc>
                <a:extLst>
                  <a:ext uri="{0D108BD9-81ED-4DB2-BD59-A6C34878D82A}">
                    <a16:rowId xmlns:a16="http://schemas.microsoft.com/office/drawing/2014/main" val="1303816764"/>
                  </a:ext>
                </a:extLst>
              </a:tr>
              <a:tr h="309417">
                <a:tc>
                  <a:txBody>
                    <a:bodyPr/>
                    <a:lstStyle/>
                    <a:p>
                      <a:r>
                        <a:rPr lang="es-ES" sz="1600">
                          <a:effectLst/>
                        </a:rPr>
                        <a:t>Modulo 5 Gestión de usuarios</a:t>
                      </a:r>
                      <a:endParaRPr lang="es-ES" sz="2900">
                        <a:effectLst/>
                      </a:endParaRPr>
                    </a:p>
                  </a:txBody>
                  <a:tcPr marL="112288" marR="112288" marT="0" marB="0"/>
                </a:tc>
                <a:tc>
                  <a:txBody>
                    <a:bodyPr/>
                    <a:lstStyle/>
                    <a:p>
                      <a:pPr algn="ctr"/>
                      <a:r>
                        <a:rPr lang="es-ES" sz="1600">
                          <a:effectLst/>
                        </a:rPr>
                        <a:t>28</a:t>
                      </a:r>
                      <a:endParaRPr lang="es-ES" sz="2900">
                        <a:effectLst/>
                      </a:endParaRPr>
                    </a:p>
                  </a:txBody>
                  <a:tcPr marL="112288" marR="112288" marT="0" marB="0"/>
                </a:tc>
                <a:tc>
                  <a:txBody>
                    <a:bodyPr/>
                    <a:lstStyle/>
                    <a:p>
                      <a:pPr algn="ctr"/>
                      <a:r>
                        <a:rPr lang="es-ES" sz="1600">
                          <a:effectLst/>
                        </a:rPr>
                        <a:t>21</a:t>
                      </a:r>
                      <a:endParaRPr lang="es-ES" sz="2900">
                        <a:effectLst/>
                      </a:endParaRPr>
                    </a:p>
                  </a:txBody>
                  <a:tcPr marL="112288" marR="112288" marT="0" marB="0"/>
                </a:tc>
                <a:tc>
                  <a:txBody>
                    <a:bodyPr/>
                    <a:lstStyle/>
                    <a:p>
                      <a:pPr algn="ctr"/>
                      <a:r>
                        <a:rPr lang="es-ES" sz="1600">
                          <a:effectLst/>
                        </a:rPr>
                        <a:t>0,86</a:t>
                      </a:r>
                      <a:endParaRPr lang="es-ES" sz="2900">
                        <a:effectLst/>
                      </a:endParaRPr>
                    </a:p>
                  </a:txBody>
                  <a:tcPr marL="112288" marR="112288" marT="0" marB="0"/>
                </a:tc>
                <a:tc>
                  <a:txBody>
                    <a:bodyPr/>
                    <a:lstStyle/>
                    <a:p>
                      <a:pPr algn="r"/>
                      <a:r>
                        <a:rPr lang="es-ES" sz="1600">
                          <a:effectLst/>
                        </a:rPr>
                        <a:t>24,08</a:t>
                      </a:r>
                      <a:endParaRPr lang="es-ES" sz="2900">
                        <a:effectLst/>
                      </a:endParaRPr>
                    </a:p>
                  </a:txBody>
                  <a:tcPr marL="112288" marR="112288" marT="0" marB="0"/>
                </a:tc>
                <a:tc>
                  <a:txBody>
                    <a:bodyPr/>
                    <a:lstStyle/>
                    <a:p>
                      <a:pPr algn="r"/>
                      <a:r>
                        <a:rPr lang="es-ES" sz="1600">
                          <a:effectLst/>
                        </a:rPr>
                        <a:t>62</a:t>
                      </a:r>
                      <a:endParaRPr lang="es-ES" sz="2900">
                        <a:effectLst/>
                      </a:endParaRPr>
                    </a:p>
                  </a:txBody>
                  <a:tcPr marL="112288" marR="112288" marT="0" marB="0"/>
                </a:tc>
                <a:extLst>
                  <a:ext uri="{0D108BD9-81ED-4DB2-BD59-A6C34878D82A}">
                    <a16:rowId xmlns:a16="http://schemas.microsoft.com/office/drawing/2014/main" val="2873652945"/>
                  </a:ext>
                </a:extLst>
              </a:tr>
              <a:tr h="309417">
                <a:tc>
                  <a:txBody>
                    <a:bodyPr/>
                    <a:lstStyle/>
                    <a:p>
                      <a:r>
                        <a:rPr lang="es-ES" sz="1600">
                          <a:effectLst/>
                        </a:rPr>
                        <a:t>Modulo 6 Módulos de soporte y control de infraestructura</a:t>
                      </a:r>
                      <a:endParaRPr lang="es-ES" sz="2900">
                        <a:effectLst/>
                      </a:endParaRPr>
                    </a:p>
                  </a:txBody>
                  <a:tcPr marL="112288" marR="112288" marT="0" marB="0"/>
                </a:tc>
                <a:tc>
                  <a:txBody>
                    <a:bodyPr/>
                    <a:lstStyle/>
                    <a:p>
                      <a:pPr algn="ctr"/>
                      <a:r>
                        <a:rPr lang="es-ES" sz="1600">
                          <a:effectLst/>
                        </a:rPr>
                        <a:t>58</a:t>
                      </a:r>
                      <a:endParaRPr lang="es-ES" sz="2900">
                        <a:effectLst/>
                      </a:endParaRPr>
                    </a:p>
                  </a:txBody>
                  <a:tcPr marL="112288" marR="112288" marT="0" marB="0"/>
                </a:tc>
                <a:tc>
                  <a:txBody>
                    <a:bodyPr/>
                    <a:lstStyle/>
                    <a:p>
                      <a:pPr algn="ctr"/>
                      <a:r>
                        <a:rPr lang="es-ES" sz="1600">
                          <a:effectLst/>
                        </a:rPr>
                        <a:t>28</a:t>
                      </a:r>
                      <a:endParaRPr lang="es-ES" sz="2900">
                        <a:effectLst/>
                      </a:endParaRPr>
                    </a:p>
                  </a:txBody>
                  <a:tcPr marL="112288" marR="112288" marT="0" marB="0"/>
                </a:tc>
                <a:tc>
                  <a:txBody>
                    <a:bodyPr/>
                    <a:lstStyle/>
                    <a:p>
                      <a:pPr algn="ctr"/>
                      <a:r>
                        <a:rPr lang="es-ES" sz="1600">
                          <a:effectLst/>
                        </a:rPr>
                        <a:t>0,93</a:t>
                      </a:r>
                      <a:endParaRPr lang="es-ES" sz="2900">
                        <a:effectLst/>
                      </a:endParaRPr>
                    </a:p>
                  </a:txBody>
                  <a:tcPr marL="112288" marR="112288" marT="0" marB="0"/>
                </a:tc>
                <a:tc>
                  <a:txBody>
                    <a:bodyPr/>
                    <a:lstStyle/>
                    <a:p>
                      <a:pPr algn="r"/>
                      <a:r>
                        <a:rPr lang="es-ES" sz="1600">
                          <a:effectLst/>
                        </a:rPr>
                        <a:t>53,94</a:t>
                      </a:r>
                      <a:endParaRPr lang="es-ES" sz="2900">
                        <a:effectLst/>
                      </a:endParaRPr>
                    </a:p>
                  </a:txBody>
                  <a:tcPr marL="112288" marR="112288" marT="0" marB="0"/>
                </a:tc>
                <a:tc>
                  <a:txBody>
                    <a:bodyPr/>
                    <a:lstStyle/>
                    <a:p>
                      <a:pPr algn="r"/>
                      <a:r>
                        <a:rPr lang="es-ES" sz="1600">
                          <a:effectLst/>
                        </a:rPr>
                        <a:t>123</a:t>
                      </a:r>
                      <a:endParaRPr lang="es-ES" sz="2900">
                        <a:effectLst/>
                      </a:endParaRPr>
                    </a:p>
                  </a:txBody>
                  <a:tcPr marL="112288" marR="112288" marT="0" marB="0"/>
                </a:tc>
                <a:extLst>
                  <a:ext uri="{0D108BD9-81ED-4DB2-BD59-A6C34878D82A}">
                    <a16:rowId xmlns:a16="http://schemas.microsoft.com/office/drawing/2014/main" val="1997727813"/>
                  </a:ext>
                </a:extLst>
              </a:tr>
              <a:tr h="309417">
                <a:tc>
                  <a:txBody>
                    <a:bodyPr/>
                    <a:lstStyle/>
                    <a:p>
                      <a:r>
                        <a:rPr lang="es-ES" sz="1600">
                          <a:effectLst/>
                        </a:rPr>
                        <a:t>Modulo 7 Aplicaciones de usuario. Sitio web de compras</a:t>
                      </a:r>
                      <a:endParaRPr lang="es-ES" sz="2900">
                        <a:effectLst/>
                      </a:endParaRPr>
                    </a:p>
                  </a:txBody>
                  <a:tcPr marL="112288" marR="112288" marT="0" marB="0"/>
                </a:tc>
                <a:tc>
                  <a:txBody>
                    <a:bodyPr/>
                    <a:lstStyle/>
                    <a:p>
                      <a:pPr algn="ctr"/>
                      <a:r>
                        <a:rPr lang="es-ES" sz="1600">
                          <a:effectLst/>
                        </a:rPr>
                        <a:t>10</a:t>
                      </a:r>
                      <a:endParaRPr lang="es-ES" sz="2900">
                        <a:effectLst/>
                      </a:endParaRPr>
                    </a:p>
                  </a:txBody>
                  <a:tcPr marL="112288" marR="112288" marT="0" marB="0"/>
                </a:tc>
                <a:tc>
                  <a:txBody>
                    <a:bodyPr/>
                    <a:lstStyle/>
                    <a:p>
                      <a:pPr algn="ctr"/>
                      <a:r>
                        <a:rPr lang="es-ES" sz="1600">
                          <a:effectLst/>
                        </a:rPr>
                        <a:t>29</a:t>
                      </a:r>
                      <a:endParaRPr lang="es-ES" sz="2900">
                        <a:effectLst/>
                      </a:endParaRPr>
                    </a:p>
                  </a:txBody>
                  <a:tcPr marL="112288" marR="112288" marT="0" marB="0"/>
                </a:tc>
                <a:tc>
                  <a:txBody>
                    <a:bodyPr/>
                    <a:lstStyle/>
                    <a:p>
                      <a:pPr algn="ctr"/>
                      <a:r>
                        <a:rPr lang="es-ES" sz="1600">
                          <a:effectLst/>
                        </a:rPr>
                        <a:t>0,94</a:t>
                      </a:r>
                      <a:endParaRPr lang="es-ES" sz="2900">
                        <a:effectLst/>
                      </a:endParaRPr>
                    </a:p>
                  </a:txBody>
                  <a:tcPr marL="112288" marR="112288" marT="0" marB="0"/>
                </a:tc>
                <a:tc>
                  <a:txBody>
                    <a:bodyPr/>
                    <a:lstStyle/>
                    <a:p>
                      <a:pPr algn="r"/>
                      <a:r>
                        <a:rPr lang="es-ES" sz="1600">
                          <a:effectLst/>
                        </a:rPr>
                        <a:t>9,4</a:t>
                      </a:r>
                      <a:endParaRPr lang="es-ES" sz="2900">
                        <a:effectLst/>
                      </a:endParaRPr>
                    </a:p>
                  </a:txBody>
                  <a:tcPr marL="112288" marR="112288" marT="0" marB="0"/>
                </a:tc>
                <a:tc>
                  <a:txBody>
                    <a:bodyPr/>
                    <a:lstStyle/>
                    <a:p>
                      <a:pPr algn="r"/>
                      <a:r>
                        <a:rPr lang="es-ES" sz="1600">
                          <a:effectLst/>
                        </a:rPr>
                        <a:t>34</a:t>
                      </a:r>
                      <a:endParaRPr lang="es-ES" sz="2900">
                        <a:effectLst/>
                      </a:endParaRPr>
                    </a:p>
                  </a:txBody>
                  <a:tcPr marL="112288" marR="112288" marT="0" marB="0"/>
                </a:tc>
                <a:extLst>
                  <a:ext uri="{0D108BD9-81ED-4DB2-BD59-A6C34878D82A}">
                    <a16:rowId xmlns:a16="http://schemas.microsoft.com/office/drawing/2014/main" val="4234529469"/>
                  </a:ext>
                </a:extLst>
              </a:tr>
            </a:tbl>
          </a:graphicData>
        </a:graphic>
      </p:graphicFrame>
    </p:spTree>
    <p:extLst>
      <p:ext uri="{BB962C8B-B14F-4D97-AF65-F5344CB8AC3E}">
        <p14:creationId xmlns:p14="http://schemas.microsoft.com/office/powerpoint/2010/main" val="40182236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955A2079-FA98-4876-80F0-72364A7D2E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992D9E44-FACA-C441-041A-A756D0E4796A}"/>
              </a:ext>
            </a:extLst>
          </p:cNvPr>
          <p:cNvSpPr>
            <a:spLocks noGrp="1"/>
          </p:cNvSpPr>
          <p:nvPr>
            <p:ph type="title"/>
          </p:nvPr>
        </p:nvSpPr>
        <p:spPr>
          <a:xfrm>
            <a:off x="838200" y="557188"/>
            <a:ext cx="10515600" cy="1133499"/>
          </a:xfrm>
        </p:spPr>
        <p:txBody>
          <a:bodyPr>
            <a:normAutofit/>
          </a:bodyPr>
          <a:lstStyle/>
          <a:p>
            <a:pPr algn="ctr"/>
            <a:r>
              <a:rPr lang="es-ES" sz="5200">
                <a:latin typeface="Calibri Light"/>
                <a:cs typeface="Calibri Light"/>
              </a:rPr>
              <a:t>Presupuesto del Proyecto (Costes)</a:t>
            </a:r>
            <a:endParaRPr lang="es-ES" sz="5200"/>
          </a:p>
        </p:txBody>
      </p:sp>
      <p:sp>
        <p:nvSpPr>
          <p:cNvPr id="8" name="CuadroTexto 7">
            <a:extLst>
              <a:ext uri="{FF2B5EF4-FFF2-40B4-BE49-F238E27FC236}">
                <a16:creationId xmlns:a16="http://schemas.microsoft.com/office/drawing/2014/main" id="{36C25111-155C-008C-C93D-DF8EF8424167}"/>
              </a:ext>
            </a:extLst>
          </p:cNvPr>
          <p:cNvSpPr txBox="1"/>
          <p:nvPr/>
        </p:nvSpPr>
        <p:spPr>
          <a:xfrm>
            <a:off x="4724400" y="3200400"/>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s-ES"/>
          </a:p>
        </p:txBody>
      </p:sp>
      <p:graphicFrame>
        <p:nvGraphicFramePr>
          <p:cNvPr id="7" name="Marcador de contenido 6">
            <a:extLst>
              <a:ext uri="{FF2B5EF4-FFF2-40B4-BE49-F238E27FC236}">
                <a16:creationId xmlns:a16="http://schemas.microsoft.com/office/drawing/2014/main" id="{9C151DE8-0D41-33B2-52B3-CBD2F65B7A29}"/>
              </a:ext>
            </a:extLst>
          </p:cNvPr>
          <p:cNvGraphicFramePr>
            <a:graphicFrameLocks noGrp="1"/>
          </p:cNvGraphicFramePr>
          <p:nvPr>
            <p:ph idx="1"/>
            <p:extLst>
              <p:ext uri="{D42A27DB-BD31-4B8C-83A1-F6EECF244321}">
                <p14:modId xmlns:p14="http://schemas.microsoft.com/office/powerpoint/2010/main" val="2398018824"/>
              </p:ext>
            </p:extLst>
          </p:nvPr>
        </p:nvGraphicFramePr>
        <p:xfrm>
          <a:off x="1425279" y="1828800"/>
          <a:ext cx="9341445" cy="4352548"/>
        </p:xfrm>
        <a:graphic>
          <a:graphicData uri="http://schemas.openxmlformats.org/drawingml/2006/table">
            <a:tbl>
              <a:tblPr firstRow="1" firstCol="1" bandRow="1">
                <a:tableStyleId>{5C22544A-7EE6-4342-B048-85BDC9FD1C3A}</a:tableStyleId>
              </a:tblPr>
              <a:tblGrid>
                <a:gridCol w="2112625">
                  <a:extLst>
                    <a:ext uri="{9D8B030D-6E8A-4147-A177-3AD203B41FA5}">
                      <a16:colId xmlns:a16="http://schemas.microsoft.com/office/drawing/2014/main" val="1886414837"/>
                    </a:ext>
                  </a:extLst>
                </a:gridCol>
                <a:gridCol w="1761223">
                  <a:extLst>
                    <a:ext uri="{9D8B030D-6E8A-4147-A177-3AD203B41FA5}">
                      <a16:colId xmlns:a16="http://schemas.microsoft.com/office/drawing/2014/main" val="2563475585"/>
                    </a:ext>
                  </a:extLst>
                </a:gridCol>
                <a:gridCol w="1698878">
                  <a:extLst>
                    <a:ext uri="{9D8B030D-6E8A-4147-A177-3AD203B41FA5}">
                      <a16:colId xmlns:a16="http://schemas.microsoft.com/office/drawing/2014/main" val="3803329434"/>
                    </a:ext>
                  </a:extLst>
                </a:gridCol>
                <a:gridCol w="1264509">
                  <a:extLst>
                    <a:ext uri="{9D8B030D-6E8A-4147-A177-3AD203B41FA5}">
                      <a16:colId xmlns:a16="http://schemas.microsoft.com/office/drawing/2014/main" val="234090378"/>
                    </a:ext>
                  </a:extLst>
                </a:gridCol>
                <a:gridCol w="1252105">
                  <a:extLst>
                    <a:ext uri="{9D8B030D-6E8A-4147-A177-3AD203B41FA5}">
                      <a16:colId xmlns:a16="http://schemas.microsoft.com/office/drawing/2014/main" val="2332859"/>
                    </a:ext>
                  </a:extLst>
                </a:gridCol>
                <a:gridCol w="1252105">
                  <a:extLst>
                    <a:ext uri="{9D8B030D-6E8A-4147-A177-3AD203B41FA5}">
                      <a16:colId xmlns:a16="http://schemas.microsoft.com/office/drawing/2014/main" val="1066698173"/>
                    </a:ext>
                  </a:extLst>
                </a:gridCol>
              </a:tblGrid>
              <a:tr h="733225">
                <a:tc>
                  <a:txBody>
                    <a:bodyPr/>
                    <a:lstStyle/>
                    <a:p>
                      <a:r>
                        <a:rPr lang="es-ES" sz="1500">
                          <a:effectLst/>
                        </a:rPr>
                        <a:t>Descripción</a:t>
                      </a:r>
                    </a:p>
                  </a:txBody>
                  <a:tcPr marL="58502" marR="58502" marT="0" marB="0"/>
                </a:tc>
                <a:tc>
                  <a:txBody>
                    <a:bodyPr/>
                    <a:lstStyle/>
                    <a:p>
                      <a:r>
                        <a:rPr lang="es-ES" sz="1500">
                          <a:effectLst/>
                        </a:rPr>
                        <a:t>Coste</a:t>
                      </a:r>
                    </a:p>
                  </a:txBody>
                  <a:tcPr marL="58502" marR="58502" marT="0" marB="0"/>
                </a:tc>
                <a:tc>
                  <a:txBody>
                    <a:bodyPr/>
                    <a:lstStyle/>
                    <a:p>
                      <a:r>
                        <a:rPr lang="es-ES" sz="1500">
                          <a:effectLst/>
                        </a:rPr>
                        <a:t>Costes con costes indirectos ya repartidos</a:t>
                      </a:r>
                    </a:p>
                  </a:txBody>
                  <a:tcPr marL="58502" marR="58502" marT="0" marB="0"/>
                </a:tc>
                <a:tc>
                  <a:txBody>
                    <a:bodyPr/>
                    <a:lstStyle/>
                    <a:p>
                      <a:r>
                        <a:rPr lang="es-ES" sz="1500">
                          <a:effectLst/>
                        </a:rPr>
                        <a:t>Aplicabilidad</a:t>
                      </a:r>
                    </a:p>
                  </a:txBody>
                  <a:tcPr marL="58502" marR="58502" marT="0" marB="0"/>
                </a:tc>
                <a:tc>
                  <a:txBody>
                    <a:bodyPr/>
                    <a:lstStyle/>
                    <a:p>
                      <a:r>
                        <a:rPr lang="es-ES" sz="1500">
                          <a:effectLst/>
                        </a:rPr>
                        <a:t>Coste aplicable al modulo</a:t>
                      </a:r>
                    </a:p>
                  </a:txBody>
                  <a:tcPr marL="58502" marR="58502" marT="0" marB="0"/>
                </a:tc>
                <a:tc>
                  <a:txBody>
                    <a:bodyPr/>
                    <a:lstStyle/>
                    <a:p>
                      <a:r>
                        <a:rPr lang="es-ES" sz="1500">
                          <a:effectLst/>
                        </a:rPr>
                        <a:t>Coste cliente</a:t>
                      </a:r>
                    </a:p>
                  </a:txBody>
                  <a:tcPr marL="58502" marR="58502" marT="0" marB="0"/>
                </a:tc>
                <a:extLst>
                  <a:ext uri="{0D108BD9-81ED-4DB2-BD59-A6C34878D82A}">
                    <a16:rowId xmlns:a16="http://schemas.microsoft.com/office/drawing/2014/main" val="3916942590"/>
                  </a:ext>
                </a:extLst>
              </a:tr>
              <a:tr h="499217">
                <a:tc>
                  <a:txBody>
                    <a:bodyPr/>
                    <a:lstStyle/>
                    <a:p>
                      <a:r>
                        <a:rPr lang="es-ES" sz="1500">
                          <a:effectLst/>
                        </a:rPr>
                        <a:t>Hardware</a:t>
                      </a:r>
                    </a:p>
                  </a:txBody>
                  <a:tcPr marL="58502" marR="58502" marT="0" marB="0"/>
                </a:tc>
                <a:tc>
                  <a:txBody>
                    <a:bodyPr/>
                    <a:lstStyle/>
                    <a:p>
                      <a:r>
                        <a:rPr lang="es-ES" sz="1500">
                          <a:effectLst/>
                        </a:rPr>
                        <a:t>152.879,64 €</a:t>
                      </a:r>
                    </a:p>
                  </a:txBody>
                  <a:tcPr marL="58502" marR="58502" marT="0" marB="0"/>
                </a:tc>
                <a:tc>
                  <a:txBody>
                    <a:bodyPr/>
                    <a:lstStyle/>
                    <a:p>
                      <a:r>
                        <a:rPr lang="es-ES" sz="1500">
                          <a:effectLst/>
                        </a:rPr>
                        <a:t>152.879,64 €</a:t>
                      </a:r>
                    </a:p>
                  </a:txBody>
                  <a:tcPr marL="58502" marR="58502" marT="0" marB="0"/>
                </a:tc>
                <a:tc>
                  <a:txBody>
                    <a:bodyPr/>
                    <a:lstStyle/>
                    <a:p>
                      <a:r>
                        <a:rPr lang="es-ES" sz="1500">
                          <a:effectLst/>
                        </a:rPr>
                        <a:t>0,00</a:t>
                      </a:r>
                    </a:p>
                  </a:txBody>
                  <a:tcPr marL="58502" marR="58502" marT="0" marB="0"/>
                </a:tc>
                <a:tc>
                  <a:txBody>
                    <a:bodyPr/>
                    <a:lstStyle/>
                    <a:p>
                      <a:r>
                        <a:rPr lang="es-ES" sz="1500">
                          <a:effectLst/>
                        </a:rPr>
                        <a:t> </a:t>
                      </a:r>
                    </a:p>
                  </a:txBody>
                  <a:tcPr marL="58502" marR="58502" marT="0" marB="0"/>
                </a:tc>
                <a:tc>
                  <a:txBody>
                    <a:bodyPr/>
                    <a:lstStyle/>
                    <a:p>
                      <a:r>
                        <a:rPr lang="es-ES" sz="1500">
                          <a:effectLst/>
                        </a:rPr>
                        <a:t>152.879,64 €</a:t>
                      </a:r>
                    </a:p>
                  </a:txBody>
                  <a:tcPr marL="58502" marR="58502" marT="0" marB="0"/>
                </a:tc>
                <a:extLst>
                  <a:ext uri="{0D108BD9-81ED-4DB2-BD59-A6C34878D82A}">
                    <a16:rowId xmlns:a16="http://schemas.microsoft.com/office/drawing/2014/main" val="4151032634"/>
                  </a:ext>
                </a:extLst>
              </a:tr>
              <a:tr h="265209">
                <a:tc>
                  <a:txBody>
                    <a:bodyPr/>
                    <a:lstStyle/>
                    <a:p>
                      <a:r>
                        <a:rPr lang="es-ES" sz="1000">
                          <a:effectLst/>
                        </a:rPr>
                        <a:t>Gestión del proyecto </a:t>
                      </a:r>
                      <a:endParaRPr lang="es-ES" sz="1500">
                        <a:effectLst/>
                      </a:endParaRPr>
                    </a:p>
                  </a:txBody>
                  <a:tcPr marL="58502" marR="58502" marT="0" marB="0"/>
                </a:tc>
                <a:tc>
                  <a:txBody>
                    <a:bodyPr/>
                    <a:lstStyle/>
                    <a:p>
                      <a:r>
                        <a:rPr lang="es-ES" sz="1500">
                          <a:effectLst/>
                        </a:rPr>
                        <a:t>4.072,00 €</a:t>
                      </a:r>
                    </a:p>
                  </a:txBody>
                  <a:tcPr marL="58502" marR="58502" marT="0" marB="0"/>
                </a:tc>
                <a:tc>
                  <a:txBody>
                    <a:bodyPr/>
                    <a:lstStyle/>
                    <a:p>
                      <a:r>
                        <a:rPr lang="es-ES" sz="1500">
                          <a:effectLst/>
                        </a:rPr>
                        <a:t>16.014,74 €</a:t>
                      </a:r>
                    </a:p>
                  </a:txBody>
                  <a:tcPr marL="58502" marR="58502" marT="0" marB="0"/>
                </a:tc>
                <a:tc>
                  <a:txBody>
                    <a:bodyPr/>
                    <a:lstStyle/>
                    <a:p>
                      <a:r>
                        <a:rPr lang="es-ES" sz="1500">
                          <a:effectLst/>
                        </a:rPr>
                        <a:t>1,00</a:t>
                      </a:r>
                    </a:p>
                  </a:txBody>
                  <a:tcPr marL="58502" marR="58502" marT="0" marB="0"/>
                </a:tc>
                <a:tc>
                  <a:txBody>
                    <a:bodyPr/>
                    <a:lstStyle/>
                    <a:p>
                      <a:r>
                        <a:rPr lang="es-ES" sz="1500">
                          <a:effectLst/>
                        </a:rPr>
                        <a:t>30.027,56 €</a:t>
                      </a:r>
                    </a:p>
                  </a:txBody>
                  <a:tcPr marL="58502" marR="58502" marT="0" marB="0"/>
                </a:tc>
                <a:tc>
                  <a:txBody>
                    <a:bodyPr/>
                    <a:lstStyle/>
                    <a:p>
                      <a:r>
                        <a:rPr lang="es-ES" sz="1500">
                          <a:effectLst/>
                        </a:rPr>
                        <a:t>46.042,30 €</a:t>
                      </a:r>
                    </a:p>
                  </a:txBody>
                  <a:tcPr marL="58502" marR="58502" marT="0" marB="0"/>
                </a:tc>
                <a:extLst>
                  <a:ext uri="{0D108BD9-81ED-4DB2-BD59-A6C34878D82A}">
                    <a16:rowId xmlns:a16="http://schemas.microsoft.com/office/drawing/2014/main" val="1940317060"/>
                  </a:ext>
                </a:extLst>
              </a:tr>
              <a:tr h="265209">
                <a:tc>
                  <a:txBody>
                    <a:bodyPr/>
                    <a:lstStyle/>
                    <a:p>
                      <a:r>
                        <a:rPr lang="es-ES" sz="1000">
                          <a:effectLst/>
                        </a:rPr>
                        <a:t>Análisis de requisitos </a:t>
                      </a:r>
                      <a:endParaRPr lang="es-ES" sz="1500">
                        <a:effectLst/>
                      </a:endParaRPr>
                    </a:p>
                  </a:txBody>
                  <a:tcPr marL="58502" marR="58502" marT="0" marB="0"/>
                </a:tc>
                <a:tc>
                  <a:txBody>
                    <a:bodyPr/>
                    <a:lstStyle/>
                    <a:p>
                      <a:r>
                        <a:rPr lang="es-ES" sz="1500">
                          <a:effectLst/>
                        </a:rPr>
                        <a:t>2.120,00 €</a:t>
                      </a:r>
                    </a:p>
                  </a:txBody>
                  <a:tcPr marL="58502" marR="58502" marT="0" marB="0"/>
                </a:tc>
                <a:tc>
                  <a:txBody>
                    <a:bodyPr/>
                    <a:lstStyle/>
                    <a:p>
                      <a:r>
                        <a:rPr lang="es-ES" sz="1500">
                          <a:effectLst/>
                        </a:rPr>
                        <a:t>8.337,73 €</a:t>
                      </a:r>
                    </a:p>
                  </a:txBody>
                  <a:tcPr marL="58502" marR="58502" marT="0" marB="0"/>
                </a:tc>
                <a:tc>
                  <a:txBody>
                    <a:bodyPr/>
                    <a:lstStyle/>
                    <a:p>
                      <a:r>
                        <a:rPr lang="es-ES" sz="1500">
                          <a:effectLst/>
                        </a:rPr>
                        <a:t>1,00</a:t>
                      </a:r>
                    </a:p>
                  </a:txBody>
                  <a:tcPr marL="58502" marR="58502" marT="0" marB="0"/>
                </a:tc>
                <a:tc>
                  <a:txBody>
                    <a:bodyPr/>
                    <a:lstStyle/>
                    <a:p>
                      <a:r>
                        <a:rPr lang="es-ES" sz="1500">
                          <a:effectLst/>
                        </a:rPr>
                        <a:t>15.633,21 €</a:t>
                      </a:r>
                    </a:p>
                  </a:txBody>
                  <a:tcPr marL="58502" marR="58502" marT="0" marB="0"/>
                </a:tc>
                <a:tc>
                  <a:txBody>
                    <a:bodyPr/>
                    <a:lstStyle/>
                    <a:p>
                      <a:r>
                        <a:rPr lang="es-ES" sz="1500">
                          <a:effectLst/>
                        </a:rPr>
                        <a:t>23.970,94 €</a:t>
                      </a:r>
                    </a:p>
                  </a:txBody>
                  <a:tcPr marL="58502" marR="58502" marT="0" marB="0"/>
                </a:tc>
                <a:extLst>
                  <a:ext uri="{0D108BD9-81ED-4DB2-BD59-A6C34878D82A}">
                    <a16:rowId xmlns:a16="http://schemas.microsoft.com/office/drawing/2014/main" val="2450187289"/>
                  </a:ext>
                </a:extLst>
              </a:tr>
              <a:tr h="265209">
                <a:tc>
                  <a:txBody>
                    <a:bodyPr/>
                    <a:lstStyle/>
                    <a:p>
                      <a:r>
                        <a:rPr lang="es-ES" sz="1000">
                          <a:effectLst/>
                        </a:rPr>
                        <a:t>Diseño y Arquitectura del software </a:t>
                      </a:r>
                      <a:endParaRPr lang="es-ES" sz="1500">
                        <a:effectLst/>
                      </a:endParaRPr>
                    </a:p>
                  </a:txBody>
                  <a:tcPr marL="58502" marR="58502" marT="0" marB="0"/>
                </a:tc>
                <a:tc>
                  <a:txBody>
                    <a:bodyPr/>
                    <a:lstStyle/>
                    <a:p>
                      <a:r>
                        <a:rPr lang="es-ES" sz="1500">
                          <a:effectLst/>
                        </a:rPr>
                        <a:t>1.760,00 €</a:t>
                      </a:r>
                    </a:p>
                  </a:txBody>
                  <a:tcPr marL="58502" marR="58502" marT="0" marB="0"/>
                </a:tc>
                <a:tc>
                  <a:txBody>
                    <a:bodyPr/>
                    <a:lstStyle/>
                    <a:p>
                      <a:r>
                        <a:rPr lang="es-ES" sz="1500">
                          <a:effectLst/>
                        </a:rPr>
                        <a:t>6.921,89 €</a:t>
                      </a:r>
                    </a:p>
                  </a:txBody>
                  <a:tcPr marL="58502" marR="58502" marT="0" marB="0"/>
                </a:tc>
                <a:tc>
                  <a:txBody>
                    <a:bodyPr/>
                    <a:lstStyle/>
                    <a:p>
                      <a:r>
                        <a:rPr lang="es-ES" sz="1500">
                          <a:effectLst/>
                        </a:rPr>
                        <a:t>1,00</a:t>
                      </a:r>
                    </a:p>
                  </a:txBody>
                  <a:tcPr marL="58502" marR="58502" marT="0" marB="0"/>
                </a:tc>
                <a:tc>
                  <a:txBody>
                    <a:bodyPr/>
                    <a:lstStyle/>
                    <a:p>
                      <a:r>
                        <a:rPr lang="es-ES" sz="1500">
                          <a:effectLst/>
                        </a:rPr>
                        <a:t>12.978,51 €</a:t>
                      </a:r>
                    </a:p>
                  </a:txBody>
                  <a:tcPr marL="58502" marR="58502" marT="0" marB="0"/>
                </a:tc>
                <a:tc>
                  <a:txBody>
                    <a:bodyPr/>
                    <a:lstStyle/>
                    <a:p>
                      <a:r>
                        <a:rPr lang="es-ES" sz="1500">
                          <a:effectLst/>
                        </a:rPr>
                        <a:t>19.900,40 €</a:t>
                      </a:r>
                    </a:p>
                  </a:txBody>
                  <a:tcPr marL="58502" marR="58502" marT="0" marB="0"/>
                </a:tc>
                <a:extLst>
                  <a:ext uri="{0D108BD9-81ED-4DB2-BD59-A6C34878D82A}">
                    <a16:rowId xmlns:a16="http://schemas.microsoft.com/office/drawing/2014/main" val="2308590038"/>
                  </a:ext>
                </a:extLst>
              </a:tr>
              <a:tr h="499217">
                <a:tc>
                  <a:txBody>
                    <a:bodyPr/>
                    <a:lstStyle/>
                    <a:p>
                      <a:r>
                        <a:rPr lang="es-ES" sz="1000">
                          <a:effectLst/>
                        </a:rPr>
                        <a:t>Desarrollo de los módulos </a:t>
                      </a:r>
                      <a:endParaRPr lang="es-ES" sz="1500">
                        <a:effectLst/>
                      </a:endParaRPr>
                    </a:p>
                  </a:txBody>
                  <a:tcPr marL="58502" marR="58502" marT="0" marB="0"/>
                </a:tc>
                <a:tc>
                  <a:txBody>
                    <a:bodyPr/>
                    <a:lstStyle/>
                    <a:p>
                      <a:r>
                        <a:rPr lang="es-ES" sz="1500">
                          <a:effectLst/>
                        </a:rPr>
                        <a:t>9.262,00 €</a:t>
                      </a:r>
                    </a:p>
                  </a:txBody>
                  <a:tcPr marL="58502" marR="58502" marT="0" marB="0"/>
                </a:tc>
                <a:tc>
                  <a:txBody>
                    <a:bodyPr/>
                    <a:lstStyle/>
                    <a:p>
                      <a:r>
                        <a:rPr lang="es-ES" sz="1500">
                          <a:effectLst/>
                        </a:rPr>
                        <a:t>36.426,46 €</a:t>
                      </a:r>
                    </a:p>
                  </a:txBody>
                  <a:tcPr marL="58502" marR="58502" marT="0" marB="0"/>
                </a:tc>
                <a:tc>
                  <a:txBody>
                    <a:bodyPr/>
                    <a:lstStyle/>
                    <a:p>
                      <a:r>
                        <a:rPr lang="es-ES" sz="1500">
                          <a:effectLst/>
                        </a:rPr>
                        <a:t>1,00</a:t>
                      </a:r>
                    </a:p>
                  </a:txBody>
                  <a:tcPr marL="58502" marR="58502" marT="0" marB="0"/>
                </a:tc>
                <a:tc>
                  <a:txBody>
                    <a:bodyPr/>
                    <a:lstStyle/>
                    <a:p>
                      <a:r>
                        <a:rPr lang="es-ES" sz="1500">
                          <a:effectLst/>
                        </a:rPr>
                        <a:t>68.299,42 €</a:t>
                      </a:r>
                    </a:p>
                  </a:txBody>
                  <a:tcPr marL="58502" marR="58502" marT="0" marB="0"/>
                </a:tc>
                <a:tc>
                  <a:txBody>
                    <a:bodyPr/>
                    <a:lstStyle/>
                    <a:p>
                      <a:r>
                        <a:rPr lang="es-ES" sz="1500">
                          <a:effectLst/>
                        </a:rPr>
                        <a:t>104.725,88 €</a:t>
                      </a:r>
                    </a:p>
                  </a:txBody>
                  <a:tcPr marL="58502" marR="58502" marT="0" marB="0"/>
                </a:tc>
                <a:extLst>
                  <a:ext uri="{0D108BD9-81ED-4DB2-BD59-A6C34878D82A}">
                    <a16:rowId xmlns:a16="http://schemas.microsoft.com/office/drawing/2014/main" val="4273584467"/>
                  </a:ext>
                </a:extLst>
              </a:tr>
              <a:tr h="265209">
                <a:tc>
                  <a:txBody>
                    <a:bodyPr/>
                    <a:lstStyle/>
                    <a:p>
                      <a:r>
                        <a:rPr lang="es-ES" sz="1000">
                          <a:effectLst/>
                        </a:rPr>
                        <a:t>Pruebas y depuración </a:t>
                      </a:r>
                      <a:endParaRPr lang="es-ES" sz="1500">
                        <a:effectLst/>
                      </a:endParaRPr>
                    </a:p>
                  </a:txBody>
                  <a:tcPr marL="58502" marR="58502" marT="0" marB="0"/>
                </a:tc>
                <a:tc>
                  <a:txBody>
                    <a:bodyPr/>
                    <a:lstStyle/>
                    <a:p>
                      <a:r>
                        <a:rPr lang="es-ES" sz="1500">
                          <a:effectLst/>
                        </a:rPr>
                        <a:t>868,00 €</a:t>
                      </a:r>
                    </a:p>
                  </a:txBody>
                  <a:tcPr marL="58502" marR="58502" marT="0" marB="0"/>
                </a:tc>
                <a:tc>
                  <a:txBody>
                    <a:bodyPr/>
                    <a:lstStyle/>
                    <a:p>
                      <a:r>
                        <a:rPr lang="es-ES" sz="1500">
                          <a:effectLst/>
                        </a:rPr>
                        <a:t>3.413,75 €</a:t>
                      </a:r>
                    </a:p>
                  </a:txBody>
                  <a:tcPr marL="58502" marR="58502" marT="0" marB="0"/>
                </a:tc>
                <a:tc>
                  <a:txBody>
                    <a:bodyPr/>
                    <a:lstStyle/>
                    <a:p>
                      <a:r>
                        <a:rPr lang="es-ES" sz="1500">
                          <a:effectLst/>
                        </a:rPr>
                        <a:t>1,00</a:t>
                      </a:r>
                    </a:p>
                  </a:txBody>
                  <a:tcPr marL="58502" marR="58502" marT="0" marB="0"/>
                </a:tc>
                <a:tc>
                  <a:txBody>
                    <a:bodyPr/>
                    <a:lstStyle/>
                    <a:p>
                      <a:r>
                        <a:rPr lang="es-ES" sz="1500">
                          <a:effectLst/>
                        </a:rPr>
                        <a:t>6.400,77 €</a:t>
                      </a:r>
                    </a:p>
                  </a:txBody>
                  <a:tcPr marL="58502" marR="58502" marT="0" marB="0"/>
                </a:tc>
                <a:tc>
                  <a:txBody>
                    <a:bodyPr/>
                    <a:lstStyle/>
                    <a:p>
                      <a:r>
                        <a:rPr lang="es-ES" sz="1500">
                          <a:effectLst/>
                        </a:rPr>
                        <a:t>9.814,52 €</a:t>
                      </a:r>
                    </a:p>
                  </a:txBody>
                  <a:tcPr marL="58502" marR="58502" marT="0" marB="0"/>
                </a:tc>
                <a:extLst>
                  <a:ext uri="{0D108BD9-81ED-4DB2-BD59-A6C34878D82A}">
                    <a16:rowId xmlns:a16="http://schemas.microsoft.com/office/drawing/2014/main" val="3616525133"/>
                  </a:ext>
                </a:extLst>
              </a:tr>
              <a:tr h="265209">
                <a:tc>
                  <a:txBody>
                    <a:bodyPr/>
                    <a:lstStyle/>
                    <a:p>
                      <a:r>
                        <a:rPr lang="es-ES" sz="1000">
                          <a:effectLst/>
                        </a:rPr>
                        <a:t>Documentación del sistema </a:t>
                      </a:r>
                      <a:endParaRPr lang="es-ES" sz="1500">
                        <a:effectLst/>
                      </a:endParaRPr>
                    </a:p>
                  </a:txBody>
                  <a:tcPr marL="58502" marR="58502" marT="0" marB="0"/>
                </a:tc>
                <a:tc>
                  <a:txBody>
                    <a:bodyPr/>
                    <a:lstStyle/>
                    <a:p>
                      <a:r>
                        <a:rPr lang="es-ES" sz="1500">
                          <a:effectLst/>
                        </a:rPr>
                        <a:t>2.102,00 €</a:t>
                      </a:r>
                    </a:p>
                  </a:txBody>
                  <a:tcPr marL="58502" marR="58502" marT="0" marB="0"/>
                </a:tc>
                <a:tc>
                  <a:txBody>
                    <a:bodyPr/>
                    <a:lstStyle/>
                    <a:p>
                      <a:r>
                        <a:rPr lang="es-ES" sz="1500">
                          <a:effectLst/>
                        </a:rPr>
                        <a:t>8.266,94 €</a:t>
                      </a:r>
                    </a:p>
                  </a:txBody>
                  <a:tcPr marL="58502" marR="58502" marT="0" marB="0"/>
                </a:tc>
                <a:tc>
                  <a:txBody>
                    <a:bodyPr/>
                    <a:lstStyle/>
                    <a:p>
                      <a:r>
                        <a:rPr lang="es-ES" sz="1500">
                          <a:effectLst/>
                        </a:rPr>
                        <a:t>1,00</a:t>
                      </a:r>
                    </a:p>
                  </a:txBody>
                  <a:tcPr marL="58502" marR="58502" marT="0" marB="0"/>
                </a:tc>
                <a:tc>
                  <a:txBody>
                    <a:bodyPr/>
                    <a:lstStyle/>
                    <a:p>
                      <a:r>
                        <a:rPr lang="es-ES" sz="1500">
                          <a:effectLst/>
                        </a:rPr>
                        <a:t>15.500,47 €</a:t>
                      </a:r>
                    </a:p>
                  </a:txBody>
                  <a:tcPr marL="58502" marR="58502" marT="0" marB="0"/>
                </a:tc>
                <a:tc>
                  <a:txBody>
                    <a:bodyPr/>
                    <a:lstStyle/>
                    <a:p>
                      <a:r>
                        <a:rPr lang="es-ES" sz="1500">
                          <a:effectLst/>
                        </a:rPr>
                        <a:t>23.767,41 €</a:t>
                      </a:r>
                    </a:p>
                  </a:txBody>
                  <a:tcPr marL="58502" marR="58502" marT="0" marB="0"/>
                </a:tc>
                <a:extLst>
                  <a:ext uri="{0D108BD9-81ED-4DB2-BD59-A6C34878D82A}">
                    <a16:rowId xmlns:a16="http://schemas.microsoft.com/office/drawing/2014/main" val="1844379321"/>
                  </a:ext>
                </a:extLst>
              </a:tr>
              <a:tr h="265209">
                <a:tc>
                  <a:txBody>
                    <a:bodyPr/>
                    <a:lstStyle/>
                    <a:p>
                      <a:r>
                        <a:rPr lang="es-ES" sz="1000">
                          <a:effectLst/>
                        </a:rPr>
                        <a:t>Formación del personal </a:t>
                      </a:r>
                      <a:endParaRPr lang="es-ES" sz="1500">
                        <a:effectLst/>
                      </a:endParaRPr>
                    </a:p>
                  </a:txBody>
                  <a:tcPr marL="58502" marR="58502" marT="0" marB="0"/>
                </a:tc>
                <a:tc>
                  <a:txBody>
                    <a:bodyPr/>
                    <a:lstStyle/>
                    <a:p>
                      <a:r>
                        <a:rPr lang="es-ES" sz="1500">
                          <a:effectLst/>
                        </a:rPr>
                        <a:t>8.720,00 €</a:t>
                      </a:r>
                    </a:p>
                  </a:txBody>
                  <a:tcPr marL="58502" marR="58502" marT="0" marB="0"/>
                </a:tc>
                <a:tc>
                  <a:txBody>
                    <a:bodyPr/>
                    <a:lstStyle/>
                    <a:p>
                      <a:r>
                        <a:rPr lang="es-ES" sz="1500">
                          <a:effectLst/>
                        </a:rPr>
                        <a:t>34.294,83 €</a:t>
                      </a:r>
                    </a:p>
                  </a:txBody>
                  <a:tcPr marL="58502" marR="58502" marT="0" marB="0"/>
                </a:tc>
                <a:tc>
                  <a:txBody>
                    <a:bodyPr/>
                    <a:lstStyle/>
                    <a:p>
                      <a:r>
                        <a:rPr lang="es-ES" sz="1500">
                          <a:effectLst/>
                        </a:rPr>
                        <a:t>1,00</a:t>
                      </a:r>
                    </a:p>
                  </a:txBody>
                  <a:tcPr marL="58502" marR="58502" marT="0" marB="0"/>
                </a:tc>
                <a:tc>
                  <a:txBody>
                    <a:bodyPr/>
                    <a:lstStyle/>
                    <a:p>
                      <a:r>
                        <a:rPr lang="es-ES" sz="1500">
                          <a:effectLst/>
                        </a:rPr>
                        <a:t>64.302,63 €</a:t>
                      </a:r>
                    </a:p>
                  </a:txBody>
                  <a:tcPr marL="58502" marR="58502" marT="0" marB="0"/>
                </a:tc>
                <a:tc>
                  <a:txBody>
                    <a:bodyPr/>
                    <a:lstStyle/>
                    <a:p>
                      <a:r>
                        <a:rPr lang="es-ES" sz="1500">
                          <a:effectLst/>
                        </a:rPr>
                        <a:t>98.597,46 €</a:t>
                      </a:r>
                    </a:p>
                  </a:txBody>
                  <a:tcPr marL="58502" marR="58502" marT="0" marB="0"/>
                </a:tc>
                <a:extLst>
                  <a:ext uri="{0D108BD9-81ED-4DB2-BD59-A6C34878D82A}">
                    <a16:rowId xmlns:a16="http://schemas.microsoft.com/office/drawing/2014/main" val="248653754"/>
                  </a:ext>
                </a:extLst>
              </a:tr>
              <a:tr h="265209">
                <a:tc>
                  <a:txBody>
                    <a:bodyPr/>
                    <a:lstStyle/>
                    <a:p>
                      <a:r>
                        <a:rPr lang="es-ES" sz="1000">
                          <a:effectLst/>
                        </a:rPr>
                        <a:t>Cierre del proyecto </a:t>
                      </a:r>
                      <a:endParaRPr lang="es-ES" sz="1500">
                        <a:effectLst/>
                      </a:endParaRPr>
                    </a:p>
                  </a:txBody>
                  <a:tcPr marL="58502" marR="58502" marT="0" marB="0"/>
                </a:tc>
                <a:tc>
                  <a:txBody>
                    <a:bodyPr/>
                    <a:lstStyle/>
                    <a:p>
                      <a:r>
                        <a:rPr lang="es-ES" sz="1500">
                          <a:effectLst/>
                        </a:rPr>
                        <a:t>420,00 €</a:t>
                      </a:r>
                    </a:p>
                  </a:txBody>
                  <a:tcPr marL="58502" marR="58502" marT="0" marB="0"/>
                </a:tc>
                <a:tc>
                  <a:txBody>
                    <a:bodyPr/>
                    <a:lstStyle/>
                    <a:p>
                      <a:r>
                        <a:rPr lang="es-ES" sz="1500">
                          <a:effectLst/>
                        </a:rPr>
                        <a:t>1.651,82 €</a:t>
                      </a:r>
                    </a:p>
                  </a:txBody>
                  <a:tcPr marL="58502" marR="58502" marT="0" marB="0"/>
                </a:tc>
                <a:tc>
                  <a:txBody>
                    <a:bodyPr/>
                    <a:lstStyle/>
                    <a:p>
                      <a:r>
                        <a:rPr lang="es-ES" sz="1500">
                          <a:effectLst/>
                        </a:rPr>
                        <a:t>1,00</a:t>
                      </a:r>
                    </a:p>
                  </a:txBody>
                  <a:tcPr marL="58502" marR="58502" marT="0" marB="0"/>
                </a:tc>
                <a:tc>
                  <a:txBody>
                    <a:bodyPr/>
                    <a:lstStyle/>
                    <a:p>
                      <a:r>
                        <a:rPr lang="es-ES" sz="1500">
                          <a:effectLst/>
                        </a:rPr>
                        <a:t>3.097,14 €</a:t>
                      </a:r>
                    </a:p>
                  </a:txBody>
                  <a:tcPr marL="58502" marR="58502" marT="0" marB="0"/>
                </a:tc>
                <a:tc>
                  <a:txBody>
                    <a:bodyPr/>
                    <a:lstStyle/>
                    <a:p>
                      <a:r>
                        <a:rPr lang="es-ES" sz="1500">
                          <a:effectLst/>
                        </a:rPr>
                        <a:t>4.748,96 €</a:t>
                      </a:r>
                    </a:p>
                  </a:txBody>
                  <a:tcPr marL="58502" marR="58502" marT="0" marB="0"/>
                </a:tc>
                <a:extLst>
                  <a:ext uri="{0D108BD9-81ED-4DB2-BD59-A6C34878D82A}">
                    <a16:rowId xmlns:a16="http://schemas.microsoft.com/office/drawing/2014/main" val="2101646137"/>
                  </a:ext>
                </a:extLst>
              </a:tr>
              <a:tr h="265209">
                <a:tc>
                  <a:txBody>
                    <a:bodyPr/>
                    <a:lstStyle/>
                    <a:p>
                      <a:r>
                        <a:rPr lang="es-ES" sz="1000">
                          <a:effectLst/>
                        </a:rPr>
                        <a:t>Adquisición del hardware </a:t>
                      </a:r>
                      <a:endParaRPr lang="es-ES" sz="1500">
                        <a:effectLst/>
                      </a:endParaRPr>
                    </a:p>
                  </a:txBody>
                  <a:tcPr marL="58502" marR="58502" marT="0" marB="0"/>
                </a:tc>
                <a:tc>
                  <a:txBody>
                    <a:bodyPr/>
                    <a:lstStyle/>
                    <a:p>
                      <a:r>
                        <a:rPr lang="es-ES" sz="1500">
                          <a:effectLst/>
                        </a:rPr>
                        <a:t>840,00 €</a:t>
                      </a:r>
                    </a:p>
                  </a:txBody>
                  <a:tcPr marL="58502" marR="58502" marT="0" marB="0"/>
                </a:tc>
                <a:tc>
                  <a:txBody>
                    <a:bodyPr/>
                    <a:lstStyle/>
                    <a:p>
                      <a:r>
                        <a:rPr lang="es-ES" sz="1500">
                          <a:effectLst/>
                        </a:rPr>
                        <a:t>3.303,63 €</a:t>
                      </a:r>
                    </a:p>
                  </a:txBody>
                  <a:tcPr marL="58502" marR="58502" marT="0" marB="0"/>
                </a:tc>
                <a:tc>
                  <a:txBody>
                    <a:bodyPr/>
                    <a:lstStyle/>
                    <a:p>
                      <a:r>
                        <a:rPr lang="es-ES" sz="1500">
                          <a:effectLst/>
                        </a:rPr>
                        <a:t>1,00</a:t>
                      </a:r>
                    </a:p>
                  </a:txBody>
                  <a:tcPr marL="58502" marR="58502" marT="0" marB="0"/>
                </a:tc>
                <a:tc>
                  <a:txBody>
                    <a:bodyPr/>
                    <a:lstStyle/>
                    <a:p>
                      <a:r>
                        <a:rPr lang="es-ES" sz="1500">
                          <a:effectLst/>
                        </a:rPr>
                        <a:t>6.194,29 €</a:t>
                      </a:r>
                    </a:p>
                  </a:txBody>
                  <a:tcPr marL="58502" marR="58502" marT="0" marB="0"/>
                </a:tc>
                <a:tc>
                  <a:txBody>
                    <a:bodyPr/>
                    <a:lstStyle/>
                    <a:p>
                      <a:r>
                        <a:rPr lang="es-ES" sz="1500">
                          <a:effectLst/>
                        </a:rPr>
                        <a:t>9.497,92 €</a:t>
                      </a:r>
                    </a:p>
                  </a:txBody>
                  <a:tcPr marL="58502" marR="58502" marT="0" marB="0"/>
                </a:tc>
                <a:extLst>
                  <a:ext uri="{0D108BD9-81ED-4DB2-BD59-A6C34878D82A}">
                    <a16:rowId xmlns:a16="http://schemas.microsoft.com/office/drawing/2014/main" val="2823122423"/>
                  </a:ext>
                </a:extLst>
              </a:tr>
              <a:tr h="499217">
                <a:tc>
                  <a:txBody>
                    <a:bodyPr/>
                    <a:lstStyle/>
                    <a:p>
                      <a:r>
                        <a:rPr lang="es-ES" sz="1500">
                          <a:effectLst/>
                        </a:rPr>
                        <a:t>Total</a:t>
                      </a:r>
                    </a:p>
                  </a:txBody>
                  <a:tcPr marL="58502" marR="58502" marT="0" marB="0"/>
                </a:tc>
                <a:tc>
                  <a:txBody>
                    <a:bodyPr/>
                    <a:lstStyle/>
                    <a:p>
                      <a:r>
                        <a:rPr lang="es-ES" sz="1500">
                          <a:effectLst/>
                        </a:rPr>
                        <a:t>183.043,64 €</a:t>
                      </a:r>
                    </a:p>
                  </a:txBody>
                  <a:tcPr marL="58502" marR="58502" marT="0" marB="0"/>
                </a:tc>
                <a:tc>
                  <a:txBody>
                    <a:bodyPr/>
                    <a:lstStyle/>
                    <a:p>
                      <a:r>
                        <a:rPr lang="es-ES" sz="1500">
                          <a:effectLst/>
                        </a:rPr>
                        <a:t>271.511,44 €</a:t>
                      </a:r>
                    </a:p>
                  </a:txBody>
                  <a:tcPr marL="58502" marR="58502" marT="0" marB="0"/>
                </a:tc>
                <a:tc>
                  <a:txBody>
                    <a:bodyPr/>
                    <a:lstStyle/>
                    <a:p>
                      <a:r>
                        <a:rPr lang="es-ES" sz="1500">
                          <a:effectLst/>
                        </a:rPr>
                        <a:t> </a:t>
                      </a:r>
                    </a:p>
                  </a:txBody>
                  <a:tcPr marL="58502" marR="58502" marT="0" marB="0"/>
                </a:tc>
                <a:tc>
                  <a:txBody>
                    <a:bodyPr/>
                    <a:lstStyle/>
                    <a:p>
                      <a:r>
                        <a:rPr lang="es-ES" sz="1500">
                          <a:effectLst/>
                        </a:rPr>
                        <a:t>222.433,99 €</a:t>
                      </a:r>
                    </a:p>
                  </a:txBody>
                  <a:tcPr marL="58502" marR="58502" marT="0" marB="0"/>
                </a:tc>
                <a:tc>
                  <a:txBody>
                    <a:bodyPr/>
                    <a:lstStyle/>
                    <a:p>
                      <a:r>
                        <a:rPr lang="es-ES" sz="1500">
                          <a:effectLst/>
                        </a:rPr>
                        <a:t>493.945,43 €</a:t>
                      </a:r>
                    </a:p>
                  </a:txBody>
                  <a:tcPr marL="58502" marR="58502" marT="0" marB="0"/>
                </a:tc>
                <a:extLst>
                  <a:ext uri="{0D108BD9-81ED-4DB2-BD59-A6C34878D82A}">
                    <a16:rowId xmlns:a16="http://schemas.microsoft.com/office/drawing/2014/main" val="3263654467"/>
                  </a:ext>
                </a:extLst>
              </a:tr>
            </a:tbl>
          </a:graphicData>
        </a:graphic>
      </p:graphicFrame>
    </p:spTree>
    <p:extLst>
      <p:ext uri="{BB962C8B-B14F-4D97-AF65-F5344CB8AC3E}">
        <p14:creationId xmlns:p14="http://schemas.microsoft.com/office/powerpoint/2010/main" val="11947113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B7F9390-E82D-36F6-C726-EABA29F13271}"/>
              </a:ext>
            </a:extLst>
          </p:cNvPr>
          <p:cNvSpPr>
            <a:spLocks noGrp="1"/>
          </p:cNvSpPr>
          <p:nvPr>
            <p:ph type="title"/>
          </p:nvPr>
        </p:nvSpPr>
        <p:spPr/>
        <p:txBody>
          <a:bodyPr/>
          <a:lstStyle/>
          <a:p>
            <a:r>
              <a:rPr lang="es-ES"/>
              <a:t>Reserva del cronograma y otros costes</a:t>
            </a:r>
          </a:p>
        </p:txBody>
      </p:sp>
      <p:pic>
        <p:nvPicPr>
          <p:cNvPr id="10" name="Marcador de contenido 9">
            <a:extLst>
              <a:ext uri="{FF2B5EF4-FFF2-40B4-BE49-F238E27FC236}">
                <a16:creationId xmlns:a16="http://schemas.microsoft.com/office/drawing/2014/main" id="{72CF65B8-9537-01F5-CFCF-8141189BAACD}"/>
              </a:ext>
            </a:extLst>
          </p:cNvPr>
          <p:cNvPicPr>
            <a:picLocks noGrp="1" noChangeAspect="1"/>
          </p:cNvPicPr>
          <p:nvPr>
            <p:ph idx="1"/>
          </p:nvPr>
        </p:nvPicPr>
        <p:blipFill>
          <a:blip r:embed="rId3"/>
          <a:stretch>
            <a:fillRect/>
          </a:stretch>
        </p:blipFill>
        <p:spPr>
          <a:xfrm>
            <a:off x="2017745" y="1486868"/>
            <a:ext cx="8156510" cy="1822883"/>
          </a:xfrm>
        </p:spPr>
      </p:pic>
      <p:pic>
        <p:nvPicPr>
          <p:cNvPr id="12" name="Imagen 11">
            <a:extLst>
              <a:ext uri="{FF2B5EF4-FFF2-40B4-BE49-F238E27FC236}">
                <a16:creationId xmlns:a16="http://schemas.microsoft.com/office/drawing/2014/main" id="{7E040EE2-8762-0F5B-3FE0-4E71573127DD}"/>
              </a:ext>
            </a:extLst>
          </p:cNvPr>
          <p:cNvPicPr>
            <a:picLocks noChangeAspect="1"/>
          </p:cNvPicPr>
          <p:nvPr/>
        </p:nvPicPr>
        <p:blipFill>
          <a:blip r:embed="rId4"/>
          <a:stretch>
            <a:fillRect/>
          </a:stretch>
        </p:blipFill>
        <p:spPr>
          <a:xfrm>
            <a:off x="2951632" y="3395603"/>
            <a:ext cx="6288736" cy="3097272"/>
          </a:xfrm>
          <a:prstGeom prst="rect">
            <a:avLst/>
          </a:prstGeom>
        </p:spPr>
      </p:pic>
    </p:spTree>
    <p:extLst>
      <p:ext uri="{BB962C8B-B14F-4D97-AF65-F5344CB8AC3E}">
        <p14:creationId xmlns:p14="http://schemas.microsoft.com/office/powerpoint/2010/main" val="38903958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92D9E44-FACA-C441-041A-A756D0E4796A}"/>
              </a:ext>
            </a:extLst>
          </p:cNvPr>
          <p:cNvSpPr>
            <a:spLocks noGrp="1"/>
          </p:cNvSpPr>
          <p:nvPr>
            <p:ph type="title"/>
          </p:nvPr>
        </p:nvSpPr>
        <p:spPr/>
        <p:txBody>
          <a:bodyPr>
            <a:normAutofit/>
          </a:bodyPr>
          <a:lstStyle/>
          <a:p>
            <a:r>
              <a:rPr lang="es-ES">
                <a:solidFill>
                  <a:srgbClr val="000000"/>
                </a:solidFill>
                <a:latin typeface="Calibri Light"/>
                <a:cs typeface="Calibri Light"/>
              </a:rPr>
              <a:t>Presupuesto del Proyecto (Cliente)</a:t>
            </a:r>
            <a:endParaRPr lang="es-ES"/>
          </a:p>
        </p:txBody>
      </p:sp>
      <p:graphicFrame>
        <p:nvGraphicFramePr>
          <p:cNvPr id="4" name="Marcador de contenido 3">
            <a:extLst>
              <a:ext uri="{FF2B5EF4-FFF2-40B4-BE49-F238E27FC236}">
                <a16:creationId xmlns:a16="http://schemas.microsoft.com/office/drawing/2014/main" id="{E93097BD-20F5-77B9-B207-ACD3447C48D2}"/>
              </a:ext>
            </a:extLst>
          </p:cNvPr>
          <p:cNvGraphicFramePr>
            <a:graphicFrameLocks noGrp="1"/>
          </p:cNvGraphicFramePr>
          <p:nvPr>
            <p:ph idx="1"/>
            <p:extLst>
              <p:ext uri="{D42A27DB-BD31-4B8C-83A1-F6EECF244321}">
                <p14:modId xmlns:p14="http://schemas.microsoft.com/office/powerpoint/2010/main" val="2871226750"/>
              </p:ext>
            </p:extLst>
          </p:nvPr>
        </p:nvGraphicFramePr>
        <p:xfrm>
          <a:off x="838200" y="1825625"/>
          <a:ext cx="10515599" cy="3291840"/>
        </p:xfrm>
        <a:graphic>
          <a:graphicData uri="http://schemas.openxmlformats.org/drawingml/2006/table">
            <a:tbl>
              <a:tblPr firstRow="1" firstCol="1" bandRow="1">
                <a:tableStyleId>{5C22544A-7EE6-4342-B048-85BDC9FD1C3A}</a:tableStyleId>
              </a:tblPr>
              <a:tblGrid>
                <a:gridCol w="5501070">
                  <a:extLst>
                    <a:ext uri="{9D8B030D-6E8A-4147-A177-3AD203B41FA5}">
                      <a16:colId xmlns:a16="http://schemas.microsoft.com/office/drawing/2014/main" val="3228035108"/>
                    </a:ext>
                  </a:extLst>
                </a:gridCol>
                <a:gridCol w="5014529">
                  <a:extLst>
                    <a:ext uri="{9D8B030D-6E8A-4147-A177-3AD203B41FA5}">
                      <a16:colId xmlns:a16="http://schemas.microsoft.com/office/drawing/2014/main" val="2489923725"/>
                    </a:ext>
                  </a:extLst>
                </a:gridCol>
              </a:tblGrid>
              <a:tr h="190500">
                <a:tc>
                  <a:txBody>
                    <a:bodyPr/>
                    <a:lstStyle/>
                    <a:p>
                      <a:pPr algn="ctr"/>
                      <a:r>
                        <a:rPr lang="es-ES">
                          <a:effectLst/>
                        </a:rPr>
                        <a:t>Descripción</a:t>
                      </a:r>
                    </a:p>
                  </a:txBody>
                  <a:tcPr marL="68580" marR="68580" marT="0" marB="0"/>
                </a:tc>
                <a:tc>
                  <a:txBody>
                    <a:bodyPr/>
                    <a:lstStyle/>
                    <a:p>
                      <a:pPr algn="ctr"/>
                      <a:r>
                        <a:rPr lang="es-ES">
                          <a:effectLst/>
                        </a:rPr>
                        <a:t>Importe</a:t>
                      </a:r>
                    </a:p>
                  </a:txBody>
                  <a:tcPr marL="68580" marR="68580" marT="0" marB="0"/>
                </a:tc>
                <a:extLst>
                  <a:ext uri="{0D108BD9-81ED-4DB2-BD59-A6C34878D82A}">
                    <a16:rowId xmlns:a16="http://schemas.microsoft.com/office/drawing/2014/main" val="2893431906"/>
                  </a:ext>
                </a:extLst>
              </a:tr>
              <a:tr h="190500">
                <a:tc>
                  <a:txBody>
                    <a:bodyPr/>
                    <a:lstStyle/>
                    <a:p>
                      <a:r>
                        <a:rPr lang="es-ES">
                          <a:effectLst/>
                        </a:rPr>
                        <a:t>Hardware</a:t>
                      </a:r>
                    </a:p>
                  </a:txBody>
                  <a:tcPr marL="68580" marR="68580" marT="0" marB="0"/>
                </a:tc>
                <a:tc>
                  <a:txBody>
                    <a:bodyPr/>
                    <a:lstStyle/>
                    <a:p>
                      <a:pPr algn="r"/>
                      <a:r>
                        <a:rPr lang="es-ES">
                          <a:effectLst/>
                        </a:rPr>
                        <a:t>152.879,64 €</a:t>
                      </a:r>
                    </a:p>
                  </a:txBody>
                  <a:tcPr marL="68580" marR="68580" marT="0" marB="0"/>
                </a:tc>
                <a:extLst>
                  <a:ext uri="{0D108BD9-81ED-4DB2-BD59-A6C34878D82A}">
                    <a16:rowId xmlns:a16="http://schemas.microsoft.com/office/drawing/2014/main" val="1376530724"/>
                  </a:ext>
                </a:extLst>
              </a:tr>
              <a:tr h="190500">
                <a:tc>
                  <a:txBody>
                    <a:bodyPr/>
                    <a:lstStyle/>
                    <a:p>
                      <a:r>
                        <a:rPr lang="es-ES">
                          <a:effectLst/>
                        </a:rPr>
                        <a:t>Desarrollo del módulo de logística</a:t>
                      </a:r>
                    </a:p>
                  </a:txBody>
                  <a:tcPr marL="68580" marR="68580" marT="0" marB="0"/>
                </a:tc>
                <a:tc>
                  <a:txBody>
                    <a:bodyPr/>
                    <a:lstStyle/>
                    <a:p>
                      <a:pPr algn="r"/>
                      <a:r>
                        <a:rPr lang="es-ES">
                          <a:effectLst/>
                        </a:rPr>
                        <a:t>20.545,26 €</a:t>
                      </a:r>
                    </a:p>
                  </a:txBody>
                  <a:tcPr marL="68580" marR="68580" marT="0" marB="0"/>
                </a:tc>
                <a:extLst>
                  <a:ext uri="{0D108BD9-81ED-4DB2-BD59-A6C34878D82A}">
                    <a16:rowId xmlns:a16="http://schemas.microsoft.com/office/drawing/2014/main" val="1139628918"/>
                  </a:ext>
                </a:extLst>
              </a:tr>
              <a:tr h="190500">
                <a:tc>
                  <a:txBody>
                    <a:bodyPr/>
                    <a:lstStyle/>
                    <a:p>
                      <a:r>
                        <a:rPr lang="es-ES">
                          <a:effectLst/>
                        </a:rPr>
                        <a:t>Desarrollo del módulo de gestión de almacén</a:t>
                      </a:r>
                    </a:p>
                  </a:txBody>
                  <a:tcPr marL="68580" marR="68580" marT="0" marB="0"/>
                </a:tc>
                <a:tc>
                  <a:txBody>
                    <a:bodyPr/>
                    <a:lstStyle/>
                    <a:p>
                      <a:pPr algn="r"/>
                      <a:r>
                        <a:rPr lang="es-ES">
                          <a:effectLst/>
                        </a:rPr>
                        <a:t>13.251,69 €</a:t>
                      </a:r>
                    </a:p>
                  </a:txBody>
                  <a:tcPr marL="68580" marR="68580" marT="0" marB="0"/>
                </a:tc>
                <a:extLst>
                  <a:ext uri="{0D108BD9-81ED-4DB2-BD59-A6C34878D82A}">
                    <a16:rowId xmlns:a16="http://schemas.microsoft.com/office/drawing/2014/main" val="3907054186"/>
                  </a:ext>
                </a:extLst>
              </a:tr>
              <a:tr h="190500">
                <a:tc>
                  <a:txBody>
                    <a:bodyPr/>
                    <a:lstStyle/>
                    <a:p>
                      <a:r>
                        <a:rPr lang="es-ES">
                          <a:effectLst/>
                        </a:rPr>
                        <a:t>Desarrollo del módulo de suministro</a:t>
                      </a:r>
                    </a:p>
                  </a:txBody>
                  <a:tcPr marL="68580" marR="68580" marT="0" marB="0"/>
                </a:tc>
                <a:tc>
                  <a:txBody>
                    <a:bodyPr/>
                    <a:lstStyle/>
                    <a:p>
                      <a:pPr algn="r"/>
                      <a:r>
                        <a:rPr lang="es-ES">
                          <a:effectLst/>
                        </a:rPr>
                        <a:t>15.460,31 €</a:t>
                      </a:r>
                    </a:p>
                  </a:txBody>
                  <a:tcPr marL="68580" marR="68580" marT="0" marB="0"/>
                </a:tc>
                <a:extLst>
                  <a:ext uri="{0D108BD9-81ED-4DB2-BD59-A6C34878D82A}">
                    <a16:rowId xmlns:a16="http://schemas.microsoft.com/office/drawing/2014/main" val="2540319523"/>
                  </a:ext>
                </a:extLst>
              </a:tr>
              <a:tr h="190500">
                <a:tc>
                  <a:txBody>
                    <a:bodyPr/>
                    <a:lstStyle/>
                    <a:p>
                      <a:r>
                        <a:rPr lang="es-ES">
                          <a:effectLst/>
                        </a:rPr>
                        <a:t>Desarrollo del módulo de Gestión de Usuarios</a:t>
                      </a:r>
                    </a:p>
                  </a:txBody>
                  <a:tcPr marL="68580" marR="68580" marT="0" marB="0"/>
                </a:tc>
                <a:tc>
                  <a:txBody>
                    <a:bodyPr/>
                    <a:lstStyle/>
                    <a:p>
                      <a:pPr algn="r"/>
                      <a:r>
                        <a:rPr lang="es-ES">
                          <a:effectLst/>
                        </a:rPr>
                        <a:t>20.613,75 €</a:t>
                      </a:r>
                    </a:p>
                  </a:txBody>
                  <a:tcPr marL="68580" marR="68580" marT="0" marB="0"/>
                </a:tc>
                <a:extLst>
                  <a:ext uri="{0D108BD9-81ED-4DB2-BD59-A6C34878D82A}">
                    <a16:rowId xmlns:a16="http://schemas.microsoft.com/office/drawing/2014/main" val="1062549279"/>
                  </a:ext>
                </a:extLst>
              </a:tr>
              <a:tr h="190500">
                <a:tc>
                  <a:txBody>
                    <a:bodyPr/>
                    <a:lstStyle/>
                    <a:p>
                      <a:r>
                        <a:rPr lang="es-ES">
                          <a:effectLst/>
                        </a:rPr>
                        <a:t>Desarrollo de los módulos de soporte y control de infraestructura</a:t>
                      </a:r>
                    </a:p>
                  </a:txBody>
                  <a:tcPr marL="68580" marR="68580" marT="0" marB="0"/>
                </a:tc>
                <a:tc>
                  <a:txBody>
                    <a:bodyPr/>
                    <a:lstStyle/>
                    <a:p>
                      <a:pPr algn="r"/>
                      <a:r>
                        <a:rPr lang="es-ES">
                          <a:effectLst/>
                        </a:rPr>
                        <a:t>46.175,48 €</a:t>
                      </a:r>
                    </a:p>
                  </a:txBody>
                  <a:tcPr marL="68580" marR="68580" marT="0" marB="0"/>
                </a:tc>
                <a:extLst>
                  <a:ext uri="{0D108BD9-81ED-4DB2-BD59-A6C34878D82A}">
                    <a16:rowId xmlns:a16="http://schemas.microsoft.com/office/drawing/2014/main" val="1113540940"/>
                  </a:ext>
                </a:extLst>
              </a:tr>
              <a:tr h="190500">
                <a:tc>
                  <a:txBody>
                    <a:bodyPr/>
                    <a:lstStyle/>
                    <a:p>
                      <a:r>
                        <a:rPr lang="es-ES">
                          <a:effectLst/>
                        </a:rPr>
                        <a:t>Desarrollo del módulo de comercio electrónico</a:t>
                      </a:r>
                    </a:p>
                  </a:txBody>
                  <a:tcPr marL="68580" marR="68580" marT="0" marB="0"/>
                </a:tc>
                <a:tc>
                  <a:txBody>
                    <a:bodyPr/>
                    <a:lstStyle/>
                    <a:p>
                      <a:pPr algn="r"/>
                      <a:r>
                        <a:rPr lang="es-ES">
                          <a:effectLst/>
                        </a:rPr>
                        <a:t>94.234,27 €</a:t>
                      </a:r>
                    </a:p>
                  </a:txBody>
                  <a:tcPr marL="68580" marR="68580" marT="0" marB="0"/>
                </a:tc>
                <a:extLst>
                  <a:ext uri="{0D108BD9-81ED-4DB2-BD59-A6C34878D82A}">
                    <a16:rowId xmlns:a16="http://schemas.microsoft.com/office/drawing/2014/main" val="11074858"/>
                  </a:ext>
                </a:extLst>
              </a:tr>
              <a:tr h="190500">
                <a:tc>
                  <a:txBody>
                    <a:bodyPr/>
                    <a:lstStyle/>
                    <a:p>
                      <a:r>
                        <a:rPr lang="es-ES">
                          <a:effectLst/>
                        </a:rPr>
                        <a:t>Desarrollo de aplicaciones web de usuario</a:t>
                      </a:r>
                    </a:p>
                  </a:txBody>
                  <a:tcPr marL="68580" marR="68580" marT="0" marB="0"/>
                </a:tc>
                <a:tc>
                  <a:txBody>
                    <a:bodyPr/>
                    <a:lstStyle/>
                    <a:p>
                      <a:pPr algn="r"/>
                      <a:r>
                        <a:rPr lang="es-ES">
                          <a:effectLst/>
                        </a:rPr>
                        <a:t>32.187,58 €</a:t>
                      </a:r>
                    </a:p>
                  </a:txBody>
                  <a:tcPr marL="68580" marR="68580" marT="0" marB="0"/>
                </a:tc>
                <a:extLst>
                  <a:ext uri="{0D108BD9-81ED-4DB2-BD59-A6C34878D82A}">
                    <a16:rowId xmlns:a16="http://schemas.microsoft.com/office/drawing/2014/main" val="3269956621"/>
                  </a:ext>
                </a:extLst>
              </a:tr>
              <a:tr h="190500">
                <a:tc>
                  <a:txBody>
                    <a:bodyPr/>
                    <a:lstStyle/>
                    <a:p>
                      <a:r>
                        <a:rPr lang="es-ES">
                          <a:effectLst/>
                        </a:rPr>
                        <a:t>Formación</a:t>
                      </a:r>
                    </a:p>
                  </a:txBody>
                  <a:tcPr marL="68580" marR="68580" marT="0" marB="0"/>
                </a:tc>
                <a:tc>
                  <a:txBody>
                    <a:bodyPr/>
                    <a:lstStyle/>
                    <a:p>
                      <a:pPr algn="r"/>
                      <a:r>
                        <a:rPr lang="es-ES">
                          <a:effectLst/>
                        </a:rPr>
                        <a:t>98.597,46 €</a:t>
                      </a:r>
                    </a:p>
                  </a:txBody>
                  <a:tcPr marL="68580" marR="68580" marT="0" marB="0"/>
                </a:tc>
                <a:extLst>
                  <a:ext uri="{0D108BD9-81ED-4DB2-BD59-A6C34878D82A}">
                    <a16:rowId xmlns:a16="http://schemas.microsoft.com/office/drawing/2014/main" val="3483537204"/>
                  </a:ext>
                </a:extLst>
              </a:tr>
              <a:tr h="190500">
                <a:tc>
                  <a:txBody>
                    <a:bodyPr/>
                    <a:lstStyle/>
                    <a:p>
                      <a:r>
                        <a:rPr lang="es-ES">
                          <a:effectLst/>
                        </a:rPr>
                        <a:t>TOTAL</a:t>
                      </a:r>
                    </a:p>
                  </a:txBody>
                  <a:tcPr marL="68580" marR="68580" marT="0" marB="0"/>
                </a:tc>
                <a:tc>
                  <a:txBody>
                    <a:bodyPr/>
                    <a:lstStyle/>
                    <a:p>
                      <a:pPr algn="r"/>
                      <a:r>
                        <a:rPr lang="es-ES">
                          <a:effectLst/>
                        </a:rPr>
                        <a:t>493.945,43 €</a:t>
                      </a:r>
                    </a:p>
                  </a:txBody>
                  <a:tcPr marL="68580" marR="68580" marT="0" marB="0"/>
                </a:tc>
                <a:extLst>
                  <a:ext uri="{0D108BD9-81ED-4DB2-BD59-A6C34878D82A}">
                    <a16:rowId xmlns:a16="http://schemas.microsoft.com/office/drawing/2014/main" val="2047683926"/>
                  </a:ext>
                </a:extLst>
              </a:tr>
            </a:tbl>
          </a:graphicData>
        </a:graphic>
      </p:graphicFrame>
      <p:sp>
        <p:nvSpPr>
          <p:cNvPr id="6" name="CuadroTexto 5">
            <a:extLst>
              <a:ext uri="{FF2B5EF4-FFF2-40B4-BE49-F238E27FC236}">
                <a16:creationId xmlns:a16="http://schemas.microsoft.com/office/drawing/2014/main" id="{808F9601-51FC-34AE-CC33-4604D90F0775}"/>
              </a:ext>
            </a:extLst>
          </p:cNvPr>
          <p:cNvSpPr txBox="1"/>
          <p:nvPr/>
        </p:nvSpPr>
        <p:spPr>
          <a:xfrm>
            <a:off x="4724400" y="3200400"/>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s-ES"/>
          </a:p>
        </p:txBody>
      </p:sp>
    </p:spTree>
    <p:extLst>
      <p:ext uri="{BB962C8B-B14F-4D97-AF65-F5344CB8AC3E}">
        <p14:creationId xmlns:p14="http://schemas.microsoft.com/office/powerpoint/2010/main" val="5291682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901FB7F-E556-9CCF-9E62-0C019F298C33}"/>
              </a:ext>
            </a:extLst>
          </p:cNvPr>
          <p:cNvSpPr>
            <a:spLocks noGrp="1"/>
          </p:cNvSpPr>
          <p:nvPr>
            <p:ph type="title"/>
          </p:nvPr>
        </p:nvSpPr>
        <p:spPr/>
        <p:txBody>
          <a:bodyPr/>
          <a:lstStyle/>
          <a:p>
            <a:r>
              <a:rPr lang="es-ES">
                <a:cs typeface="Calibri Light"/>
              </a:rPr>
              <a:t>Plan de Gestión de las comunicaciones</a:t>
            </a:r>
            <a:endParaRPr lang="es-ES"/>
          </a:p>
        </p:txBody>
      </p:sp>
      <p:graphicFrame>
        <p:nvGraphicFramePr>
          <p:cNvPr id="5" name="Marcador de contenido 4">
            <a:extLst>
              <a:ext uri="{FF2B5EF4-FFF2-40B4-BE49-F238E27FC236}">
                <a16:creationId xmlns:a16="http://schemas.microsoft.com/office/drawing/2014/main" id="{D3A0A28B-7416-10D2-F140-948EF1F1711B}"/>
              </a:ext>
            </a:extLst>
          </p:cNvPr>
          <p:cNvGraphicFramePr>
            <a:graphicFrameLocks noGrp="1"/>
          </p:cNvGraphicFramePr>
          <p:nvPr>
            <p:ph idx="1"/>
            <p:extLst>
              <p:ext uri="{D42A27DB-BD31-4B8C-83A1-F6EECF244321}">
                <p14:modId xmlns:p14="http://schemas.microsoft.com/office/powerpoint/2010/main" val="3975122230"/>
              </p:ext>
            </p:extLst>
          </p:nvPr>
        </p:nvGraphicFramePr>
        <p:xfrm>
          <a:off x="838200" y="1825625"/>
          <a:ext cx="10515599" cy="2804160"/>
        </p:xfrm>
        <a:graphic>
          <a:graphicData uri="http://schemas.openxmlformats.org/drawingml/2006/table">
            <a:tbl>
              <a:tblPr firstRow="1" bandRow="1">
                <a:tableStyleId>{5C22544A-7EE6-4342-B048-85BDC9FD1C3A}</a:tableStyleId>
              </a:tblPr>
              <a:tblGrid>
                <a:gridCol w="1920402">
                  <a:extLst>
                    <a:ext uri="{9D8B030D-6E8A-4147-A177-3AD203B41FA5}">
                      <a16:colId xmlns:a16="http://schemas.microsoft.com/office/drawing/2014/main" val="330495539"/>
                    </a:ext>
                  </a:extLst>
                </a:gridCol>
                <a:gridCol w="2628900">
                  <a:extLst>
                    <a:ext uri="{9D8B030D-6E8A-4147-A177-3AD203B41FA5}">
                      <a16:colId xmlns:a16="http://schemas.microsoft.com/office/drawing/2014/main" val="2235808820"/>
                    </a:ext>
                  </a:extLst>
                </a:gridCol>
                <a:gridCol w="5966297">
                  <a:extLst>
                    <a:ext uri="{9D8B030D-6E8A-4147-A177-3AD203B41FA5}">
                      <a16:colId xmlns:a16="http://schemas.microsoft.com/office/drawing/2014/main" val="3147568919"/>
                    </a:ext>
                  </a:extLst>
                </a:gridCol>
              </a:tblGrid>
              <a:tr h="190500">
                <a:tc>
                  <a:txBody>
                    <a:bodyPr/>
                    <a:lstStyle/>
                    <a:p>
                      <a:pPr fontAlgn="t"/>
                      <a:endParaRPr lang="es-ES">
                        <a:effectLst/>
                      </a:endParaRPr>
                    </a:p>
                    <a:p>
                      <a:pPr algn="ctr" rtl="0" fontAlgn="base"/>
                      <a:r>
                        <a:rPr lang="es-ES" sz="1100">
                          <a:effectLst/>
                        </a:rPr>
                        <a:t>Interesados </a:t>
                      </a:r>
                      <a:endParaRPr lang="es-ES" b="1" i="0">
                        <a:solidFill>
                          <a:srgbClr val="FFFFFF"/>
                        </a:solidFill>
                        <a:effectLst/>
                      </a:endParaRPr>
                    </a:p>
                  </a:txBody>
                  <a:tcPr/>
                </a:tc>
                <a:tc>
                  <a:txBody>
                    <a:bodyPr/>
                    <a:lstStyle/>
                    <a:p>
                      <a:pPr fontAlgn="t"/>
                      <a:endParaRPr lang="es-ES">
                        <a:effectLst/>
                      </a:endParaRPr>
                    </a:p>
                    <a:p>
                      <a:pPr algn="ctr" rtl="0" fontAlgn="base"/>
                      <a:r>
                        <a:rPr lang="es-ES" sz="1100">
                          <a:effectLst/>
                        </a:rPr>
                        <a:t>Perfil </a:t>
                      </a:r>
                      <a:endParaRPr lang="es-ES" b="1" i="0">
                        <a:solidFill>
                          <a:srgbClr val="FFFFFF"/>
                        </a:solidFill>
                        <a:effectLst/>
                      </a:endParaRPr>
                    </a:p>
                  </a:txBody>
                  <a:tcPr/>
                </a:tc>
                <a:tc>
                  <a:txBody>
                    <a:bodyPr/>
                    <a:lstStyle/>
                    <a:p>
                      <a:pPr fontAlgn="t"/>
                      <a:endParaRPr lang="es-ES">
                        <a:effectLst/>
                      </a:endParaRPr>
                    </a:p>
                    <a:p>
                      <a:pPr algn="ctr" rtl="0" fontAlgn="base"/>
                      <a:r>
                        <a:rPr lang="es-ES" sz="1100">
                          <a:effectLst/>
                        </a:rPr>
                        <a:t>Información </a:t>
                      </a:r>
                      <a:endParaRPr lang="es-ES" b="1" i="0">
                        <a:solidFill>
                          <a:srgbClr val="FFFFFF"/>
                        </a:solidFill>
                        <a:effectLst/>
                      </a:endParaRPr>
                    </a:p>
                  </a:txBody>
                  <a:tcPr/>
                </a:tc>
                <a:extLst>
                  <a:ext uri="{0D108BD9-81ED-4DB2-BD59-A6C34878D82A}">
                    <a16:rowId xmlns:a16="http://schemas.microsoft.com/office/drawing/2014/main" val="924252240"/>
                  </a:ext>
                </a:extLst>
              </a:tr>
              <a:tr h="190500">
                <a:tc>
                  <a:txBody>
                    <a:bodyPr/>
                    <a:lstStyle/>
                    <a:p>
                      <a:pPr fontAlgn="t"/>
                      <a:endParaRPr lang="es-ES">
                        <a:effectLst/>
                      </a:endParaRPr>
                    </a:p>
                    <a:p>
                      <a:pPr algn="ctr" rtl="0" fontAlgn="base"/>
                      <a:r>
                        <a:rPr lang="es-ES" sz="1100">
                          <a:effectLst/>
                        </a:rPr>
                        <a:t>Cliente </a:t>
                      </a:r>
                      <a:endParaRPr lang="es-ES" b="1" i="0">
                        <a:effectLst/>
                      </a:endParaRPr>
                    </a:p>
                  </a:txBody>
                  <a:tcPr/>
                </a:tc>
                <a:tc>
                  <a:txBody>
                    <a:bodyPr/>
                    <a:lstStyle/>
                    <a:p>
                      <a:pPr fontAlgn="t"/>
                      <a:endParaRPr lang="es-ES">
                        <a:effectLst/>
                      </a:endParaRPr>
                    </a:p>
                    <a:p>
                      <a:pPr algn="ctr" rtl="0" fontAlgn="base"/>
                      <a:r>
                        <a:rPr lang="es-ES" sz="1100">
                          <a:effectLst/>
                        </a:rPr>
                        <a:t>Empresa que ha contratado el desarrollo del proyecto </a:t>
                      </a:r>
                      <a:endParaRPr lang="es-ES" b="0" i="0">
                        <a:effectLst/>
                      </a:endParaRPr>
                    </a:p>
                  </a:txBody>
                  <a:tcPr/>
                </a:tc>
                <a:tc>
                  <a:txBody>
                    <a:bodyPr/>
                    <a:lstStyle/>
                    <a:p>
                      <a:pPr fontAlgn="t"/>
                      <a:endParaRPr lang="es-ES">
                        <a:effectLst/>
                      </a:endParaRPr>
                    </a:p>
                    <a:p>
                      <a:pPr algn="ctr" rtl="0" fontAlgn="base"/>
                      <a:r>
                        <a:rPr lang="es-ES" sz="1100">
                          <a:effectLst/>
                        </a:rPr>
                        <a:t>La comunicación con el cliente es fundamental. Debe estar informado en todo momento de los avances realizados, así como de cualquier cambio que se pueda producir.  </a:t>
                      </a:r>
                      <a:endParaRPr lang="es-ES" b="0" i="0">
                        <a:effectLst/>
                      </a:endParaRPr>
                    </a:p>
                  </a:txBody>
                  <a:tcPr/>
                </a:tc>
                <a:extLst>
                  <a:ext uri="{0D108BD9-81ED-4DB2-BD59-A6C34878D82A}">
                    <a16:rowId xmlns:a16="http://schemas.microsoft.com/office/drawing/2014/main" val="3623137426"/>
                  </a:ext>
                </a:extLst>
              </a:tr>
              <a:tr h="190500">
                <a:tc>
                  <a:txBody>
                    <a:bodyPr/>
                    <a:lstStyle/>
                    <a:p>
                      <a:pPr fontAlgn="t"/>
                      <a:endParaRPr lang="es-ES">
                        <a:effectLst/>
                      </a:endParaRPr>
                    </a:p>
                    <a:p>
                      <a:pPr algn="ctr" rtl="0" fontAlgn="base"/>
                      <a:r>
                        <a:rPr lang="es-ES" sz="1100">
                          <a:effectLst/>
                        </a:rPr>
                        <a:t>Usuarios finales </a:t>
                      </a:r>
                      <a:endParaRPr lang="es-ES" b="1" i="0">
                        <a:effectLst/>
                      </a:endParaRPr>
                    </a:p>
                  </a:txBody>
                  <a:tcPr/>
                </a:tc>
                <a:tc>
                  <a:txBody>
                    <a:bodyPr/>
                    <a:lstStyle/>
                    <a:p>
                      <a:pPr fontAlgn="t"/>
                      <a:endParaRPr lang="es-ES">
                        <a:effectLst/>
                      </a:endParaRPr>
                    </a:p>
                    <a:p>
                      <a:pPr algn="ctr" rtl="0" fontAlgn="base"/>
                      <a:r>
                        <a:rPr lang="es-ES" sz="1100">
                          <a:effectLst/>
                        </a:rPr>
                        <a:t>Personas que van a utilizar la aplicación final. </a:t>
                      </a:r>
                      <a:endParaRPr lang="es-ES" b="0" i="0">
                        <a:effectLst/>
                      </a:endParaRPr>
                    </a:p>
                  </a:txBody>
                  <a:tcPr/>
                </a:tc>
                <a:tc>
                  <a:txBody>
                    <a:bodyPr/>
                    <a:lstStyle/>
                    <a:p>
                      <a:pPr fontAlgn="t"/>
                      <a:endParaRPr lang="es-ES">
                        <a:effectLst/>
                      </a:endParaRPr>
                    </a:p>
                    <a:p>
                      <a:pPr algn="ctr" rtl="0" fontAlgn="base"/>
                      <a:r>
                        <a:rPr lang="es-ES" sz="1100">
                          <a:effectLst/>
                        </a:rPr>
                        <a:t>No intervienen de forma directa en el desarrollo del proyecto, deben estar informados del progreso del proyecto. </a:t>
                      </a:r>
                      <a:endParaRPr lang="es-ES" b="0" i="0">
                        <a:effectLst/>
                      </a:endParaRPr>
                    </a:p>
                  </a:txBody>
                  <a:tcPr/>
                </a:tc>
                <a:extLst>
                  <a:ext uri="{0D108BD9-81ED-4DB2-BD59-A6C34878D82A}">
                    <a16:rowId xmlns:a16="http://schemas.microsoft.com/office/drawing/2014/main" val="2321618411"/>
                  </a:ext>
                </a:extLst>
              </a:tr>
              <a:tr h="190500">
                <a:tc>
                  <a:txBody>
                    <a:bodyPr/>
                    <a:lstStyle/>
                    <a:p>
                      <a:pPr fontAlgn="t"/>
                      <a:endParaRPr lang="es-ES">
                        <a:effectLst/>
                      </a:endParaRPr>
                    </a:p>
                    <a:p>
                      <a:pPr algn="ctr" rtl="0" fontAlgn="base"/>
                      <a:r>
                        <a:rPr lang="es-ES" sz="1100">
                          <a:effectLst/>
                        </a:rPr>
                        <a:t>Equipo de desarrollo </a:t>
                      </a:r>
                      <a:endParaRPr lang="es-ES" b="1" i="0">
                        <a:effectLst/>
                      </a:endParaRPr>
                    </a:p>
                  </a:txBody>
                  <a:tcPr/>
                </a:tc>
                <a:tc>
                  <a:txBody>
                    <a:bodyPr/>
                    <a:lstStyle/>
                    <a:p>
                      <a:pPr fontAlgn="t"/>
                      <a:endParaRPr lang="es-ES">
                        <a:effectLst/>
                      </a:endParaRPr>
                    </a:p>
                    <a:p>
                      <a:pPr algn="ctr" rtl="0" fontAlgn="base"/>
                      <a:r>
                        <a:rPr lang="es-ES" sz="1100">
                          <a:effectLst/>
                        </a:rPr>
                        <a:t>Empleados encargados del desarrollo del proyecto </a:t>
                      </a:r>
                      <a:endParaRPr lang="es-ES" b="0" i="0">
                        <a:effectLst/>
                      </a:endParaRPr>
                    </a:p>
                  </a:txBody>
                  <a:tcPr/>
                </a:tc>
                <a:tc>
                  <a:txBody>
                    <a:bodyPr/>
                    <a:lstStyle/>
                    <a:p>
                      <a:pPr fontAlgn="t"/>
                      <a:endParaRPr lang="es-ES">
                        <a:effectLst/>
                      </a:endParaRPr>
                    </a:p>
                    <a:p>
                      <a:pPr algn="ctr" rtl="0" fontAlgn="base"/>
                      <a:r>
                        <a:rPr lang="es-ES" sz="1100">
                          <a:effectLst/>
                        </a:rPr>
                        <a:t>Han de estar informados de todos los detalles relativos al proyecto, tanto de la organización de las tareas como los detalles del diseño del mismo. También deben estar informados de los posibles cambios en la planificación del proyecto. </a:t>
                      </a:r>
                      <a:endParaRPr lang="es-ES" b="0" i="0">
                        <a:effectLst/>
                      </a:endParaRPr>
                    </a:p>
                  </a:txBody>
                  <a:tcPr/>
                </a:tc>
                <a:extLst>
                  <a:ext uri="{0D108BD9-81ED-4DB2-BD59-A6C34878D82A}">
                    <a16:rowId xmlns:a16="http://schemas.microsoft.com/office/drawing/2014/main" val="2870659841"/>
                  </a:ext>
                </a:extLst>
              </a:tr>
            </a:tbl>
          </a:graphicData>
        </a:graphic>
      </p:graphicFrame>
    </p:spTree>
    <p:extLst>
      <p:ext uri="{BB962C8B-B14F-4D97-AF65-F5344CB8AC3E}">
        <p14:creationId xmlns:p14="http://schemas.microsoft.com/office/powerpoint/2010/main" val="32607438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55A2079-FA98-4876-80F0-72364A7D2E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E78EB85F-49F7-A935-EB4C-0AA82EA90BC9}"/>
              </a:ext>
            </a:extLst>
          </p:cNvPr>
          <p:cNvSpPr>
            <a:spLocks noGrp="1"/>
          </p:cNvSpPr>
          <p:nvPr>
            <p:ph type="title"/>
          </p:nvPr>
        </p:nvSpPr>
        <p:spPr>
          <a:xfrm>
            <a:off x="838200" y="557188"/>
            <a:ext cx="10515600" cy="1133499"/>
          </a:xfrm>
        </p:spPr>
        <p:txBody>
          <a:bodyPr>
            <a:normAutofit/>
          </a:bodyPr>
          <a:lstStyle/>
          <a:p>
            <a:pPr algn="ctr"/>
            <a:r>
              <a:rPr lang="es-ES" sz="5200">
                <a:ea typeface="+mj-lt"/>
                <a:cs typeface="+mj-lt"/>
              </a:rPr>
              <a:t>Plan de Gestión de las comunicaciones</a:t>
            </a:r>
            <a:endParaRPr lang="es-ES" sz="5200"/>
          </a:p>
        </p:txBody>
      </p:sp>
      <p:graphicFrame>
        <p:nvGraphicFramePr>
          <p:cNvPr id="5" name="Marcador de contenido 4">
            <a:extLst>
              <a:ext uri="{FF2B5EF4-FFF2-40B4-BE49-F238E27FC236}">
                <a16:creationId xmlns:a16="http://schemas.microsoft.com/office/drawing/2014/main" id="{30060216-EE47-30C0-BE39-17594E4DC6A8}"/>
              </a:ext>
            </a:extLst>
          </p:cNvPr>
          <p:cNvGraphicFramePr>
            <a:graphicFrameLocks noGrp="1"/>
          </p:cNvGraphicFramePr>
          <p:nvPr>
            <p:ph idx="1"/>
            <p:extLst>
              <p:ext uri="{D42A27DB-BD31-4B8C-83A1-F6EECF244321}">
                <p14:modId xmlns:p14="http://schemas.microsoft.com/office/powerpoint/2010/main" val="2514264427"/>
              </p:ext>
            </p:extLst>
          </p:nvPr>
        </p:nvGraphicFramePr>
        <p:xfrm>
          <a:off x="838200" y="2033574"/>
          <a:ext cx="10515602" cy="3942999"/>
        </p:xfrm>
        <a:graphic>
          <a:graphicData uri="http://schemas.openxmlformats.org/drawingml/2006/table">
            <a:tbl>
              <a:tblPr firstRow="1" firstCol="1" bandRow="1">
                <a:noFill/>
                <a:tableStyleId>{5C22544A-7EE6-4342-B048-85BDC9FD1C3A}</a:tableStyleId>
              </a:tblPr>
              <a:tblGrid>
                <a:gridCol w="508266">
                  <a:extLst>
                    <a:ext uri="{9D8B030D-6E8A-4147-A177-3AD203B41FA5}">
                      <a16:colId xmlns:a16="http://schemas.microsoft.com/office/drawing/2014/main" val="2815089361"/>
                    </a:ext>
                  </a:extLst>
                </a:gridCol>
                <a:gridCol w="2907319">
                  <a:extLst>
                    <a:ext uri="{9D8B030D-6E8A-4147-A177-3AD203B41FA5}">
                      <a16:colId xmlns:a16="http://schemas.microsoft.com/office/drawing/2014/main" val="3911868810"/>
                    </a:ext>
                  </a:extLst>
                </a:gridCol>
                <a:gridCol w="2513185">
                  <a:extLst>
                    <a:ext uri="{9D8B030D-6E8A-4147-A177-3AD203B41FA5}">
                      <a16:colId xmlns:a16="http://schemas.microsoft.com/office/drawing/2014/main" val="1934908016"/>
                    </a:ext>
                  </a:extLst>
                </a:gridCol>
                <a:gridCol w="1418223">
                  <a:extLst>
                    <a:ext uri="{9D8B030D-6E8A-4147-A177-3AD203B41FA5}">
                      <a16:colId xmlns:a16="http://schemas.microsoft.com/office/drawing/2014/main" val="1702316791"/>
                    </a:ext>
                  </a:extLst>
                </a:gridCol>
                <a:gridCol w="1418223">
                  <a:extLst>
                    <a:ext uri="{9D8B030D-6E8A-4147-A177-3AD203B41FA5}">
                      <a16:colId xmlns:a16="http://schemas.microsoft.com/office/drawing/2014/main" val="3102958577"/>
                    </a:ext>
                  </a:extLst>
                </a:gridCol>
                <a:gridCol w="1750386">
                  <a:extLst>
                    <a:ext uri="{9D8B030D-6E8A-4147-A177-3AD203B41FA5}">
                      <a16:colId xmlns:a16="http://schemas.microsoft.com/office/drawing/2014/main" val="1127467101"/>
                    </a:ext>
                  </a:extLst>
                </a:gridCol>
              </a:tblGrid>
              <a:tr h="1552528">
                <a:tc>
                  <a:txBody>
                    <a:bodyPr/>
                    <a:lstStyle/>
                    <a:p>
                      <a:pPr marL="107950" marR="71755" algn="ctr"/>
                      <a:r>
                        <a:rPr lang="es-ES" sz="1600" b="1" cap="none" spc="30">
                          <a:solidFill>
                            <a:schemeClr val="tx1"/>
                          </a:solidFill>
                          <a:effectLst/>
                        </a:rPr>
                        <a:t>Código</a:t>
                      </a:r>
                    </a:p>
                  </a:txBody>
                  <a:tcPr marL="0" marR="9194" marT="0" marB="0" vert="vert" anchor="ctr">
                    <a:lnL w="12700" cmpd="sng">
                      <a:noFill/>
                    </a:lnL>
                    <a:lnR w="12700" cmpd="sng">
                      <a:noFill/>
                    </a:lnR>
                    <a:lnT w="19050" cap="flat" cmpd="sng" algn="ctr">
                      <a:solidFill>
                        <a:schemeClr val="accent1"/>
                      </a:solidFill>
                      <a:prstDash val="solid"/>
                    </a:lnT>
                    <a:lnB w="38100" cmpd="sng">
                      <a:noFill/>
                    </a:lnB>
                    <a:noFill/>
                  </a:tcPr>
                </a:tc>
                <a:tc>
                  <a:txBody>
                    <a:bodyPr/>
                    <a:lstStyle/>
                    <a:p>
                      <a:pPr marL="107950" marR="71755" algn="ctr"/>
                      <a:r>
                        <a:rPr lang="es-ES" sz="1600" b="1" cap="none" spc="30">
                          <a:solidFill>
                            <a:schemeClr val="tx1"/>
                          </a:solidFill>
                          <a:effectLst/>
                        </a:rPr>
                        <a:t>Objetivo</a:t>
                      </a:r>
                    </a:p>
                  </a:txBody>
                  <a:tcPr marL="0" marR="9194" marT="0" marB="0" vert="vert" anchor="ctr">
                    <a:lnL w="12700" cmpd="sng">
                      <a:noFill/>
                    </a:lnL>
                    <a:lnR w="12700" cmpd="sng">
                      <a:noFill/>
                    </a:lnR>
                    <a:lnT w="19050" cap="flat" cmpd="sng" algn="ctr">
                      <a:solidFill>
                        <a:schemeClr val="accent1"/>
                      </a:solidFill>
                      <a:prstDash val="solid"/>
                    </a:lnT>
                    <a:lnB w="38100" cmpd="sng">
                      <a:noFill/>
                    </a:lnB>
                    <a:noFill/>
                  </a:tcPr>
                </a:tc>
                <a:tc>
                  <a:txBody>
                    <a:bodyPr/>
                    <a:lstStyle/>
                    <a:p>
                      <a:pPr marL="107950" marR="71755" algn="ctr"/>
                      <a:r>
                        <a:rPr lang="es-ES" sz="1600" b="1" cap="none" spc="30">
                          <a:solidFill>
                            <a:schemeClr val="tx1"/>
                          </a:solidFill>
                          <a:effectLst/>
                        </a:rPr>
                        <a:t>Documentos</a:t>
                      </a:r>
                    </a:p>
                  </a:txBody>
                  <a:tcPr marL="0" marR="9194" marT="0" marB="0" vert="vert" anchor="ctr">
                    <a:lnL w="12700" cmpd="sng">
                      <a:noFill/>
                    </a:lnL>
                    <a:lnR w="12700" cmpd="sng">
                      <a:noFill/>
                    </a:lnR>
                    <a:lnT w="19050" cap="flat" cmpd="sng" algn="ctr">
                      <a:solidFill>
                        <a:schemeClr val="accent1"/>
                      </a:solidFill>
                      <a:prstDash val="solid"/>
                    </a:lnT>
                    <a:lnB w="38100" cmpd="sng">
                      <a:noFill/>
                    </a:lnB>
                    <a:noFill/>
                  </a:tcPr>
                </a:tc>
                <a:tc>
                  <a:txBody>
                    <a:bodyPr/>
                    <a:lstStyle/>
                    <a:p>
                      <a:pPr marL="107950" marR="71755" algn="ctr"/>
                      <a:r>
                        <a:rPr lang="es-ES" sz="1600" b="1" cap="none" spc="30">
                          <a:solidFill>
                            <a:schemeClr val="tx1"/>
                          </a:solidFill>
                          <a:effectLst/>
                        </a:rPr>
                        <a:t>Fuente</a:t>
                      </a:r>
                    </a:p>
                  </a:txBody>
                  <a:tcPr marL="0" marR="9194" marT="0" marB="0" vert="vert" anchor="ctr">
                    <a:lnL w="12700" cmpd="sng">
                      <a:noFill/>
                    </a:lnL>
                    <a:lnR w="12700" cmpd="sng">
                      <a:noFill/>
                    </a:lnR>
                    <a:lnT w="19050" cap="flat" cmpd="sng" algn="ctr">
                      <a:solidFill>
                        <a:schemeClr val="accent1"/>
                      </a:solidFill>
                      <a:prstDash val="solid"/>
                    </a:lnT>
                    <a:lnB w="38100" cmpd="sng">
                      <a:noFill/>
                    </a:lnB>
                    <a:noFill/>
                  </a:tcPr>
                </a:tc>
                <a:tc>
                  <a:txBody>
                    <a:bodyPr/>
                    <a:lstStyle/>
                    <a:p>
                      <a:pPr marL="107950" marR="71755" algn="ctr"/>
                      <a:r>
                        <a:rPr lang="es-ES" sz="1600" b="1" cap="none" spc="30">
                          <a:solidFill>
                            <a:schemeClr val="tx1"/>
                          </a:solidFill>
                          <a:effectLst/>
                        </a:rPr>
                        <a:t>Aprobador</a:t>
                      </a:r>
                    </a:p>
                  </a:txBody>
                  <a:tcPr marL="0" marR="9194" marT="0" marB="0" vert="vert" anchor="ctr">
                    <a:lnL w="12700" cmpd="sng">
                      <a:noFill/>
                    </a:lnL>
                    <a:lnR w="12700" cmpd="sng">
                      <a:noFill/>
                    </a:lnR>
                    <a:lnT w="19050" cap="flat" cmpd="sng" algn="ctr">
                      <a:solidFill>
                        <a:schemeClr val="accent1"/>
                      </a:solidFill>
                      <a:prstDash val="solid"/>
                    </a:lnT>
                    <a:lnB w="38100" cmpd="sng">
                      <a:noFill/>
                    </a:lnB>
                    <a:noFill/>
                  </a:tcPr>
                </a:tc>
                <a:tc>
                  <a:txBody>
                    <a:bodyPr/>
                    <a:lstStyle/>
                    <a:p>
                      <a:pPr marL="107950" marR="71755" algn="ctr"/>
                      <a:r>
                        <a:rPr lang="es-ES" sz="1600" b="1" cap="none" spc="30">
                          <a:solidFill>
                            <a:schemeClr val="tx1"/>
                          </a:solidFill>
                          <a:effectLst/>
                        </a:rPr>
                        <a:t>Audiencia</a:t>
                      </a:r>
                    </a:p>
                  </a:txBody>
                  <a:tcPr marL="0" marR="9194" marT="0" marB="0" vert="vert" anchor="ctr">
                    <a:lnL w="12700" cmpd="sng">
                      <a:noFill/>
                    </a:lnL>
                    <a:lnR w="12700" cmpd="sng">
                      <a:noFill/>
                    </a:lnR>
                    <a:lnT w="19050" cap="flat" cmpd="sng" algn="ctr">
                      <a:solidFill>
                        <a:schemeClr val="accent1"/>
                      </a:solidFill>
                      <a:prstDash val="solid"/>
                    </a:lnT>
                    <a:lnB w="38100" cmpd="sng">
                      <a:noFill/>
                    </a:lnB>
                    <a:noFill/>
                  </a:tcPr>
                </a:tc>
                <a:extLst>
                  <a:ext uri="{0D108BD9-81ED-4DB2-BD59-A6C34878D82A}">
                    <a16:rowId xmlns:a16="http://schemas.microsoft.com/office/drawing/2014/main" val="240317014"/>
                  </a:ext>
                </a:extLst>
              </a:tr>
              <a:tr h="588424">
                <a:tc>
                  <a:txBody>
                    <a:bodyPr/>
                    <a:lstStyle/>
                    <a:p>
                      <a:pPr algn="ctr"/>
                      <a:r>
                        <a:rPr lang="es-ES" sz="1200" b="1" cap="none" spc="0">
                          <a:solidFill>
                            <a:schemeClr val="tx1"/>
                          </a:solidFill>
                          <a:effectLst/>
                        </a:rPr>
                        <a:t>1</a:t>
                      </a:r>
                    </a:p>
                  </a:txBody>
                  <a:tcPr marL="0" marR="68956" marT="0" marB="0" anchor="ctr">
                    <a:lnL w="12700" cmpd="sng">
                      <a:noFill/>
                      <a:prstDash val="solid"/>
                    </a:lnL>
                    <a:lnR w="12700" cmpd="sng">
                      <a:noFill/>
                      <a:prstDash val="solid"/>
                    </a:lnR>
                    <a:lnT w="38100" cmpd="sng">
                      <a:noFill/>
                    </a:lnT>
                    <a:lnB w="9525" cap="flat" cmpd="sng" algn="ctr">
                      <a:solidFill>
                        <a:schemeClr val="accent1"/>
                      </a:solidFill>
                      <a:prstDash val="solid"/>
                    </a:lnB>
                    <a:noFill/>
                  </a:tcPr>
                </a:tc>
                <a:tc>
                  <a:txBody>
                    <a:bodyPr/>
                    <a:lstStyle/>
                    <a:p>
                      <a:pPr algn="ctr"/>
                      <a:r>
                        <a:rPr lang="es-ES" sz="1200" cap="none" spc="0">
                          <a:solidFill>
                            <a:schemeClr val="tx1"/>
                          </a:solidFill>
                          <a:effectLst/>
                        </a:rPr>
                        <a:t>Comunicar cualquier cambio en el alcance u otros asuntos relevantes a los miembros del equipo</a:t>
                      </a:r>
                    </a:p>
                  </a:txBody>
                  <a:tcPr marL="0" marR="68956" marT="0" marB="0" anchor="ctr">
                    <a:lnL w="12700" cmpd="sng">
                      <a:noFill/>
                      <a:prstDash val="solid"/>
                    </a:lnL>
                    <a:lnR w="12700" cmpd="sng">
                      <a:noFill/>
                      <a:prstDash val="solid"/>
                    </a:lnR>
                    <a:lnT w="38100" cmpd="sng">
                      <a:noFill/>
                    </a:lnT>
                    <a:lnB w="9525" cap="flat" cmpd="sng" algn="ctr">
                      <a:solidFill>
                        <a:schemeClr val="accent1"/>
                      </a:solidFill>
                      <a:prstDash val="solid"/>
                    </a:lnB>
                    <a:noFill/>
                  </a:tcPr>
                </a:tc>
                <a:tc>
                  <a:txBody>
                    <a:bodyPr/>
                    <a:lstStyle/>
                    <a:p>
                      <a:pPr algn="ctr"/>
                      <a:r>
                        <a:rPr lang="es-ES" sz="1200" cap="none" spc="0">
                          <a:solidFill>
                            <a:schemeClr val="tx1"/>
                          </a:solidFill>
                          <a:effectLst/>
                        </a:rPr>
                        <a:t>Documento con los cambios establecidos y cómo abordarlos</a:t>
                      </a:r>
                    </a:p>
                  </a:txBody>
                  <a:tcPr marL="0" marR="68956" marT="0" marB="0" anchor="ctr">
                    <a:lnL w="12700" cmpd="sng">
                      <a:noFill/>
                      <a:prstDash val="solid"/>
                    </a:lnL>
                    <a:lnR w="12700" cmpd="sng">
                      <a:noFill/>
                      <a:prstDash val="solid"/>
                    </a:lnR>
                    <a:lnT w="38100" cmpd="sng">
                      <a:noFill/>
                    </a:lnT>
                    <a:lnB w="9525" cap="flat" cmpd="sng" algn="ctr">
                      <a:solidFill>
                        <a:schemeClr val="accent1"/>
                      </a:solidFill>
                      <a:prstDash val="solid"/>
                    </a:lnB>
                    <a:noFill/>
                  </a:tcPr>
                </a:tc>
                <a:tc>
                  <a:txBody>
                    <a:bodyPr/>
                    <a:lstStyle/>
                    <a:p>
                      <a:pPr algn="ctr"/>
                      <a:r>
                        <a:rPr lang="es-ES" sz="1200" cap="none" spc="0">
                          <a:solidFill>
                            <a:schemeClr val="tx1"/>
                          </a:solidFill>
                          <a:effectLst/>
                        </a:rPr>
                        <a:t>Jefe de equipo</a:t>
                      </a:r>
                    </a:p>
                  </a:txBody>
                  <a:tcPr marL="0" marR="68956" marT="0" marB="0" anchor="ctr">
                    <a:lnL w="12700" cmpd="sng">
                      <a:noFill/>
                      <a:prstDash val="solid"/>
                    </a:lnL>
                    <a:lnR w="12700" cmpd="sng">
                      <a:noFill/>
                      <a:prstDash val="solid"/>
                    </a:lnR>
                    <a:lnT w="38100" cmpd="sng">
                      <a:noFill/>
                    </a:lnT>
                    <a:lnB w="9525" cap="flat" cmpd="sng" algn="ctr">
                      <a:solidFill>
                        <a:schemeClr val="accent1"/>
                      </a:solidFill>
                      <a:prstDash val="solid"/>
                    </a:lnB>
                    <a:noFill/>
                  </a:tcPr>
                </a:tc>
                <a:tc>
                  <a:txBody>
                    <a:bodyPr/>
                    <a:lstStyle/>
                    <a:p>
                      <a:pPr algn="ctr"/>
                      <a:r>
                        <a:rPr lang="es-ES" sz="1200" cap="none" spc="0">
                          <a:solidFill>
                            <a:schemeClr val="tx1"/>
                          </a:solidFill>
                          <a:effectLst/>
                        </a:rPr>
                        <a:t>Jefe de proyecto</a:t>
                      </a:r>
                    </a:p>
                  </a:txBody>
                  <a:tcPr marL="0" marR="68956" marT="0" marB="0" anchor="ctr">
                    <a:lnL w="12700" cmpd="sng">
                      <a:noFill/>
                      <a:prstDash val="solid"/>
                    </a:lnL>
                    <a:lnR w="12700" cmpd="sng">
                      <a:noFill/>
                      <a:prstDash val="solid"/>
                    </a:lnR>
                    <a:lnT w="38100" cmpd="sng">
                      <a:noFill/>
                    </a:lnT>
                    <a:lnB w="9525" cap="flat" cmpd="sng" algn="ctr">
                      <a:solidFill>
                        <a:schemeClr val="accent1"/>
                      </a:solidFill>
                      <a:prstDash val="solid"/>
                    </a:lnB>
                    <a:noFill/>
                  </a:tcPr>
                </a:tc>
                <a:tc>
                  <a:txBody>
                    <a:bodyPr/>
                    <a:lstStyle/>
                    <a:p>
                      <a:pPr algn="ctr"/>
                      <a:r>
                        <a:rPr lang="es-ES" sz="1200" cap="none" spc="0">
                          <a:solidFill>
                            <a:schemeClr val="tx1"/>
                          </a:solidFill>
                          <a:effectLst/>
                        </a:rPr>
                        <a:t>Componentes del equipo</a:t>
                      </a:r>
                    </a:p>
                  </a:txBody>
                  <a:tcPr marL="0" marR="68956" marT="0" marB="0" anchor="ctr">
                    <a:lnL w="12700" cmpd="sng">
                      <a:noFill/>
                      <a:prstDash val="solid"/>
                    </a:lnL>
                    <a:lnR w="12700" cmpd="sng">
                      <a:noFill/>
                      <a:prstDash val="solid"/>
                    </a:lnR>
                    <a:lnT w="38100" cmpd="sng">
                      <a:noFill/>
                    </a:lnT>
                    <a:lnB w="9525" cap="flat" cmpd="sng" algn="ctr">
                      <a:solidFill>
                        <a:schemeClr val="accent1"/>
                      </a:solidFill>
                      <a:prstDash val="solid"/>
                    </a:lnB>
                    <a:noFill/>
                  </a:tcPr>
                </a:tc>
                <a:extLst>
                  <a:ext uri="{0D108BD9-81ED-4DB2-BD59-A6C34878D82A}">
                    <a16:rowId xmlns:a16="http://schemas.microsoft.com/office/drawing/2014/main" val="1932046379"/>
                  </a:ext>
                </a:extLst>
              </a:tr>
              <a:tr h="588424">
                <a:tc>
                  <a:txBody>
                    <a:bodyPr/>
                    <a:lstStyle/>
                    <a:p>
                      <a:pPr algn="ctr"/>
                      <a:r>
                        <a:rPr lang="es-ES" sz="1200" b="1" cap="none" spc="0">
                          <a:solidFill>
                            <a:schemeClr val="tx1"/>
                          </a:solidFill>
                          <a:effectLst/>
                        </a:rPr>
                        <a:t>2</a:t>
                      </a:r>
                    </a:p>
                  </a:txBody>
                  <a:tcPr marL="45971" marR="68956" marT="0" marB="0" anchor="ctr">
                    <a:lnL w="12700" cmpd="sng">
                      <a:noFill/>
                      <a:prstDash val="solid"/>
                    </a:lnL>
                    <a:lnR w="12700" cmpd="sng">
                      <a:noFill/>
                      <a:prstDash val="solid"/>
                    </a:lnR>
                    <a:lnT w="9525" cap="flat" cmpd="sng" algn="ctr">
                      <a:solidFill>
                        <a:schemeClr val="accent1"/>
                      </a:solidFill>
                      <a:prstDash val="solid"/>
                    </a:lnT>
                    <a:lnB w="12700" cmpd="sng">
                      <a:noFill/>
                      <a:prstDash val="solid"/>
                    </a:lnB>
                    <a:solidFill>
                      <a:schemeClr val="accent1">
                        <a:lumMod val="20000"/>
                        <a:lumOff val="80000"/>
                      </a:schemeClr>
                    </a:solidFill>
                  </a:tcPr>
                </a:tc>
                <a:tc>
                  <a:txBody>
                    <a:bodyPr/>
                    <a:lstStyle/>
                    <a:p>
                      <a:pPr algn="ctr"/>
                      <a:r>
                        <a:rPr lang="es-ES" sz="1200" cap="none" spc="0">
                          <a:solidFill>
                            <a:schemeClr val="tx1"/>
                          </a:solidFill>
                          <a:effectLst/>
                        </a:rPr>
                        <a:t>Informar sobre el estado actual del proyecto, incluyendo el progreso y tareas completadas</a:t>
                      </a:r>
                    </a:p>
                  </a:txBody>
                  <a:tcPr marL="45971" marR="68956" marT="0" marB="0" anchor="ctr">
                    <a:lnL w="12700" cmpd="sng">
                      <a:noFill/>
                      <a:prstDash val="solid"/>
                    </a:lnL>
                    <a:lnR w="12700" cmpd="sng">
                      <a:noFill/>
                      <a:prstDash val="solid"/>
                    </a:lnR>
                    <a:lnT w="9525" cap="flat" cmpd="sng" algn="ctr">
                      <a:solidFill>
                        <a:schemeClr val="accent1"/>
                      </a:solidFill>
                      <a:prstDash val="solid"/>
                    </a:lnT>
                    <a:lnB w="12700" cmpd="sng">
                      <a:noFill/>
                      <a:prstDash val="solid"/>
                    </a:lnB>
                    <a:solidFill>
                      <a:schemeClr val="accent1">
                        <a:lumMod val="20000"/>
                        <a:lumOff val="80000"/>
                      </a:schemeClr>
                    </a:solidFill>
                  </a:tcPr>
                </a:tc>
                <a:tc>
                  <a:txBody>
                    <a:bodyPr/>
                    <a:lstStyle/>
                    <a:p>
                      <a:pPr algn="ctr"/>
                      <a:r>
                        <a:rPr lang="es-ES" sz="1200" cap="none" spc="0">
                          <a:solidFill>
                            <a:schemeClr val="tx1"/>
                          </a:solidFill>
                          <a:effectLst/>
                        </a:rPr>
                        <a:t>Informe de progreso del proyecto</a:t>
                      </a:r>
                    </a:p>
                  </a:txBody>
                  <a:tcPr marL="45971" marR="68956" marT="0" marB="0" anchor="ctr">
                    <a:lnL w="12700" cmpd="sng">
                      <a:noFill/>
                      <a:prstDash val="solid"/>
                    </a:lnL>
                    <a:lnR w="12700" cmpd="sng">
                      <a:noFill/>
                      <a:prstDash val="solid"/>
                    </a:lnR>
                    <a:lnT w="9525" cap="flat" cmpd="sng" algn="ctr">
                      <a:solidFill>
                        <a:schemeClr val="accent1"/>
                      </a:solidFill>
                      <a:prstDash val="solid"/>
                    </a:lnT>
                    <a:lnB w="12700" cmpd="sng">
                      <a:noFill/>
                      <a:prstDash val="solid"/>
                    </a:lnB>
                    <a:solidFill>
                      <a:schemeClr val="accent1">
                        <a:lumMod val="20000"/>
                        <a:lumOff val="80000"/>
                      </a:schemeClr>
                    </a:solidFill>
                  </a:tcPr>
                </a:tc>
                <a:tc>
                  <a:txBody>
                    <a:bodyPr/>
                    <a:lstStyle/>
                    <a:p>
                      <a:pPr algn="ctr"/>
                      <a:r>
                        <a:rPr lang="es-ES" sz="1200" cap="none" spc="0">
                          <a:solidFill>
                            <a:schemeClr val="tx1"/>
                          </a:solidFill>
                          <a:effectLst/>
                        </a:rPr>
                        <a:t>Jefe del proyecto</a:t>
                      </a:r>
                    </a:p>
                  </a:txBody>
                  <a:tcPr marL="45971" marR="68956" marT="0" marB="0" anchor="ctr">
                    <a:lnL w="12700" cmpd="sng">
                      <a:noFill/>
                      <a:prstDash val="solid"/>
                    </a:lnL>
                    <a:lnR w="12700" cmpd="sng">
                      <a:noFill/>
                      <a:prstDash val="solid"/>
                    </a:lnR>
                    <a:lnT w="9525" cap="flat" cmpd="sng" algn="ctr">
                      <a:solidFill>
                        <a:schemeClr val="accent1"/>
                      </a:solidFill>
                      <a:prstDash val="solid"/>
                    </a:lnT>
                    <a:lnB w="12700" cmpd="sng">
                      <a:noFill/>
                      <a:prstDash val="solid"/>
                    </a:lnB>
                    <a:solidFill>
                      <a:schemeClr val="accent1">
                        <a:lumMod val="20000"/>
                        <a:lumOff val="80000"/>
                      </a:schemeClr>
                    </a:solidFill>
                  </a:tcPr>
                </a:tc>
                <a:tc>
                  <a:txBody>
                    <a:bodyPr/>
                    <a:lstStyle/>
                    <a:p>
                      <a:pPr algn="ctr"/>
                      <a:r>
                        <a:rPr lang="es-ES" sz="1200" cap="none" spc="0">
                          <a:solidFill>
                            <a:schemeClr val="tx1"/>
                          </a:solidFill>
                          <a:effectLst/>
                        </a:rPr>
                        <a:t>Jefe del proyecto</a:t>
                      </a:r>
                    </a:p>
                  </a:txBody>
                  <a:tcPr marL="45971" marR="68956" marT="0" marB="0" anchor="ctr">
                    <a:lnL w="12700" cmpd="sng">
                      <a:noFill/>
                      <a:prstDash val="solid"/>
                    </a:lnL>
                    <a:lnR w="12700" cmpd="sng">
                      <a:noFill/>
                      <a:prstDash val="solid"/>
                    </a:lnR>
                    <a:lnT w="9525" cap="flat" cmpd="sng" algn="ctr">
                      <a:solidFill>
                        <a:schemeClr val="accent1"/>
                      </a:solidFill>
                      <a:prstDash val="solid"/>
                    </a:lnT>
                    <a:lnB w="12700" cmpd="sng">
                      <a:noFill/>
                      <a:prstDash val="solid"/>
                    </a:lnB>
                    <a:solidFill>
                      <a:schemeClr val="accent1">
                        <a:lumMod val="20000"/>
                        <a:lumOff val="80000"/>
                      </a:schemeClr>
                    </a:solidFill>
                  </a:tcPr>
                </a:tc>
                <a:tc>
                  <a:txBody>
                    <a:bodyPr/>
                    <a:lstStyle/>
                    <a:p>
                      <a:pPr algn="ctr"/>
                      <a:r>
                        <a:rPr lang="es-ES" sz="1200" cap="none" spc="0">
                          <a:solidFill>
                            <a:schemeClr val="tx1"/>
                          </a:solidFill>
                          <a:effectLst/>
                        </a:rPr>
                        <a:t>Cliente</a:t>
                      </a:r>
                    </a:p>
                  </a:txBody>
                  <a:tcPr marL="45971" marR="68956" marT="0" marB="0" anchor="ctr">
                    <a:lnL w="12700" cmpd="sng">
                      <a:noFill/>
                      <a:prstDash val="solid"/>
                    </a:lnL>
                    <a:lnR w="12700" cmpd="sng">
                      <a:noFill/>
                      <a:prstDash val="solid"/>
                    </a:lnR>
                    <a:lnT w="9525" cap="flat" cmpd="sng" algn="ctr">
                      <a:solidFill>
                        <a:schemeClr val="accent1"/>
                      </a:solidFill>
                      <a:prstDash val="solid"/>
                    </a:lnT>
                    <a:lnB w="12700" cmpd="sng">
                      <a:noFill/>
                      <a:prstDash val="solid"/>
                    </a:lnB>
                    <a:solidFill>
                      <a:schemeClr val="accent1">
                        <a:lumMod val="20000"/>
                        <a:lumOff val="80000"/>
                      </a:schemeClr>
                    </a:solidFill>
                  </a:tcPr>
                </a:tc>
                <a:extLst>
                  <a:ext uri="{0D108BD9-81ED-4DB2-BD59-A6C34878D82A}">
                    <a16:rowId xmlns:a16="http://schemas.microsoft.com/office/drawing/2014/main" val="3384366606"/>
                  </a:ext>
                </a:extLst>
              </a:tr>
              <a:tr h="404541">
                <a:tc>
                  <a:txBody>
                    <a:bodyPr/>
                    <a:lstStyle/>
                    <a:p>
                      <a:pPr algn="ctr"/>
                      <a:r>
                        <a:rPr lang="es-ES" sz="1200" b="1" cap="none" spc="0">
                          <a:solidFill>
                            <a:schemeClr val="tx1"/>
                          </a:solidFill>
                          <a:effectLst/>
                        </a:rPr>
                        <a:t>3</a:t>
                      </a:r>
                    </a:p>
                  </a:txBody>
                  <a:tcPr marL="0" marR="68956" marT="0" marB="0" anchor="ctr">
                    <a:lnL w="12700" cmpd="sng">
                      <a:noFill/>
                      <a:prstDash val="solid"/>
                    </a:lnL>
                    <a:lnR w="12700" cmpd="sng">
                      <a:noFill/>
                      <a:prstDash val="solid"/>
                    </a:lnR>
                    <a:lnT w="12700" cmpd="sng">
                      <a:noFill/>
                      <a:prstDash val="solid"/>
                    </a:lnT>
                    <a:lnB w="9525" cap="flat" cmpd="sng" algn="ctr">
                      <a:solidFill>
                        <a:schemeClr val="accent1"/>
                      </a:solidFill>
                      <a:prstDash val="solid"/>
                    </a:lnB>
                    <a:noFill/>
                  </a:tcPr>
                </a:tc>
                <a:tc>
                  <a:txBody>
                    <a:bodyPr/>
                    <a:lstStyle/>
                    <a:p>
                      <a:pPr algn="ctr"/>
                      <a:r>
                        <a:rPr lang="es-ES" sz="1200" cap="none" spc="0">
                          <a:solidFill>
                            <a:schemeClr val="tx1"/>
                          </a:solidFill>
                          <a:effectLst/>
                        </a:rPr>
                        <a:t>Reportar los resultados de las pruebas realizadas por los testers</a:t>
                      </a:r>
                    </a:p>
                  </a:txBody>
                  <a:tcPr marL="0" marR="68956" marT="0" marB="0" anchor="ctr">
                    <a:lnL w="12700" cmpd="sng">
                      <a:noFill/>
                      <a:prstDash val="solid"/>
                    </a:lnL>
                    <a:lnR w="12700" cmpd="sng">
                      <a:noFill/>
                      <a:prstDash val="solid"/>
                    </a:lnR>
                    <a:lnT w="12700" cmpd="sng">
                      <a:noFill/>
                      <a:prstDash val="solid"/>
                    </a:lnT>
                    <a:lnB w="9525" cap="flat" cmpd="sng" algn="ctr">
                      <a:solidFill>
                        <a:schemeClr val="accent1"/>
                      </a:solidFill>
                      <a:prstDash val="solid"/>
                    </a:lnB>
                    <a:noFill/>
                  </a:tcPr>
                </a:tc>
                <a:tc>
                  <a:txBody>
                    <a:bodyPr/>
                    <a:lstStyle/>
                    <a:p>
                      <a:pPr algn="ctr"/>
                      <a:r>
                        <a:rPr lang="es-ES" sz="1200" cap="none" spc="0">
                          <a:solidFill>
                            <a:schemeClr val="tx1"/>
                          </a:solidFill>
                          <a:effectLst/>
                        </a:rPr>
                        <a:t>Listado de errores e incidencias, si las hubiera</a:t>
                      </a:r>
                    </a:p>
                  </a:txBody>
                  <a:tcPr marL="0" marR="68956" marT="0" marB="0" anchor="ctr">
                    <a:lnL w="12700" cmpd="sng">
                      <a:noFill/>
                      <a:prstDash val="solid"/>
                    </a:lnL>
                    <a:lnR w="12700" cmpd="sng">
                      <a:noFill/>
                      <a:prstDash val="solid"/>
                    </a:lnR>
                    <a:lnT w="12700" cmpd="sng">
                      <a:noFill/>
                      <a:prstDash val="solid"/>
                    </a:lnT>
                    <a:lnB w="9525" cap="flat" cmpd="sng" algn="ctr">
                      <a:solidFill>
                        <a:schemeClr val="accent1"/>
                      </a:solidFill>
                      <a:prstDash val="solid"/>
                    </a:lnB>
                    <a:noFill/>
                  </a:tcPr>
                </a:tc>
                <a:tc>
                  <a:txBody>
                    <a:bodyPr/>
                    <a:lstStyle/>
                    <a:p>
                      <a:pPr algn="ctr"/>
                      <a:r>
                        <a:rPr lang="es-ES" sz="1200" cap="none" spc="0">
                          <a:solidFill>
                            <a:schemeClr val="tx1"/>
                          </a:solidFill>
                          <a:effectLst/>
                        </a:rPr>
                        <a:t>Tester</a:t>
                      </a:r>
                    </a:p>
                  </a:txBody>
                  <a:tcPr marL="0" marR="68956" marT="0" marB="0" anchor="ctr">
                    <a:lnL w="12700" cmpd="sng">
                      <a:noFill/>
                      <a:prstDash val="solid"/>
                    </a:lnL>
                    <a:lnR w="12700" cmpd="sng">
                      <a:noFill/>
                      <a:prstDash val="solid"/>
                    </a:lnR>
                    <a:lnT w="12700" cmpd="sng">
                      <a:noFill/>
                      <a:prstDash val="solid"/>
                    </a:lnT>
                    <a:lnB w="9525" cap="flat" cmpd="sng" algn="ctr">
                      <a:solidFill>
                        <a:schemeClr val="accent1"/>
                      </a:solidFill>
                      <a:prstDash val="solid"/>
                    </a:lnB>
                    <a:noFill/>
                  </a:tcPr>
                </a:tc>
                <a:tc>
                  <a:txBody>
                    <a:bodyPr/>
                    <a:lstStyle/>
                    <a:p>
                      <a:pPr algn="ctr"/>
                      <a:r>
                        <a:rPr lang="es-ES" sz="1200" cap="none" spc="0">
                          <a:solidFill>
                            <a:schemeClr val="tx1"/>
                          </a:solidFill>
                          <a:effectLst/>
                        </a:rPr>
                        <a:t>Jefe de equipo</a:t>
                      </a:r>
                    </a:p>
                  </a:txBody>
                  <a:tcPr marL="0" marR="68956" marT="0" marB="0" anchor="ctr">
                    <a:lnL w="12700" cmpd="sng">
                      <a:noFill/>
                      <a:prstDash val="solid"/>
                    </a:lnL>
                    <a:lnR w="12700" cmpd="sng">
                      <a:noFill/>
                      <a:prstDash val="solid"/>
                    </a:lnR>
                    <a:lnT w="12700" cmpd="sng">
                      <a:noFill/>
                      <a:prstDash val="solid"/>
                    </a:lnT>
                    <a:lnB w="9525" cap="flat" cmpd="sng" algn="ctr">
                      <a:solidFill>
                        <a:schemeClr val="accent1"/>
                      </a:solidFill>
                      <a:prstDash val="solid"/>
                    </a:lnB>
                    <a:noFill/>
                  </a:tcPr>
                </a:tc>
                <a:tc>
                  <a:txBody>
                    <a:bodyPr/>
                    <a:lstStyle/>
                    <a:p>
                      <a:pPr algn="ctr"/>
                      <a:r>
                        <a:rPr lang="es-ES" sz="1200" cap="none" spc="0">
                          <a:solidFill>
                            <a:schemeClr val="tx1"/>
                          </a:solidFill>
                          <a:effectLst/>
                        </a:rPr>
                        <a:t>Jefe de equipo</a:t>
                      </a:r>
                    </a:p>
                  </a:txBody>
                  <a:tcPr marL="0" marR="68956" marT="0" marB="0" anchor="ctr">
                    <a:lnL w="12700" cmpd="sng">
                      <a:noFill/>
                      <a:prstDash val="solid"/>
                    </a:lnL>
                    <a:lnR w="12700" cmpd="sng">
                      <a:noFill/>
                      <a:prstDash val="solid"/>
                    </a:lnR>
                    <a:lnT w="12700" cmpd="sng">
                      <a:noFill/>
                      <a:prstDash val="solid"/>
                    </a:lnT>
                    <a:lnB w="9525" cap="flat" cmpd="sng" algn="ctr">
                      <a:solidFill>
                        <a:schemeClr val="accent1"/>
                      </a:solidFill>
                      <a:prstDash val="solid"/>
                    </a:lnB>
                    <a:noFill/>
                  </a:tcPr>
                </a:tc>
                <a:extLst>
                  <a:ext uri="{0D108BD9-81ED-4DB2-BD59-A6C34878D82A}">
                    <a16:rowId xmlns:a16="http://schemas.microsoft.com/office/drawing/2014/main" val="2919580934"/>
                  </a:ext>
                </a:extLst>
              </a:tr>
              <a:tr h="404541">
                <a:tc>
                  <a:txBody>
                    <a:bodyPr/>
                    <a:lstStyle/>
                    <a:p>
                      <a:pPr algn="ctr"/>
                      <a:r>
                        <a:rPr lang="es-ES" sz="1200" b="1" cap="none" spc="0">
                          <a:solidFill>
                            <a:schemeClr val="tx1"/>
                          </a:solidFill>
                          <a:effectLst/>
                        </a:rPr>
                        <a:t>4</a:t>
                      </a:r>
                    </a:p>
                  </a:txBody>
                  <a:tcPr marL="45971" marR="68956" marT="0" marB="0" anchor="ctr">
                    <a:lnL w="12700" cmpd="sng">
                      <a:noFill/>
                      <a:prstDash val="solid"/>
                    </a:lnL>
                    <a:lnR w="12700" cmpd="sng">
                      <a:noFill/>
                      <a:prstDash val="solid"/>
                    </a:lnR>
                    <a:lnT w="9525" cap="flat" cmpd="sng" algn="ctr">
                      <a:solidFill>
                        <a:schemeClr val="accent1"/>
                      </a:solidFill>
                      <a:prstDash val="solid"/>
                    </a:lnT>
                    <a:lnB w="12700" cmpd="sng">
                      <a:noFill/>
                      <a:prstDash val="solid"/>
                    </a:lnB>
                    <a:solidFill>
                      <a:schemeClr val="accent1">
                        <a:lumMod val="20000"/>
                        <a:lumOff val="80000"/>
                      </a:schemeClr>
                    </a:solidFill>
                  </a:tcPr>
                </a:tc>
                <a:tc>
                  <a:txBody>
                    <a:bodyPr/>
                    <a:lstStyle/>
                    <a:p>
                      <a:pPr algn="ctr"/>
                      <a:r>
                        <a:rPr lang="es-ES" sz="1200" cap="none" spc="0">
                          <a:solidFill>
                            <a:schemeClr val="tx1"/>
                          </a:solidFill>
                          <a:effectLst/>
                        </a:rPr>
                        <a:t>Comunicar la finalización y entrega del producto</a:t>
                      </a:r>
                    </a:p>
                  </a:txBody>
                  <a:tcPr marL="45971" marR="68956" marT="0" marB="0" anchor="ctr">
                    <a:lnL w="12700" cmpd="sng">
                      <a:noFill/>
                      <a:prstDash val="solid"/>
                    </a:lnL>
                    <a:lnR w="12700" cmpd="sng">
                      <a:noFill/>
                      <a:prstDash val="solid"/>
                    </a:lnR>
                    <a:lnT w="9525" cap="flat" cmpd="sng" algn="ctr">
                      <a:solidFill>
                        <a:schemeClr val="accent1"/>
                      </a:solidFill>
                      <a:prstDash val="solid"/>
                    </a:lnT>
                    <a:lnB w="12700" cmpd="sng">
                      <a:noFill/>
                      <a:prstDash val="solid"/>
                    </a:lnB>
                    <a:solidFill>
                      <a:schemeClr val="accent1">
                        <a:lumMod val="20000"/>
                        <a:lumOff val="80000"/>
                      </a:schemeClr>
                    </a:solidFill>
                  </a:tcPr>
                </a:tc>
                <a:tc>
                  <a:txBody>
                    <a:bodyPr/>
                    <a:lstStyle/>
                    <a:p>
                      <a:pPr algn="ctr"/>
                      <a:r>
                        <a:rPr lang="es-ES" sz="1200" cap="none" spc="0">
                          <a:solidFill>
                            <a:schemeClr val="tx1"/>
                          </a:solidFill>
                          <a:effectLst/>
                        </a:rPr>
                        <a:t>Informe de finalización y entrega del producto</a:t>
                      </a:r>
                    </a:p>
                  </a:txBody>
                  <a:tcPr marL="45971" marR="68956" marT="0" marB="0" anchor="ctr">
                    <a:lnL w="12700" cmpd="sng">
                      <a:noFill/>
                      <a:prstDash val="solid"/>
                    </a:lnL>
                    <a:lnR w="12700" cmpd="sng">
                      <a:noFill/>
                      <a:prstDash val="solid"/>
                    </a:lnR>
                    <a:lnT w="9525" cap="flat" cmpd="sng" algn="ctr">
                      <a:solidFill>
                        <a:schemeClr val="accent1"/>
                      </a:solidFill>
                      <a:prstDash val="solid"/>
                    </a:lnT>
                    <a:lnB w="12700" cmpd="sng">
                      <a:noFill/>
                      <a:prstDash val="solid"/>
                    </a:lnB>
                    <a:solidFill>
                      <a:schemeClr val="accent1">
                        <a:lumMod val="20000"/>
                        <a:lumOff val="80000"/>
                      </a:schemeClr>
                    </a:solidFill>
                  </a:tcPr>
                </a:tc>
                <a:tc>
                  <a:txBody>
                    <a:bodyPr/>
                    <a:lstStyle/>
                    <a:p>
                      <a:pPr algn="ctr"/>
                      <a:r>
                        <a:rPr lang="es-ES" sz="1200" cap="none" spc="0">
                          <a:solidFill>
                            <a:schemeClr val="tx1"/>
                          </a:solidFill>
                          <a:effectLst/>
                        </a:rPr>
                        <a:t>Jefe del proyecto</a:t>
                      </a:r>
                    </a:p>
                  </a:txBody>
                  <a:tcPr marL="45971" marR="68956" marT="0" marB="0" anchor="ctr">
                    <a:lnL w="12700" cmpd="sng">
                      <a:noFill/>
                      <a:prstDash val="solid"/>
                    </a:lnL>
                    <a:lnR w="12700" cmpd="sng">
                      <a:noFill/>
                      <a:prstDash val="solid"/>
                    </a:lnR>
                    <a:lnT w="9525" cap="flat" cmpd="sng" algn="ctr">
                      <a:solidFill>
                        <a:schemeClr val="accent1"/>
                      </a:solidFill>
                      <a:prstDash val="solid"/>
                    </a:lnT>
                    <a:lnB w="12700" cmpd="sng">
                      <a:noFill/>
                      <a:prstDash val="solid"/>
                    </a:lnB>
                    <a:solidFill>
                      <a:schemeClr val="accent1">
                        <a:lumMod val="20000"/>
                        <a:lumOff val="80000"/>
                      </a:schemeClr>
                    </a:solidFill>
                  </a:tcPr>
                </a:tc>
                <a:tc>
                  <a:txBody>
                    <a:bodyPr/>
                    <a:lstStyle/>
                    <a:p>
                      <a:pPr algn="ctr"/>
                      <a:r>
                        <a:rPr lang="es-ES" sz="1200" cap="none" spc="0">
                          <a:solidFill>
                            <a:schemeClr val="tx1"/>
                          </a:solidFill>
                          <a:effectLst/>
                        </a:rPr>
                        <a:t>Cliente</a:t>
                      </a:r>
                    </a:p>
                  </a:txBody>
                  <a:tcPr marL="45971" marR="68956" marT="0" marB="0" anchor="ctr">
                    <a:lnL w="12700" cmpd="sng">
                      <a:noFill/>
                      <a:prstDash val="solid"/>
                    </a:lnL>
                    <a:lnR w="12700" cmpd="sng">
                      <a:noFill/>
                      <a:prstDash val="solid"/>
                    </a:lnR>
                    <a:lnT w="9525" cap="flat" cmpd="sng" algn="ctr">
                      <a:solidFill>
                        <a:schemeClr val="accent1"/>
                      </a:solidFill>
                      <a:prstDash val="solid"/>
                    </a:lnT>
                    <a:lnB w="12700" cmpd="sng">
                      <a:noFill/>
                      <a:prstDash val="solid"/>
                    </a:lnB>
                    <a:solidFill>
                      <a:schemeClr val="accent1">
                        <a:lumMod val="20000"/>
                        <a:lumOff val="80000"/>
                      </a:schemeClr>
                    </a:solidFill>
                  </a:tcPr>
                </a:tc>
                <a:tc>
                  <a:txBody>
                    <a:bodyPr/>
                    <a:lstStyle/>
                    <a:p>
                      <a:pPr algn="ctr"/>
                      <a:r>
                        <a:rPr lang="es-ES" sz="1200" cap="none" spc="0">
                          <a:solidFill>
                            <a:schemeClr val="tx1"/>
                          </a:solidFill>
                          <a:effectLst/>
                        </a:rPr>
                        <a:t>Cliente</a:t>
                      </a:r>
                    </a:p>
                  </a:txBody>
                  <a:tcPr marL="45971" marR="68956" marT="0" marB="0" anchor="ctr">
                    <a:lnL w="12700" cmpd="sng">
                      <a:noFill/>
                      <a:prstDash val="solid"/>
                    </a:lnL>
                    <a:lnR w="12700" cmpd="sng">
                      <a:noFill/>
                      <a:prstDash val="solid"/>
                    </a:lnR>
                    <a:lnT w="9525" cap="flat" cmpd="sng" algn="ctr">
                      <a:solidFill>
                        <a:schemeClr val="accent1"/>
                      </a:solidFill>
                      <a:prstDash val="solid"/>
                    </a:lnT>
                    <a:lnB w="12700" cmpd="sng">
                      <a:noFill/>
                      <a:prstDash val="solid"/>
                    </a:lnB>
                    <a:solidFill>
                      <a:schemeClr val="accent1">
                        <a:lumMod val="20000"/>
                        <a:lumOff val="80000"/>
                      </a:schemeClr>
                    </a:solidFill>
                  </a:tcPr>
                </a:tc>
                <a:extLst>
                  <a:ext uri="{0D108BD9-81ED-4DB2-BD59-A6C34878D82A}">
                    <a16:rowId xmlns:a16="http://schemas.microsoft.com/office/drawing/2014/main" val="159946703"/>
                  </a:ext>
                </a:extLst>
              </a:tr>
              <a:tr h="404541">
                <a:tc>
                  <a:txBody>
                    <a:bodyPr/>
                    <a:lstStyle/>
                    <a:p>
                      <a:pPr algn="ctr"/>
                      <a:r>
                        <a:rPr lang="es-ES" sz="1200" b="1" cap="none" spc="0">
                          <a:solidFill>
                            <a:schemeClr val="tx1"/>
                          </a:solidFill>
                          <a:effectLst/>
                        </a:rPr>
                        <a:t>5</a:t>
                      </a:r>
                    </a:p>
                  </a:txBody>
                  <a:tcPr marL="0" marR="68956" marT="0" marB="0" anchor="ctr">
                    <a:lnL w="12700" cmpd="sng">
                      <a:noFill/>
                      <a:prstDash val="solid"/>
                    </a:lnL>
                    <a:lnR w="12700" cmpd="sng">
                      <a:noFill/>
                      <a:prstDash val="solid"/>
                    </a:lnR>
                    <a:lnT w="12700" cmpd="sng">
                      <a:noFill/>
                      <a:prstDash val="solid"/>
                    </a:lnT>
                    <a:lnB w="12700" cmpd="sng">
                      <a:noFill/>
                      <a:prstDash val="solid"/>
                    </a:lnB>
                    <a:noFill/>
                  </a:tcPr>
                </a:tc>
                <a:tc>
                  <a:txBody>
                    <a:bodyPr/>
                    <a:lstStyle/>
                    <a:p>
                      <a:pPr algn="ctr"/>
                      <a:r>
                        <a:rPr lang="es-ES" sz="1200" cap="none" spc="0">
                          <a:solidFill>
                            <a:schemeClr val="tx1"/>
                          </a:solidFill>
                          <a:effectLst/>
                        </a:rPr>
                        <a:t>Informar sobre cambios en la legislación que afecten al proyecto</a:t>
                      </a:r>
                    </a:p>
                  </a:txBody>
                  <a:tcPr marL="0" marR="68956" marT="0" marB="0" anchor="ctr">
                    <a:lnL w="12700" cmpd="sng">
                      <a:noFill/>
                      <a:prstDash val="solid"/>
                    </a:lnL>
                    <a:lnR w="12700" cmpd="sng">
                      <a:noFill/>
                      <a:prstDash val="solid"/>
                    </a:lnR>
                    <a:lnT w="12700" cmpd="sng">
                      <a:noFill/>
                      <a:prstDash val="solid"/>
                    </a:lnT>
                    <a:lnB w="12700" cmpd="sng">
                      <a:noFill/>
                      <a:prstDash val="solid"/>
                    </a:lnB>
                    <a:noFill/>
                  </a:tcPr>
                </a:tc>
                <a:tc>
                  <a:txBody>
                    <a:bodyPr/>
                    <a:lstStyle/>
                    <a:p>
                      <a:pPr algn="ctr"/>
                      <a:r>
                        <a:rPr lang="es-ES" sz="1200" cap="none" spc="0">
                          <a:solidFill>
                            <a:schemeClr val="tx1"/>
                          </a:solidFill>
                          <a:effectLst/>
                        </a:rPr>
                        <a:t>Informe con los cambios legislativos y sus implicaciones</a:t>
                      </a:r>
                    </a:p>
                  </a:txBody>
                  <a:tcPr marL="0" marR="68956" marT="0" marB="0" anchor="ctr">
                    <a:lnL w="12700" cmpd="sng">
                      <a:noFill/>
                      <a:prstDash val="solid"/>
                    </a:lnL>
                    <a:lnR w="12700" cmpd="sng">
                      <a:noFill/>
                      <a:prstDash val="solid"/>
                    </a:lnR>
                    <a:lnT w="12700" cmpd="sng">
                      <a:noFill/>
                      <a:prstDash val="solid"/>
                    </a:lnT>
                    <a:lnB w="12700" cmpd="sng">
                      <a:noFill/>
                      <a:prstDash val="solid"/>
                    </a:lnB>
                    <a:noFill/>
                  </a:tcPr>
                </a:tc>
                <a:tc>
                  <a:txBody>
                    <a:bodyPr/>
                    <a:lstStyle/>
                    <a:p>
                      <a:pPr algn="ctr"/>
                      <a:r>
                        <a:rPr lang="es-ES" sz="1200" cap="none" spc="0">
                          <a:solidFill>
                            <a:schemeClr val="tx1"/>
                          </a:solidFill>
                          <a:effectLst/>
                        </a:rPr>
                        <a:t>Jefe del proyecto</a:t>
                      </a:r>
                    </a:p>
                  </a:txBody>
                  <a:tcPr marL="0" marR="68956" marT="0" marB="0" anchor="ctr">
                    <a:lnL w="12700" cmpd="sng">
                      <a:noFill/>
                      <a:prstDash val="solid"/>
                    </a:lnL>
                    <a:lnR w="12700" cmpd="sng">
                      <a:noFill/>
                      <a:prstDash val="solid"/>
                    </a:lnR>
                    <a:lnT w="12700" cmpd="sng">
                      <a:noFill/>
                      <a:prstDash val="solid"/>
                    </a:lnT>
                    <a:lnB w="12700" cmpd="sng">
                      <a:noFill/>
                      <a:prstDash val="solid"/>
                    </a:lnB>
                    <a:noFill/>
                  </a:tcPr>
                </a:tc>
                <a:tc>
                  <a:txBody>
                    <a:bodyPr/>
                    <a:lstStyle/>
                    <a:p>
                      <a:pPr algn="ctr"/>
                      <a:r>
                        <a:rPr lang="es-ES" sz="1200" cap="none" spc="0">
                          <a:solidFill>
                            <a:schemeClr val="tx1"/>
                          </a:solidFill>
                          <a:effectLst/>
                        </a:rPr>
                        <a:t>Jefe del proyecto</a:t>
                      </a:r>
                    </a:p>
                  </a:txBody>
                  <a:tcPr marL="0" marR="68956" marT="0" marB="0" anchor="ctr">
                    <a:lnL w="12700" cmpd="sng">
                      <a:noFill/>
                      <a:prstDash val="solid"/>
                    </a:lnL>
                    <a:lnR w="12700" cmpd="sng">
                      <a:noFill/>
                      <a:prstDash val="solid"/>
                    </a:lnR>
                    <a:lnT w="12700" cmpd="sng">
                      <a:noFill/>
                      <a:prstDash val="solid"/>
                    </a:lnT>
                    <a:lnB w="12700" cmpd="sng">
                      <a:noFill/>
                      <a:prstDash val="solid"/>
                    </a:lnB>
                    <a:noFill/>
                  </a:tcPr>
                </a:tc>
                <a:tc>
                  <a:txBody>
                    <a:bodyPr/>
                    <a:lstStyle/>
                    <a:p>
                      <a:pPr algn="ctr"/>
                      <a:r>
                        <a:rPr lang="es-ES" sz="1200" cap="none" spc="0">
                          <a:solidFill>
                            <a:schemeClr val="tx1"/>
                          </a:solidFill>
                          <a:effectLst/>
                        </a:rPr>
                        <a:t>Componentes del equipo de desarrollo</a:t>
                      </a:r>
                    </a:p>
                  </a:txBody>
                  <a:tcPr marL="0" marR="68956" marT="0" marB="0"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931645277"/>
                  </a:ext>
                </a:extLst>
              </a:tr>
            </a:tbl>
          </a:graphicData>
        </a:graphic>
      </p:graphicFrame>
    </p:spTree>
    <p:extLst>
      <p:ext uri="{BB962C8B-B14F-4D97-AF65-F5344CB8AC3E}">
        <p14:creationId xmlns:p14="http://schemas.microsoft.com/office/powerpoint/2010/main" val="2311643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955A2079-FA98-4876-80F0-72364A7D2E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E78EB85F-49F7-A935-EB4C-0AA82EA90BC9}"/>
              </a:ext>
            </a:extLst>
          </p:cNvPr>
          <p:cNvSpPr>
            <a:spLocks noGrp="1"/>
          </p:cNvSpPr>
          <p:nvPr>
            <p:ph type="title"/>
          </p:nvPr>
        </p:nvSpPr>
        <p:spPr>
          <a:xfrm>
            <a:off x="838200" y="557188"/>
            <a:ext cx="10515600" cy="1133499"/>
          </a:xfrm>
        </p:spPr>
        <p:txBody>
          <a:bodyPr>
            <a:normAutofit/>
          </a:bodyPr>
          <a:lstStyle/>
          <a:p>
            <a:pPr algn="ctr"/>
            <a:r>
              <a:rPr lang="es-ES" sz="5200">
                <a:ea typeface="+mj-lt"/>
                <a:cs typeface="+mj-lt"/>
              </a:rPr>
              <a:t>Plan de Gestión de las comunicaciones</a:t>
            </a:r>
            <a:endParaRPr lang="es-ES" sz="5200"/>
          </a:p>
        </p:txBody>
      </p:sp>
      <p:graphicFrame>
        <p:nvGraphicFramePr>
          <p:cNvPr id="9" name="Marcador de contenido 8">
            <a:extLst>
              <a:ext uri="{FF2B5EF4-FFF2-40B4-BE49-F238E27FC236}">
                <a16:creationId xmlns:a16="http://schemas.microsoft.com/office/drawing/2014/main" id="{F1FB07DC-CB54-8843-27D5-41F2284EA597}"/>
              </a:ext>
            </a:extLst>
          </p:cNvPr>
          <p:cNvGraphicFramePr>
            <a:graphicFrameLocks noGrp="1"/>
          </p:cNvGraphicFramePr>
          <p:nvPr>
            <p:ph idx="1"/>
            <p:extLst>
              <p:ext uri="{D42A27DB-BD31-4B8C-83A1-F6EECF244321}">
                <p14:modId xmlns:p14="http://schemas.microsoft.com/office/powerpoint/2010/main" val="1392620047"/>
              </p:ext>
            </p:extLst>
          </p:nvPr>
        </p:nvGraphicFramePr>
        <p:xfrm>
          <a:off x="838200" y="2463952"/>
          <a:ext cx="10515602" cy="3082244"/>
        </p:xfrm>
        <a:graphic>
          <a:graphicData uri="http://schemas.openxmlformats.org/drawingml/2006/table">
            <a:tbl>
              <a:tblPr firstRow="1" bandRow="1">
                <a:tableStyleId>{69012ECD-51FC-41F1-AA8D-1B2483CD663E}</a:tableStyleId>
              </a:tblPr>
              <a:tblGrid>
                <a:gridCol w="911919">
                  <a:extLst>
                    <a:ext uri="{9D8B030D-6E8A-4147-A177-3AD203B41FA5}">
                      <a16:colId xmlns:a16="http://schemas.microsoft.com/office/drawing/2014/main" val="3916584372"/>
                    </a:ext>
                  </a:extLst>
                </a:gridCol>
                <a:gridCol w="2188493">
                  <a:extLst>
                    <a:ext uri="{9D8B030D-6E8A-4147-A177-3AD203B41FA5}">
                      <a16:colId xmlns:a16="http://schemas.microsoft.com/office/drawing/2014/main" val="466200994"/>
                    </a:ext>
                  </a:extLst>
                </a:gridCol>
                <a:gridCol w="2615801">
                  <a:extLst>
                    <a:ext uri="{9D8B030D-6E8A-4147-A177-3AD203B41FA5}">
                      <a16:colId xmlns:a16="http://schemas.microsoft.com/office/drawing/2014/main" val="4137898766"/>
                    </a:ext>
                  </a:extLst>
                </a:gridCol>
                <a:gridCol w="4021248">
                  <a:extLst>
                    <a:ext uri="{9D8B030D-6E8A-4147-A177-3AD203B41FA5}">
                      <a16:colId xmlns:a16="http://schemas.microsoft.com/office/drawing/2014/main" val="600960523"/>
                    </a:ext>
                  </a:extLst>
                </a:gridCol>
                <a:gridCol w="778141">
                  <a:extLst>
                    <a:ext uri="{9D8B030D-6E8A-4147-A177-3AD203B41FA5}">
                      <a16:colId xmlns:a16="http://schemas.microsoft.com/office/drawing/2014/main" val="291413690"/>
                    </a:ext>
                  </a:extLst>
                </a:gridCol>
              </a:tblGrid>
              <a:tr h="353174">
                <a:tc>
                  <a:txBody>
                    <a:bodyPr/>
                    <a:lstStyle/>
                    <a:p>
                      <a:pPr algn="ctr" fontAlgn="base"/>
                      <a:r>
                        <a:rPr lang="es-ES" sz="1600">
                          <a:effectLst/>
                        </a:rPr>
                        <a:t>Código​​</a:t>
                      </a:r>
                      <a:endParaRPr lang="es-ES" sz="1600" b="1" i="0">
                        <a:solidFill>
                          <a:srgbClr val="FFFFFF"/>
                        </a:solidFill>
                        <a:effectLst/>
                      </a:endParaRPr>
                    </a:p>
                  </a:txBody>
                  <a:tcPr marL="80267" marR="80267" marT="40133" marB="40133"/>
                </a:tc>
                <a:tc>
                  <a:txBody>
                    <a:bodyPr/>
                    <a:lstStyle/>
                    <a:p>
                      <a:pPr algn="ctr" fontAlgn="base"/>
                      <a:r>
                        <a:rPr lang="es-ES" sz="1600">
                          <a:effectLst/>
                        </a:rPr>
                        <a:t>Formato​​</a:t>
                      </a:r>
                      <a:endParaRPr lang="es-ES" sz="1600" b="1" i="0">
                        <a:solidFill>
                          <a:srgbClr val="FFFFFF"/>
                        </a:solidFill>
                        <a:effectLst/>
                      </a:endParaRPr>
                    </a:p>
                  </a:txBody>
                  <a:tcPr marL="80267" marR="80267" marT="40133" marB="40133"/>
                </a:tc>
                <a:tc>
                  <a:txBody>
                    <a:bodyPr/>
                    <a:lstStyle/>
                    <a:p>
                      <a:pPr algn="ctr" fontAlgn="base"/>
                      <a:r>
                        <a:rPr lang="es-ES" sz="1600">
                          <a:effectLst/>
                        </a:rPr>
                        <a:t>Medio​​</a:t>
                      </a:r>
                      <a:endParaRPr lang="es-ES" sz="1600" b="1" i="0">
                        <a:solidFill>
                          <a:srgbClr val="FFFFFF"/>
                        </a:solidFill>
                        <a:effectLst/>
                      </a:endParaRPr>
                    </a:p>
                  </a:txBody>
                  <a:tcPr marL="80267" marR="80267" marT="40133" marB="40133"/>
                </a:tc>
                <a:tc>
                  <a:txBody>
                    <a:bodyPr/>
                    <a:lstStyle/>
                    <a:p>
                      <a:pPr algn="ctr" fontAlgn="base"/>
                      <a:r>
                        <a:rPr lang="es-ES" sz="1600">
                          <a:effectLst/>
                        </a:rPr>
                        <a:t>Frecuencia​​</a:t>
                      </a:r>
                      <a:endParaRPr lang="es-ES" sz="1600" b="1" i="0">
                        <a:solidFill>
                          <a:srgbClr val="FFFFFF"/>
                        </a:solidFill>
                        <a:effectLst/>
                      </a:endParaRPr>
                    </a:p>
                  </a:txBody>
                  <a:tcPr marL="80267" marR="80267" marT="40133" marB="40133"/>
                </a:tc>
                <a:tc>
                  <a:txBody>
                    <a:bodyPr/>
                    <a:lstStyle/>
                    <a:p>
                      <a:pPr algn="ctr" fontAlgn="base"/>
                      <a:r>
                        <a:rPr lang="es-ES" sz="1600">
                          <a:effectLst/>
                        </a:rPr>
                        <a:t>Plazo​​</a:t>
                      </a:r>
                      <a:endParaRPr lang="es-ES" sz="1600" b="1" i="0">
                        <a:solidFill>
                          <a:srgbClr val="FFFFFF"/>
                        </a:solidFill>
                        <a:effectLst/>
                      </a:endParaRPr>
                    </a:p>
                  </a:txBody>
                  <a:tcPr marL="80267" marR="80267" marT="40133" marB="40133"/>
                </a:tc>
                <a:extLst>
                  <a:ext uri="{0D108BD9-81ED-4DB2-BD59-A6C34878D82A}">
                    <a16:rowId xmlns:a16="http://schemas.microsoft.com/office/drawing/2014/main" val="263969039"/>
                  </a:ext>
                </a:extLst>
              </a:tr>
              <a:tr h="353174">
                <a:tc>
                  <a:txBody>
                    <a:bodyPr/>
                    <a:lstStyle/>
                    <a:p>
                      <a:pPr algn="ctr" fontAlgn="base"/>
                      <a:r>
                        <a:rPr lang="es-ES" sz="1600">
                          <a:effectLst/>
                        </a:rPr>
                        <a:t>1​​</a:t>
                      </a:r>
                      <a:endParaRPr lang="es-ES" sz="1600" b="0" i="0">
                        <a:solidFill>
                          <a:srgbClr val="000000"/>
                        </a:solidFill>
                        <a:effectLst/>
                      </a:endParaRPr>
                    </a:p>
                  </a:txBody>
                  <a:tcPr marL="80267" marR="80267" marT="40133" marB="40133"/>
                </a:tc>
                <a:tc>
                  <a:txBody>
                    <a:bodyPr/>
                    <a:lstStyle/>
                    <a:p>
                      <a:pPr algn="ctr" fontAlgn="base"/>
                      <a:r>
                        <a:rPr lang="es-ES" sz="1600">
                          <a:effectLst/>
                        </a:rPr>
                        <a:t>PDF​​</a:t>
                      </a:r>
                      <a:endParaRPr lang="es-ES" sz="1600" b="0" i="0">
                        <a:solidFill>
                          <a:srgbClr val="000000"/>
                        </a:solidFill>
                        <a:effectLst/>
                      </a:endParaRPr>
                    </a:p>
                  </a:txBody>
                  <a:tcPr marL="80267" marR="80267" marT="40133" marB="40133"/>
                </a:tc>
                <a:tc>
                  <a:txBody>
                    <a:bodyPr/>
                    <a:lstStyle/>
                    <a:p>
                      <a:pPr algn="ctr" fontAlgn="base"/>
                      <a:r>
                        <a:rPr lang="es-ES" sz="1600">
                          <a:effectLst/>
                        </a:rPr>
                        <a:t>Correo electrónico​​</a:t>
                      </a:r>
                      <a:endParaRPr lang="es-ES" sz="1600" b="0" i="0">
                        <a:solidFill>
                          <a:srgbClr val="000000"/>
                        </a:solidFill>
                        <a:effectLst/>
                      </a:endParaRPr>
                    </a:p>
                  </a:txBody>
                  <a:tcPr marL="80267" marR="80267" marT="40133" marB="40133"/>
                </a:tc>
                <a:tc>
                  <a:txBody>
                    <a:bodyPr/>
                    <a:lstStyle/>
                    <a:p>
                      <a:pPr algn="ctr" fontAlgn="base"/>
                      <a:r>
                        <a:rPr lang="es-ES" sz="1600">
                          <a:effectLst/>
                        </a:rPr>
                        <a:t>Cada vez que haya un cambio​​</a:t>
                      </a:r>
                      <a:endParaRPr lang="es-ES" sz="1600" b="0" i="0">
                        <a:solidFill>
                          <a:srgbClr val="000000"/>
                        </a:solidFill>
                        <a:effectLst/>
                      </a:endParaRPr>
                    </a:p>
                  </a:txBody>
                  <a:tcPr marL="80267" marR="80267" marT="40133" marB="40133"/>
                </a:tc>
                <a:tc>
                  <a:txBody>
                    <a:bodyPr/>
                    <a:lstStyle/>
                    <a:p>
                      <a:pPr algn="ctr" fontAlgn="base"/>
                      <a:r>
                        <a:rPr lang="es-ES" sz="1600">
                          <a:effectLst/>
                        </a:rPr>
                        <a:t>1 día​​</a:t>
                      </a:r>
                      <a:endParaRPr lang="es-ES" sz="1600" b="0" i="0">
                        <a:solidFill>
                          <a:srgbClr val="000000"/>
                        </a:solidFill>
                        <a:effectLst/>
                      </a:endParaRPr>
                    </a:p>
                  </a:txBody>
                  <a:tcPr marL="80267" marR="80267" marT="40133" marB="40133"/>
                </a:tc>
                <a:extLst>
                  <a:ext uri="{0D108BD9-81ED-4DB2-BD59-A6C34878D82A}">
                    <a16:rowId xmlns:a16="http://schemas.microsoft.com/office/drawing/2014/main" val="339751094"/>
                  </a:ext>
                </a:extLst>
              </a:tr>
              <a:tr h="593974">
                <a:tc>
                  <a:txBody>
                    <a:bodyPr/>
                    <a:lstStyle/>
                    <a:p>
                      <a:pPr algn="ctr" fontAlgn="base"/>
                      <a:r>
                        <a:rPr lang="es-ES" sz="1600">
                          <a:effectLst/>
                        </a:rPr>
                        <a:t>2​​</a:t>
                      </a:r>
                      <a:endParaRPr lang="es-ES" sz="1600" b="0" i="0">
                        <a:solidFill>
                          <a:srgbClr val="000000"/>
                        </a:solidFill>
                        <a:effectLst/>
                      </a:endParaRPr>
                    </a:p>
                  </a:txBody>
                  <a:tcPr marL="80267" marR="80267" marT="40133" marB="40133"/>
                </a:tc>
                <a:tc>
                  <a:txBody>
                    <a:bodyPr/>
                    <a:lstStyle/>
                    <a:p>
                      <a:pPr algn="ctr" fontAlgn="base"/>
                      <a:r>
                        <a:rPr lang="es-ES" sz="1600">
                          <a:effectLst/>
                        </a:rPr>
                        <a:t>PDF o documento físico​​</a:t>
                      </a:r>
                      <a:endParaRPr lang="es-ES" sz="1600" b="0" i="0">
                        <a:solidFill>
                          <a:srgbClr val="000000"/>
                        </a:solidFill>
                        <a:effectLst/>
                      </a:endParaRPr>
                    </a:p>
                  </a:txBody>
                  <a:tcPr marL="80267" marR="80267" marT="40133" marB="40133"/>
                </a:tc>
                <a:tc>
                  <a:txBody>
                    <a:bodyPr/>
                    <a:lstStyle/>
                    <a:p>
                      <a:pPr algn="ctr" fontAlgn="base"/>
                      <a:r>
                        <a:rPr lang="es-ES" sz="1600">
                          <a:effectLst/>
                        </a:rPr>
                        <a:t>Correo electrónico o reunión​​</a:t>
                      </a:r>
                      <a:endParaRPr lang="es-ES" sz="1600" b="0" i="0">
                        <a:solidFill>
                          <a:srgbClr val="000000"/>
                        </a:solidFill>
                        <a:effectLst/>
                      </a:endParaRPr>
                    </a:p>
                  </a:txBody>
                  <a:tcPr marL="80267" marR="80267" marT="40133" marB="40133"/>
                </a:tc>
                <a:tc>
                  <a:txBody>
                    <a:bodyPr/>
                    <a:lstStyle/>
                    <a:p>
                      <a:pPr algn="ctr" fontAlgn="base"/>
                      <a:r>
                        <a:rPr lang="es-ES" sz="1600">
                          <a:effectLst/>
                        </a:rPr>
                        <a:t>Cada vez que haya una entrega establecida​​</a:t>
                      </a:r>
                      <a:endParaRPr lang="es-ES" sz="1600" b="0" i="0">
                        <a:solidFill>
                          <a:srgbClr val="000000"/>
                        </a:solidFill>
                        <a:effectLst/>
                      </a:endParaRPr>
                    </a:p>
                  </a:txBody>
                  <a:tcPr marL="80267" marR="80267" marT="40133" marB="40133"/>
                </a:tc>
                <a:tc>
                  <a:txBody>
                    <a:bodyPr/>
                    <a:lstStyle/>
                    <a:p>
                      <a:pPr algn="ctr" fontAlgn="base"/>
                      <a:r>
                        <a:rPr lang="es-ES" sz="1600">
                          <a:effectLst/>
                        </a:rPr>
                        <a:t>1 día​​</a:t>
                      </a:r>
                      <a:endParaRPr lang="es-ES" sz="1600" b="0" i="0">
                        <a:solidFill>
                          <a:srgbClr val="000000"/>
                        </a:solidFill>
                        <a:effectLst/>
                      </a:endParaRPr>
                    </a:p>
                  </a:txBody>
                  <a:tcPr marL="80267" marR="80267" marT="40133" marB="40133"/>
                </a:tc>
                <a:extLst>
                  <a:ext uri="{0D108BD9-81ED-4DB2-BD59-A6C34878D82A}">
                    <a16:rowId xmlns:a16="http://schemas.microsoft.com/office/drawing/2014/main" val="1007944893"/>
                  </a:ext>
                </a:extLst>
              </a:tr>
              <a:tr h="593974">
                <a:tc>
                  <a:txBody>
                    <a:bodyPr/>
                    <a:lstStyle/>
                    <a:p>
                      <a:pPr algn="ctr" fontAlgn="base"/>
                      <a:r>
                        <a:rPr lang="es-ES" sz="1600">
                          <a:effectLst/>
                        </a:rPr>
                        <a:t>3​​</a:t>
                      </a:r>
                      <a:endParaRPr lang="es-ES" sz="1600" b="0" i="0">
                        <a:solidFill>
                          <a:srgbClr val="000000"/>
                        </a:solidFill>
                        <a:effectLst/>
                      </a:endParaRPr>
                    </a:p>
                  </a:txBody>
                  <a:tcPr marL="80267" marR="80267" marT="40133" marB="40133"/>
                </a:tc>
                <a:tc>
                  <a:txBody>
                    <a:bodyPr/>
                    <a:lstStyle/>
                    <a:p>
                      <a:pPr algn="ctr" fontAlgn="base"/>
                      <a:r>
                        <a:rPr lang="es-ES" sz="1600">
                          <a:effectLst/>
                        </a:rPr>
                        <a:t>PDF​​</a:t>
                      </a:r>
                      <a:endParaRPr lang="es-ES" sz="1600" b="0" i="0">
                        <a:solidFill>
                          <a:srgbClr val="000000"/>
                        </a:solidFill>
                        <a:effectLst/>
                      </a:endParaRPr>
                    </a:p>
                  </a:txBody>
                  <a:tcPr marL="80267" marR="80267" marT="40133" marB="40133"/>
                </a:tc>
                <a:tc>
                  <a:txBody>
                    <a:bodyPr/>
                    <a:lstStyle/>
                    <a:p>
                      <a:pPr algn="ctr" fontAlgn="base"/>
                      <a:r>
                        <a:rPr lang="es-ES" sz="1600">
                          <a:effectLst/>
                        </a:rPr>
                        <a:t>Correo electrónico​​</a:t>
                      </a:r>
                      <a:endParaRPr lang="es-ES" sz="1600" b="0" i="0">
                        <a:solidFill>
                          <a:srgbClr val="000000"/>
                        </a:solidFill>
                        <a:effectLst/>
                      </a:endParaRPr>
                    </a:p>
                  </a:txBody>
                  <a:tcPr marL="80267" marR="80267" marT="40133" marB="40133"/>
                </a:tc>
                <a:tc>
                  <a:txBody>
                    <a:bodyPr/>
                    <a:lstStyle/>
                    <a:p>
                      <a:pPr algn="ctr" fontAlgn="base"/>
                      <a:r>
                        <a:rPr lang="es-ES" sz="1600">
                          <a:effectLst/>
                        </a:rPr>
                        <a:t>Cuando se realicen los </a:t>
                      </a:r>
                      <a:r>
                        <a:rPr lang="es-ES" sz="1600" err="1">
                          <a:effectLst/>
                        </a:rPr>
                        <a:t>tests</a:t>
                      </a:r>
                      <a:r>
                        <a:rPr lang="es-ES" sz="1600">
                          <a:effectLst/>
                        </a:rPr>
                        <a:t> de algún módulo​​</a:t>
                      </a:r>
                      <a:endParaRPr lang="es-ES" sz="1600" b="0" i="0">
                        <a:solidFill>
                          <a:srgbClr val="000000"/>
                        </a:solidFill>
                        <a:effectLst/>
                      </a:endParaRPr>
                    </a:p>
                  </a:txBody>
                  <a:tcPr marL="80267" marR="80267" marT="40133" marB="40133"/>
                </a:tc>
                <a:tc>
                  <a:txBody>
                    <a:bodyPr/>
                    <a:lstStyle/>
                    <a:p>
                      <a:pPr algn="ctr" fontAlgn="base"/>
                      <a:r>
                        <a:rPr lang="es-ES" sz="1600">
                          <a:effectLst/>
                        </a:rPr>
                        <a:t>1 día​​</a:t>
                      </a:r>
                      <a:endParaRPr lang="es-ES" sz="1600" b="0" i="0">
                        <a:solidFill>
                          <a:srgbClr val="000000"/>
                        </a:solidFill>
                        <a:effectLst/>
                      </a:endParaRPr>
                    </a:p>
                  </a:txBody>
                  <a:tcPr marL="80267" marR="80267" marT="40133" marB="40133"/>
                </a:tc>
                <a:extLst>
                  <a:ext uri="{0D108BD9-81ED-4DB2-BD59-A6C34878D82A}">
                    <a16:rowId xmlns:a16="http://schemas.microsoft.com/office/drawing/2014/main" val="2355510670"/>
                  </a:ext>
                </a:extLst>
              </a:tr>
              <a:tr h="353174">
                <a:tc>
                  <a:txBody>
                    <a:bodyPr/>
                    <a:lstStyle/>
                    <a:p>
                      <a:pPr algn="ctr" fontAlgn="base"/>
                      <a:r>
                        <a:rPr lang="es-ES" sz="1600">
                          <a:effectLst/>
                        </a:rPr>
                        <a:t>4​​</a:t>
                      </a:r>
                      <a:endParaRPr lang="es-ES" sz="1600" b="0" i="0">
                        <a:solidFill>
                          <a:srgbClr val="000000"/>
                        </a:solidFill>
                        <a:effectLst/>
                      </a:endParaRPr>
                    </a:p>
                  </a:txBody>
                  <a:tcPr marL="80267" marR="80267" marT="40133" marB="40133"/>
                </a:tc>
                <a:tc>
                  <a:txBody>
                    <a:bodyPr/>
                    <a:lstStyle/>
                    <a:p>
                      <a:pPr algn="ctr" fontAlgn="base"/>
                      <a:r>
                        <a:rPr lang="es-ES" sz="1600">
                          <a:effectLst/>
                        </a:rPr>
                        <a:t>PDF​​</a:t>
                      </a:r>
                      <a:endParaRPr lang="es-ES" sz="1600" b="0" i="0">
                        <a:solidFill>
                          <a:srgbClr val="000000"/>
                        </a:solidFill>
                        <a:effectLst/>
                      </a:endParaRPr>
                    </a:p>
                  </a:txBody>
                  <a:tcPr marL="80267" marR="80267" marT="40133" marB="40133"/>
                </a:tc>
                <a:tc>
                  <a:txBody>
                    <a:bodyPr/>
                    <a:lstStyle/>
                    <a:p>
                      <a:pPr algn="ctr" fontAlgn="base"/>
                      <a:r>
                        <a:rPr lang="es-ES" sz="1600">
                          <a:effectLst/>
                        </a:rPr>
                        <a:t>Correo electrónico​​</a:t>
                      </a:r>
                      <a:endParaRPr lang="es-ES" sz="1600" b="0" i="0">
                        <a:solidFill>
                          <a:srgbClr val="000000"/>
                        </a:solidFill>
                        <a:effectLst/>
                      </a:endParaRPr>
                    </a:p>
                  </a:txBody>
                  <a:tcPr marL="80267" marR="80267" marT="40133" marB="40133"/>
                </a:tc>
                <a:tc>
                  <a:txBody>
                    <a:bodyPr/>
                    <a:lstStyle/>
                    <a:p>
                      <a:pPr algn="ctr" fontAlgn="base"/>
                      <a:r>
                        <a:rPr lang="es-ES" sz="1600">
                          <a:effectLst/>
                        </a:rPr>
                        <a:t>Al dar por finalizado el proyecto​​</a:t>
                      </a:r>
                      <a:endParaRPr lang="es-ES" sz="1600" b="0" i="0">
                        <a:solidFill>
                          <a:srgbClr val="000000"/>
                        </a:solidFill>
                        <a:effectLst/>
                      </a:endParaRPr>
                    </a:p>
                  </a:txBody>
                  <a:tcPr marL="80267" marR="80267" marT="40133" marB="40133"/>
                </a:tc>
                <a:tc>
                  <a:txBody>
                    <a:bodyPr/>
                    <a:lstStyle/>
                    <a:p>
                      <a:pPr algn="ctr" fontAlgn="base"/>
                      <a:r>
                        <a:rPr lang="es-ES" sz="1600">
                          <a:effectLst/>
                        </a:rPr>
                        <a:t>1 día​​</a:t>
                      </a:r>
                      <a:endParaRPr lang="es-ES" sz="1600" b="0" i="0">
                        <a:solidFill>
                          <a:srgbClr val="000000"/>
                        </a:solidFill>
                        <a:effectLst/>
                      </a:endParaRPr>
                    </a:p>
                  </a:txBody>
                  <a:tcPr marL="80267" marR="80267" marT="40133" marB="40133"/>
                </a:tc>
                <a:extLst>
                  <a:ext uri="{0D108BD9-81ED-4DB2-BD59-A6C34878D82A}">
                    <a16:rowId xmlns:a16="http://schemas.microsoft.com/office/drawing/2014/main" val="91551244"/>
                  </a:ext>
                </a:extLst>
              </a:tr>
              <a:tr h="834774">
                <a:tc>
                  <a:txBody>
                    <a:bodyPr/>
                    <a:lstStyle/>
                    <a:p>
                      <a:pPr algn="ctr" fontAlgn="base"/>
                      <a:r>
                        <a:rPr lang="es-ES" sz="1600">
                          <a:effectLst/>
                        </a:rPr>
                        <a:t>5​​</a:t>
                      </a:r>
                      <a:endParaRPr lang="es-ES" sz="1600" b="0" i="0">
                        <a:solidFill>
                          <a:srgbClr val="000000"/>
                        </a:solidFill>
                        <a:effectLst/>
                      </a:endParaRPr>
                    </a:p>
                  </a:txBody>
                  <a:tcPr marL="80267" marR="80267" marT="40133" marB="40133"/>
                </a:tc>
                <a:tc>
                  <a:txBody>
                    <a:bodyPr/>
                    <a:lstStyle/>
                    <a:p>
                      <a:pPr algn="ctr" fontAlgn="base"/>
                      <a:r>
                        <a:rPr lang="es-ES" sz="1600">
                          <a:effectLst/>
                        </a:rPr>
                        <a:t>PDF​​</a:t>
                      </a:r>
                      <a:endParaRPr lang="es-ES" sz="1600" b="0" i="0">
                        <a:solidFill>
                          <a:srgbClr val="000000"/>
                        </a:solidFill>
                        <a:effectLst/>
                      </a:endParaRPr>
                    </a:p>
                  </a:txBody>
                  <a:tcPr marL="80267" marR="80267" marT="40133" marB="40133"/>
                </a:tc>
                <a:tc>
                  <a:txBody>
                    <a:bodyPr/>
                    <a:lstStyle/>
                    <a:p>
                      <a:pPr algn="ctr" fontAlgn="base"/>
                      <a:r>
                        <a:rPr lang="es-ES" sz="1600">
                          <a:effectLst/>
                        </a:rPr>
                        <a:t>Correo electrónico​​</a:t>
                      </a:r>
                      <a:endParaRPr lang="es-ES" sz="1600" b="0" i="0">
                        <a:solidFill>
                          <a:srgbClr val="000000"/>
                        </a:solidFill>
                        <a:effectLst/>
                      </a:endParaRPr>
                    </a:p>
                  </a:txBody>
                  <a:tcPr marL="80267" marR="80267" marT="40133" marB="40133"/>
                </a:tc>
                <a:tc>
                  <a:txBody>
                    <a:bodyPr/>
                    <a:lstStyle/>
                    <a:p>
                      <a:pPr algn="ctr" fontAlgn="base"/>
                      <a:r>
                        <a:rPr lang="es-ES" sz="1600">
                          <a:effectLst/>
                        </a:rPr>
                        <a:t>Si se da algún cambio relacionado con la normativa​​</a:t>
                      </a:r>
                      <a:endParaRPr lang="es-ES" sz="1600" b="0" i="0">
                        <a:solidFill>
                          <a:srgbClr val="000000"/>
                        </a:solidFill>
                        <a:effectLst/>
                      </a:endParaRPr>
                    </a:p>
                  </a:txBody>
                  <a:tcPr marL="80267" marR="80267" marT="40133" marB="40133"/>
                </a:tc>
                <a:tc>
                  <a:txBody>
                    <a:bodyPr/>
                    <a:lstStyle/>
                    <a:p>
                      <a:pPr algn="ctr" fontAlgn="base"/>
                      <a:r>
                        <a:rPr lang="es-ES" sz="1600">
                          <a:effectLst/>
                        </a:rPr>
                        <a:t>1 día​​</a:t>
                      </a:r>
                      <a:endParaRPr lang="es-ES" sz="1600" b="0" i="0">
                        <a:solidFill>
                          <a:srgbClr val="000000"/>
                        </a:solidFill>
                        <a:effectLst/>
                      </a:endParaRPr>
                    </a:p>
                  </a:txBody>
                  <a:tcPr marL="80267" marR="80267" marT="40133" marB="40133"/>
                </a:tc>
                <a:extLst>
                  <a:ext uri="{0D108BD9-81ED-4DB2-BD59-A6C34878D82A}">
                    <a16:rowId xmlns:a16="http://schemas.microsoft.com/office/drawing/2014/main" val="3369371266"/>
                  </a:ext>
                </a:extLst>
              </a:tr>
            </a:tbl>
          </a:graphicData>
        </a:graphic>
      </p:graphicFrame>
    </p:spTree>
    <p:extLst>
      <p:ext uri="{BB962C8B-B14F-4D97-AF65-F5344CB8AC3E}">
        <p14:creationId xmlns:p14="http://schemas.microsoft.com/office/powerpoint/2010/main" val="21479112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02EC4BB-A258-CAF2-F2C1-6228116CD447}"/>
              </a:ext>
            </a:extLst>
          </p:cNvPr>
          <p:cNvSpPr>
            <a:spLocks noGrp="1"/>
          </p:cNvSpPr>
          <p:nvPr>
            <p:ph type="title"/>
          </p:nvPr>
        </p:nvSpPr>
        <p:spPr/>
        <p:txBody>
          <a:bodyPr/>
          <a:lstStyle/>
          <a:p>
            <a:r>
              <a:rPr lang="es-ES">
                <a:ea typeface="+mj-lt"/>
                <a:cs typeface="+mj-lt"/>
              </a:rPr>
              <a:t>Plan de Gestión de riesgos</a:t>
            </a:r>
            <a:endParaRPr lang="es-ES"/>
          </a:p>
        </p:txBody>
      </p:sp>
      <p:graphicFrame>
        <p:nvGraphicFramePr>
          <p:cNvPr id="4" name="Tabla 4">
            <a:extLst>
              <a:ext uri="{FF2B5EF4-FFF2-40B4-BE49-F238E27FC236}">
                <a16:creationId xmlns:a16="http://schemas.microsoft.com/office/drawing/2014/main" id="{9B6D02BF-9A86-E8EB-8FBB-F407039700BB}"/>
              </a:ext>
            </a:extLst>
          </p:cNvPr>
          <p:cNvGraphicFramePr>
            <a:graphicFrameLocks noGrp="1"/>
          </p:cNvGraphicFramePr>
          <p:nvPr>
            <p:ph idx="1"/>
            <p:extLst>
              <p:ext uri="{D42A27DB-BD31-4B8C-83A1-F6EECF244321}">
                <p14:modId xmlns:p14="http://schemas.microsoft.com/office/powerpoint/2010/main" val="567800987"/>
              </p:ext>
            </p:extLst>
          </p:nvPr>
        </p:nvGraphicFramePr>
        <p:xfrm>
          <a:off x="838200" y="1320800"/>
          <a:ext cx="10515600" cy="5208016"/>
        </p:xfrm>
        <a:graphic>
          <a:graphicData uri="http://schemas.openxmlformats.org/drawingml/2006/table">
            <a:tbl>
              <a:tblPr firstRow="1" bandRow="1">
                <a:tableStyleId>{5C22544A-7EE6-4342-B048-85BDC9FD1C3A}</a:tableStyleId>
              </a:tblPr>
              <a:tblGrid>
                <a:gridCol w="2855976">
                  <a:extLst>
                    <a:ext uri="{9D8B030D-6E8A-4147-A177-3AD203B41FA5}">
                      <a16:colId xmlns:a16="http://schemas.microsoft.com/office/drawing/2014/main" val="3317008959"/>
                    </a:ext>
                  </a:extLst>
                </a:gridCol>
                <a:gridCol w="1097280">
                  <a:extLst>
                    <a:ext uri="{9D8B030D-6E8A-4147-A177-3AD203B41FA5}">
                      <a16:colId xmlns:a16="http://schemas.microsoft.com/office/drawing/2014/main" val="4241149306"/>
                    </a:ext>
                  </a:extLst>
                </a:gridCol>
                <a:gridCol w="755904">
                  <a:extLst>
                    <a:ext uri="{9D8B030D-6E8A-4147-A177-3AD203B41FA5}">
                      <a16:colId xmlns:a16="http://schemas.microsoft.com/office/drawing/2014/main" val="3505415296"/>
                    </a:ext>
                  </a:extLst>
                </a:gridCol>
                <a:gridCol w="1060704">
                  <a:extLst>
                    <a:ext uri="{9D8B030D-6E8A-4147-A177-3AD203B41FA5}">
                      <a16:colId xmlns:a16="http://schemas.microsoft.com/office/drawing/2014/main" val="1299140602"/>
                    </a:ext>
                  </a:extLst>
                </a:gridCol>
                <a:gridCol w="950976">
                  <a:extLst>
                    <a:ext uri="{9D8B030D-6E8A-4147-A177-3AD203B41FA5}">
                      <a16:colId xmlns:a16="http://schemas.microsoft.com/office/drawing/2014/main" val="1625737090"/>
                    </a:ext>
                  </a:extLst>
                </a:gridCol>
                <a:gridCol w="1072896">
                  <a:extLst>
                    <a:ext uri="{9D8B030D-6E8A-4147-A177-3AD203B41FA5}">
                      <a16:colId xmlns:a16="http://schemas.microsoft.com/office/drawing/2014/main" val="1842965940"/>
                    </a:ext>
                  </a:extLst>
                </a:gridCol>
                <a:gridCol w="1060704">
                  <a:extLst>
                    <a:ext uri="{9D8B030D-6E8A-4147-A177-3AD203B41FA5}">
                      <a16:colId xmlns:a16="http://schemas.microsoft.com/office/drawing/2014/main" val="4275317651"/>
                    </a:ext>
                  </a:extLst>
                </a:gridCol>
                <a:gridCol w="816864">
                  <a:extLst>
                    <a:ext uri="{9D8B030D-6E8A-4147-A177-3AD203B41FA5}">
                      <a16:colId xmlns:a16="http://schemas.microsoft.com/office/drawing/2014/main" val="915958599"/>
                    </a:ext>
                  </a:extLst>
                </a:gridCol>
                <a:gridCol w="844296">
                  <a:extLst>
                    <a:ext uri="{9D8B030D-6E8A-4147-A177-3AD203B41FA5}">
                      <a16:colId xmlns:a16="http://schemas.microsoft.com/office/drawing/2014/main" val="4052369288"/>
                    </a:ext>
                  </a:extLst>
                </a:gridCol>
              </a:tblGrid>
              <a:tr h="370840">
                <a:tc>
                  <a:txBody>
                    <a:bodyPr/>
                    <a:lstStyle/>
                    <a:p>
                      <a:r>
                        <a:rPr lang="es-ES"/>
                        <a:t>Nombre</a:t>
                      </a:r>
                    </a:p>
                  </a:txBody>
                  <a:tcPr/>
                </a:tc>
                <a:tc>
                  <a:txBody>
                    <a:bodyPr/>
                    <a:lstStyle/>
                    <a:p>
                      <a:r>
                        <a:rPr lang="es-ES"/>
                        <a:t>Categoría</a:t>
                      </a:r>
                    </a:p>
                  </a:txBody>
                  <a:tcPr/>
                </a:tc>
                <a:tc>
                  <a:txBody>
                    <a:bodyPr/>
                    <a:lstStyle/>
                    <a:p>
                      <a:r>
                        <a:rPr lang="es-ES" err="1"/>
                        <a:t>Prob</a:t>
                      </a:r>
                      <a:r>
                        <a:rPr lang="es-ES"/>
                        <a:t>.</a:t>
                      </a:r>
                    </a:p>
                  </a:txBody>
                  <a:tcPr/>
                </a:tc>
                <a:tc>
                  <a:txBody>
                    <a:bodyPr/>
                    <a:lstStyle/>
                    <a:p>
                      <a:r>
                        <a:rPr lang="es-ES" err="1"/>
                        <a:t>Presup</a:t>
                      </a:r>
                      <a:r>
                        <a:rPr lang="es-ES"/>
                        <a:t>.</a:t>
                      </a:r>
                    </a:p>
                  </a:txBody>
                  <a:tcPr/>
                </a:tc>
                <a:tc>
                  <a:txBody>
                    <a:bodyPr/>
                    <a:lstStyle/>
                    <a:p>
                      <a:r>
                        <a:rPr lang="es-ES" err="1"/>
                        <a:t>Planific</a:t>
                      </a:r>
                      <a:r>
                        <a:rPr lang="es-ES"/>
                        <a:t>.</a:t>
                      </a:r>
                    </a:p>
                  </a:txBody>
                  <a:tcPr/>
                </a:tc>
                <a:tc>
                  <a:txBody>
                    <a:bodyPr/>
                    <a:lstStyle/>
                    <a:p>
                      <a:r>
                        <a:rPr lang="es-ES"/>
                        <a:t>Alcance</a:t>
                      </a:r>
                    </a:p>
                  </a:txBody>
                  <a:tcPr/>
                </a:tc>
                <a:tc>
                  <a:txBody>
                    <a:bodyPr/>
                    <a:lstStyle/>
                    <a:p>
                      <a:r>
                        <a:rPr lang="es-ES"/>
                        <a:t>Calidad</a:t>
                      </a:r>
                    </a:p>
                  </a:txBody>
                  <a:tcPr/>
                </a:tc>
                <a:tc>
                  <a:txBody>
                    <a:bodyPr/>
                    <a:lstStyle/>
                    <a:p>
                      <a:r>
                        <a:rPr lang="es-ES" err="1"/>
                        <a:t>Impac</a:t>
                      </a:r>
                      <a:endParaRPr lang="es-ES"/>
                    </a:p>
                  </a:txBody>
                  <a:tcPr/>
                </a:tc>
                <a:tc>
                  <a:txBody>
                    <a:bodyPr/>
                    <a:lstStyle/>
                    <a:p>
                      <a:r>
                        <a:rPr lang="es-ES" err="1"/>
                        <a:t>Estrat</a:t>
                      </a:r>
                      <a:r>
                        <a:rPr lang="es-ES"/>
                        <a:t>.</a:t>
                      </a:r>
                    </a:p>
                  </a:txBody>
                  <a:tcPr/>
                </a:tc>
                <a:extLst>
                  <a:ext uri="{0D108BD9-81ED-4DB2-BD59-A6C34878D82A}">
                    <a16:rowId xmlns:a16="http://schemas.microsoft.com/office/drawing/2014/main" val="3696778640"/>
                  </a:ext>
                </a:extLst>
              </a:tr>
              <a:tr h="386080">
                <a:tc>
                  <a:txBody>
                    <a:bodyPr/>
                    <a:lstStyle/>
                    <a:p>
                      <a:r>
                        <a:rPr lang="es-ES" sz="1200" kern="1200">
                          <a:solidFill>
                            <a:schemeClr val="dk1"/>
                          </a:solidFill>
                          <a:effectLst/>
                          <a:latin typeface="+mn-lt"/>
                          <a:ea typeface="+mn-ea"/>
                          <a:cs typeface="+mn-cs"/>
                        </a:rPr>
                        <a:t>Perdida de personal clave por baja médica</a:t>
                      </a:r>
                      <a:endParaRPr lang="es-ES" sz="1200">
                        <a:latin typeface="+mn-lt"/>
                      </a:endParaRPr>
                    </a:p>
                  </a:txBody>
                  <a:tcPr/>
                </a:tc>
                <a:tc>
                  <a:txBody>
                    <a:bodyPr/>
                    <a:lstStyle/>
                    <a:p>
                      <a:pPr algn="l" fontAlgn="ctr"/>
                      <a:r>
                        <a:rPr lang="es-ES" sz="1200" b="0" i="0" u="none" strike="noStrike">
                          <a:solidFill>
                            <a:srgbClr val="000000"/>
                          </a:solidFill>
                          <a:effectLst/>
                          <a:latin typeface="+mn-lt"/>
                        </a:rPr>
                        <a:t>Organizacional</a:t>
                      </a:r>
                    </a:p>
                  </a:txBody>
                  <a:tcPr marL="9525" marR="9525" marT="9525" anchor="ctr"/>
                </a:tc>
                <a:tc>
                  <a:txBody>
                    <a:bodyPr/>
                    <a:lstStyle/>
                    <a:p>
                      <a:pPr algn="ctr" fontAlgn="ctr"/>
                      <a:r>
                        <a:rPr lang="es-ES" sz="1200" b="0" i="0" u="none" strike="noStrike">
                          <a:solidFill>
                            <a:srgbClr val="000000"/>
                          </a:solidFill>
                          <a:effectLst/>
                          <a:latin typeface="+mn-lt"/>
                        </a:rPr>
                        <a:t>Media</a:t>
                      </a:r>
                    </a:p>
                  </a:txBody>
                  <a:tcPr marL="9525" marR="9525" marT="9525" anchor="ctr"/>
                </a:tc>
                <a:tc>
                  <a:txBody>
                    <a:bodyPr/>
                    <a:lstStyle/>
                    <a:p>
                      <a:pPr algn="ctr" fontAlgn="ctr"/>
                      <a:r>
                        <a:rPr lang="es-ES" sz="1200" b="0" i="0" u="none" strike="noStrike">
                          <a:solidFill>
                            <a:srgbClr val="000000"/>
                          </a:solidFill>
                          <a:effectLst/>
                          <a:latin typeface="+mn-lt"/>
                        </a:rPr>
                        <a:t>Alto</a:t>
                      </a:r>
                    </a:p>
                  </a:txBody>
                  <a:tcPr marL="9525" marR="9525" marT="9525" anchor="ctr"/>
                </a:tc>
                <a:tc>
                  <a:txBody>
                    <a:bodyPr/>
                    <a:lstStyle/>
                    <a:p>
                      <a:pPr algn="ctr" fontAlgn="ctr"/>
                      <a:r>
                        <a:rPr lang="es-ES" sz="1200" b="0" i="0" u="none" strike="noStrike">
                          <a:solidFill>
                            <a:srgbClr val="000000"/>
                          </a:solidFill>
                          <a:effectLst/>
                          <a:latin typeface="+mn-lt"/>
                        </a:rPr>
                        <a:t>Crítico</a:t>
                      </a:r>
                    </a:p>
                  </a:txBody>
                  <a:tcPr marL="9525" marR="9525" marT="9525" anchor="ctr"/>
                </a:tc>
                <a:tc>
                  <a:txBody>
                    <a:bodyPr/>
                    <a:lstStyle/>
                    <a:p>
                      <a:pPr algn="ctr" fontAlgn="ctr"/>
                      <a:r>
                        <a:rPr lang="es-ES" sz="1200" b="0" i="0" u="none" strike="noStrike">
                          <a:solidFill>
                            <a:srgbClr val="000000"/>
                          </a:solidFill>
                          <a:effectLst/>
                          <a:latin typeface="+mn-lt"/>
                        </a:rPr>
                        <a:t>Alto</a:t>
                      </a:r>
                    </a:p>
                  </a:txBody>
                  <a:tcPr marL="9525" marR="9525" marT="9525" anchor="ctr"/>
                </a:tc>
                <a:tc>
                  <a:txBody>
                    <a:bodyPr/>
                    <a:lstStyle/>
                    <a:p>
                      <a:pPr algn="ctr" fontAlgn="ctr"/>
                      <a:r>
                        <a:rPr lang="es-ES" sz="1200" b="0" i="0" u="none" strike="noStrike">
                          <a:solidFill>
                            <a:srgbClr val="000000"/>
                          </a:solidFill>
                          <a:effectLst/>
                          <a:latin typeface="+mn-lt"/>
                        </a:rPr>
                        <a:t>Alto</a:t>
                      </a:r>
                    </a:p>
                  </a:txBody>
                  <a:tcPr marL="9525" marR="9525" marT="9525" anchor="ctr"/>
                </a:tc>
                <a:tc>
                  <a:txBody>
                    <a:bodyPr/>
                    <a:lstStyle/>
                    <a:p>
                      <a:pPr algn="ctr" fontAlgn="ctr"/>
                      <a:r>
                        <a:rPr lang="es-ES" sz="1200" b="0" i="0" u="none" strike="noStrike">
                          <a:solidFill>
                            <a:srgbClr val="000000"/>
                          </a:solidFill>
                          <a:effectLst/>
                          <a:latin typeface="+mn-lt"/>
                        </a:rPr>
                        <a:t>0,45</a:t>
                      </a:r>
                    </a:p>
                  </a:txBody>
                  <a:tcPr marL="9525" marR="9525" marT="9525" anchor="ctr">
                    <a:solidFill>
                      <a:srgbClr val="FD7A77"/>
                    </a:solidFill>
                  </a:tcPr>
                </a:tc>
                <a:tc>
                  <a:txBody>
                    <a:bodyPr/>
                    <a:lstStyle/>
                    <a:p>
                      <a:pPr algn="ctr" fontAlgn="ctr"/>
                      <a:r>
                        <a:rPr lang="es-ES" sz="1200" b="0" i="0" u="none" strike="noStrike">
                          <a:solidFill>
                            <a:srgbClr val="000000"/>
                          </a:solidFill>
                          <a:effectLst/>
                          <a:latin typeface="+mn-lt"/>
                        </a:rPr>
                        <a:t>Asumir</a:t>
                      </a:r>
                    </a:p>
                  </a:txBody>
                  <a:tcPr marL="9525" marR="9525" marT="9525" anchor="ctr"/>
                </a:tc>
                <a:extLst>
                  <a:ext uri="{0D108BD9-81ED-4DB2-BD59-A6C34878D82A}">
                    <a16:rowId xmlns:a16="http://schemas.microsoft.com/office/drawing/2014/main" val="3291278272"/>
                  </a:ext>
                </a:extLst>
              </a:tr>
              <a:tr h="397256">
                <a:tc>
                  <a:txBody>
                    <a:bodyPr/>
                    <a:lstStyle/>
                    <a:p>
                      <a:r>
                        <a:rPr lang="es-ES" sz="1200" kern="1200">
                          <a:solidFill>
                            <a:schemeClr val="dk1"/>
                          </a:solidFill>
                          <a:effectLst/>
                          <a:latin typeface="+mn-lt"/>
                          <a:ea typeface="+mn-ea"/>
                          <a:cs typeface="+mn-cs"/>
                        </a:rPr>
                        <a:t>Cambio especificación SOLID</a:t>
                      </a:r>
                      <a:endParaRPr lang="es-ES" sz="1200">
                        <a:latin typeface="+mn-lt"/>
                      </a:endParaRPr>
                    </a:p>
                  </a:txBody>
                  <a:tcPr/>
                </a:tc>
                <a:tc>
                  <a:txBody>
                    <a:bodyPr/>
                    <a:lstStyle/>
                    <a:p>
                      <a:pPr algn="l" fontAlgn="ctr"/>
                      <a:r>
                        <a:rPr lang="es-ES" sz="1200" b="0" i="0" u="none" strike="noStrike">
                          <a:solidFill>
                            <a:srgbClr val="000000"/>
                          </a:solidFill>
                          <a:effectLst/>
                          <a:latin typeface="+mn-lt"/>
                        </a:rPr>
                        <a:t>Técnico</a:t>
                      </a:r>
                    </a:p>
                  </a:txBody>
                  <a:tcPr marL="9525" marR="9525" marT="9525" anchor="ctr"/>
                </a:tc>
                <a:tc>
                  <a:txBody>
                    <a:bodyPr/>
                    <a:lstStyle/>
                    <a:p>
                      <a:pPr algn="ctr" fontAlgn="ctr"/>
                      <a:r>
                        <a:rPr lang="es-ES" sz="1200" b="0" i="0" u="none" strike="noStrike">
                          <a:solidFill>
                            <a:srgbClr val="000000"/>
                          </a:solidFill>
                          <a:effectLst/>
                          <a:latin typeface="+mn-lt"/>
                        </a:rPr>
                        <a:t>Alta</a:t>
                      </a:r>
                    </a:p>
                  </a:txBody>
                  <a:tcPr marL="9525" marR="9525" marT="9525" anchor="ctr"/>
                </a:tc>
                <a:tc>
                  <a:txBody>
                    <a:bodyPr/>
                    <a:lstStyle/>
                    <a:p>
                      <a:pPr algn="ctr" fontAlgn="ctr"/>
                      <a:r>
                        <a:rPr lang="es-ES" sz="1200" b="0" i="0" u="none" strike="noStrike">
                          <a:solidFill>
                            <a:srgbClr val="000000"/>
                          </a:solidFill>
                          <a:effectLst/>
                          <a:latin typeface="+mn-lt"/>
                        </a:rPr>
                        <a:t>Alto</a:t>
                      </a:r>
                    </a:p>
                  </a:txBody>
                  <a:tcPr marL="9525" marR="9525" marT="9525" anchor="ctr"/>
                </a:tc>
                <a:tc>
                  <a:txBody>
                    <a:bodyPr/>
                    <a:lstStyle/>
                    <a:p>
                      <a:pPr algn="ctr" fontAlgn="ctr"/>
                      <a:r>
                        <a:rPr lang="es-ES" sz="1200" b="0" i="0" u="none" strike="noStrike">
                          <a:solidFill>
                            <a:srgbClr val="000000"/>
                          </a:solidFill>
                          <a:effectLst/>
                          <a:latin typeface="+mn-lt"/>
                        </a:rPr>
                        <a:t>Medio</a:t>
                      </a:r>
                    </a:p>
                  </a:txBody>
                  <a:tcPr marL="9525" marR="9525" marT="9525" anchor="ctr"/>
                </a:tc>
                <a:tc>
                  <a:txBody>
                    <a:bodyPr/>
                    <a:lstStyle/>
                    <a:p>
                      <a:pPr algn="ctr" fontAlgn="ctr"/>
                      <a:r>
                        <a:rPr lang="es-ES" sz="1200" b="0" i="0" u="none" strike="noStrike">
                          <a:solidFill>
                            <a:srgbClr val="000000"/>
                          </a:solidFill>
                          <a:effectLst/>
                          <a:latin typeface="+mn-lt"/>
                        </a:rPr>
                        <a:t>Medio</a:t>
                      </a:r>
                    </a:p>
                  </a:txBody>
                  <a:tcPr marL="9525" marR="9525" marT="9525" anchor="ctr"/>
                </a:tc>
                <a:tc>
                  <a:txBody>
                    <a:bodyPr/>
                    <a:lstStyle/>
                    <a:p>
                      <a:pPr algn="ctr" fontAlgn="ctr"/>
                      <a:r>
                        <a:rPr lang="es-ES" sz="1200" b="0" i="0" u="none" strike="noStrike">
                          <a:solidFill>
                            <a:srgbClr val="000000"/>
                          </a:solidFill>
                          <a:effectLst/>
                          <a:latin typeface="+mn-lt"/>
                        </a:rPr>
                        <a:t>Bajo</a:t>
                      </a:r>
                    </a:p>
                  </a:txBody>
                  <a:tcPr marL="9525" marR="9525" marT="9525" anchor="ctr"/>
                </a:tc>
                <a:tc>
                  <a:txBody>
                    <a:bodyPr/>
                    <a:lstStyle/>
                    <a:p>
                      <a:pPr algn="ctr" fontAlgn="ctr"/>
                      <a:r>
                        <a:rPr lang="es-ES" sz="1200" b="0" i="0" u="none" strike="noStrike">
                          <a:solidFill>
                            <a:srgbClr val="000000"/>
                          </a:solidFill>
                          <a:effectLst/>
                          <a:latin typeface="+mn-lt"/>
                        </a:rPr>
                        <a:t>0,39</a:t>
                      </a:r>
                    </a:p>
                  </a:txBody>
                  <a:tcPr marL="9525" marR="9525" marT="9525" anchor="ctr">
                    <a:solidFill>
                      <a:schemeClr val="accent2">
                        <a:lumMod val="60000"/>
                        <a:lumOff val="40000"/>
                      </a:schemeClr>
                    </a:solidFill>
                  </a:tcPr>
                </a:tc>
                <a:tc>
                  <a:txBody>
                    <a:bodyPr/>
                    <a:lstStyle/>
                    <a:p>
                      <a:pPr algn="ctr" fontAlgn="ctr"/>
                      <a:r>
                        <a:rPr lang="es-ES" sz="1200" b="0" i="0" u="none" strike="noStrike">
                          <a:solidFill>
                            <a:srgbClr val="000000"/>
                          </a:solidFill>
                          <a:effectLst/>
                          <a:latin typeface="+mn-lt"/>
                        </a:rPr>
                        <a:t>Asumir</a:t>
                      </a:r>
                    </a:p>
                  </a:txBody>
                  <a:tcPr marL="9525" marR="9525" marT="9525" anchor="ctr"/>
                </a:tc>
                <a:extLst>
                  <a:ext uri="{0D108BD9-81ED-4DB2-BD59-A6C34878D82A}">
                    <a16:rowId xmlns:a16="http://schemas.microsoft.com/office/drawing/2014/main" val="4076726858"/>
                  </a:ext>
                </a:extLst>
              </a:tr>
              <a:tr h="370840">
                <a:tc>
                  <a:txBody>
                    <a:bodyPr/>
                    <a:lstStyle/>
                    <a:p>
                      <a:r>
                        <a:rPr lang="es-ES" sz="1200" kern="1200">
                          <a:solidFill>
                            <a:schemeClr val="dk1"/>
                          </a:solidFill>
                          <a:effectLst/>
                          <a:latin typeface="+mn-lt"/>
                          <a:ea typeface="+mn-ea"/>
                          <a:cs typeface="+mn-cs"/>
                        </a:rPr>
                        <a:t>Convencer a usuarios finales del uso de SOLID</a:t>
                      </a:r>
                      <a:endParaRPr lang="es-ES" sz="1200">
                        <a:latin typeface="+mn-lt"/>
                      </a:endParaRPr>
                    </a:p>
                  </a:txBody>
                  <a:tcPr/>
                </a:tc>
                <a:tc>
                  <a:txBody>
                    <a:bodyPr/>
                    <a:lstStyle/>
                    <a:p>
                      <a:pPr algn="l" fontAlgn="ctr"/>
                      <a:r>
                        <a:rPr lang="es-ES" sz="1200" b="0" i="0" u="none" strike="noStrike">
                          <a:solidFill>
                            <a:srgbClr val="000000"/>
                          </a:solidFill>
                          <a:effectLst/>
                          <a:latin typeface="+mn-lt"/>
                        </a:rPr>
                        <a:t>Externo</a:t>
                      </a:r>
                    </a:p>
                  </a:txBody>
                  <a:tcPr marL="9525" marR="9525" marT="9525" anchor="ctr"/>
                </a:tc>
                <a:tc>
                  <a:txBody>
                    <a:bodyPr/>
                    <a:lstStyle/>
                    <a:p>
                      <a:pPr algn="ctr" fontAlgn="ctr"/>
                      <a:r>
                        <a:rPr lang="es-ES" sz="1200" b="0" i="0" u="none" strike="noStrike">
                          <a:solidFill>
                            <a:srgbClr val="000000"/>
                          </a:solidFill>
                          <a:effectLst/>
                          <a:latin typeface="+mn-lt"/>
                        </a:rPr>
                        <a:t>Alta</a:t>
                      </a:r>
                    </a:p>
                  </a:txBody>
                  <a:tcPr marL="9525" marR="9525" marT="9525" anchor="ctr"/>
                </a:tc>
                <a:tc>
                  <a:txBody>
                    <a:bodyPr/>
                    <a:lstStyle/>
                    <a:p>
                      <a:pPr algn="ctr" fontAlgn="ctr"/>
                      <a:r>
                        <a:rPr lang="es-ES" sz="1200" b="0" i="0" u="none" strike="noStrike">
                          <a:solidFill>
                            <a:srgbClr val="000000"/>
                          </a:solidFill>
                          <a:effectLst/>
                          <a:latin typeface="+mn-lt"/>
                        </a:rPr>
                        <a:t>Bajo</a:t>
                      </a:r>
                    </a:p>
                  </a:txBody>
                  <a:tcPr marL="9525" marR="9525" marT="9525" anchor="ctr"/>
                </a:tc>
                <a:tc>
                  <a:txBody>
                    <a:bodyPr/>
                    <a:lstStyle/>
                    <a:p>
                      <a:pPr algn="ctr" fontAlgn="ctr"/>
                      <a:r>
                        <a:rPr lang="es-ES" sz="1200" b="0" i="0" u="none" strike="noStrike">
                          <a:solidFill>
                            <a:srgbClr val="000000"/>
                          </a:solidFill>
                          <a:effectLst/>
                          <a:latin typeface="+mn-lt"/>
                        </a:rPr>
                        <a:t>Bajo</a:t>
                      </a:r>
                    </a:p>
                  </a:txBody>
                  <a:tcPr marL="9525" marR="9525" marT="9525" anchor="ctr"/>
                </a:tc>
                <a:tc>
                  <a:txBody>
                    <a:bodyPr/>
                    <a:lstStyle/>
                    <a:p>
                      <a:pPr algn="ctr" fontAlgn="ctr"/>
                      <a:r>
                        <a:rPr lang="es-ES" sz="1200" b="0" i="0" u="none" strike="noStrike">
                          <a:solidFill>
                            <a:srgbClr val="000000"/>
                          </a:solidFill>
                          <a:effectLst/>
                          <a:latin typeface="+mn-lt"/>
                        </a:rPr>
                        <a:t>Alto</a:t>
                      </a:r>
                    </a:p>
                  </a:txBody>
                  <a:tcPr marL="9525" marR="9525" marT="9525" anchor="ctr"/>
                </a:tc>
                <a:tc>
                  <a:txBody>
                    <a:bodyPr/>
                    <a:lstStyle/>
                    <a:p>
                      <a:pPr algn="ctr" fontAlgn="ctr"/>
                      <a:r>
                        <a:rPr lang="es-ES" sz="1200" b="0" i="0" u="none" strike="noStrike">
                          <a:solidFill>
                            <a:srgbClr val="000000"/>
                          </a:solidFill>
                          <a:effectLst/>
                          <a:latin typeface="+mn-lt"/>
                        </a:rPr>
                        <a:t>Medio</a:t>
                      </a:r>
                    </a:p>
                  </a:txBody>
                  <a:tcPr marL="9525" marR="9525" marT="9525" anchor="ctr"/>
                </a:tc>
                <a:tc>
                  <a:txBody>
                    <a:bodyPr/>
                    <a:lstStyle/>
                    <a:p>
                      <a:pPr algn="ctr" fontAlgn="ctr"/>
                      <a:r>
                        <a:rPr lang="es-ES" sz="1200" b="0" i="0" u="none" strike="noStrike">
                          <a:solidFill>
                            <a:srgbClr val="000000"/>
                          </a:solidFill>
                          <a:effectLst/>
                          <a:latin typeface="+mn-lt"/>
                        </a:rPr>
                        <a:t>0,39</a:t>
                      </a:r>
                    </a:p>
                  </a:txBody>
                  <a:tcPr marL="9525" marR="9525" marT="9525" anchor="ctr">
                    <a:solidFill>
                      <a:schemeClr val="accent2">
                        <a:lumMod val="60000"/>
                        <a:lumOff val="40000"/>
                      </a:schemeClr>
                    </a:solidFill>
                  </a:tcPr>
                </a:tc>
                <a:tc>
                  <a:txBody>
                    <a:bodyPr/>
                    <a:lstStyle/>
                    <a:p>
                      <a:pPr algn="ctr" fontAlgn="ctr"/>
                      <a:r>
                        <a:rPr lang="es-ES" sz="1200" b="0" i="0" u="none" strike="noStrike">
                          <a:solidFill>
                            <a:srgbClr val="000000"/>
                          </a:solidFill>
                          <a:effectLst/>
                          <a:latin typeface="+mn-lt"/>
                        </a:rPr>
                        <a:t>Eliminar</a:t>
                      </a:r>
                    </a:p>
                  </a:txBody>
                  <a:tcPr marL="9525" marR="9525" marT="9525" anchor="ctr"/>
                </a:tc>
                <a:extLst>
                  <a:ext uri="{0D108BD9-81ED-4DB2-BD59-A6C34878D82A}">
                    <a16:rowId xmlns:a16="http://schemas.microsoft.com/office/drawing/2014/main" val="1066898880"/>
                  </a:ext>
                </a:extLst>
              </a:tr>
              <a:tr h="370840">
                <a:tc>
                  <a:txBody>
                    <a:bodyPr/>
                    <a:lstStyle/>
                    <a:p>
                      <a:r>
                        <a:rPr lang="es-ES" sz="1200" kern="1200">
                          <a:solidFill>
                            <a:schemeClr val="dk1"/>
                          </a:solidFill>
                          <a:effectLst/>
                          <a:latin typeface="+mn-lt"/>
                          <a:ea typeface="+mn-ea"/>
                          <a:cs typeface="+mn-cs"/>
                        </a:rPr>
                        <a:t>Dificultad para adquirir todo el hardware necesario</a:t>
                      </a:r>
                      <a:endParaRPr lang="es-ES" sz="1200">
                        <a:latin typeface="+mn-lt"/>
                      </a:endParaRPr>
                    </a:p>
                  </a:txBody>
                  <a:tcPr/>
                </a:tc>
                <a:tc>
                  <a:txBody>
                    <a:bodyPr/>
                    <a:lstStyle/>
                    <a:p>
                      <a:pPr algn="l" fontAlgn="ctr"/>
                      <a:r>
                        <a:rPr lang="es-ES" sz="1200" b="0" i="0" u="none" strike="noStrike">
                          <a:solidFill>
                            <a:srgbClr val="000000"/>
                          </a:solidFill>
                          <a:effectLst/>
                          <a:latin typeface="+mn-lt"/>
                        </a:rPr>
                        <a:t>Externo</a:t>
                      </a:r>
                    </a:p>
                  </a:txBody>
                  <a:tcPr marL="9525" marR="9525" marT="9525" anchor="ctr"/>
                </a:tc>
                <a:tc>
                  <a:txBody>
                    <a:bodyPr/>
                    <a:lstStyle/>
                    <a:p>
                      <a:pPr algn="ctr" fontAlgn="ctr"/>
                      <a:r>
                        <a:rPr lang="es-ES" sz="1200" b="0" i="0" u="none" strike="noStrike">
                          <a:solidFill>
                            <a:srgbClr val="000000"/>
                          </a:solidFill>
                          <a:effectLst/>
                          <a:latin typeface="+mn-lt"/>
                        </a:rPr>
                        <a:t>Media</a:t>
                      </a:r>
                    </a:p>
                  </a:txBody>
                  <a:tcPr marL="9525" marR="9525" marT="9525" anchor="ctr"/>
                </a:tc>
                <a:tc>
                  <a:txBody>
                    <a:bodyPr/>
                    <a:lstStyle/>
                    <a:p>
                      <a:pPr algn="ctr" fontAlgn="ctr"/>
                      <a:r>
                        <a:rPr lang="es-ES" sz="1200" b="0" i="0" u="none" strike="noStrike">
                          <a:solidFill>
                            <a:srgbClr val="000000"/>
                          </a:solidFill>
                          <a:effectLst/>
                          <a:latin typeface="+mn-lt"/>
                        </a:rPr>
                        <a:t>Alto</a:t>
                      </a:r>
                    </a:p>
                  </a:txBody>
                  <a:tcPr marL="9525" marR="9525" marT="9525" anchor="ctr"/>
                </a:tc>
                <a:tc>
                  <a:txBody>
                    <a:bodyPr/>
                    <a:lstStyle/>
                    <a:p>
                      <a:pPr algn="ctr" fontAlgn="ctr"/>
                      <a:r>
                        <a:rPr lang="es-ES" sz="1200" b="0" i="0" u="none" strike="noStrike">
                          <a:solidFill>
                            <a:srgbClr val="000000"/>
                          </a:solidFill>
                          <a:effectLst/>
                          <a:latin typeface="+mn-lt"/>
                        </a:rPr>
                        <a:t>Bajo</a:t>
                      </a:r>
                    </a:p>
                  </a:txBody>
                  <a:tcPr marL="9525" marR="9525" marT="9525" anchor="ctr"/>
                </a:tc>
                <a:tc>
                  <a:txBody>
                    <a:bodyPr/>
                    <a:lstStyle/>
                    <a:p>
                      <a:pPr algn="ctr" fontAlgn="ctr"/>
                      <a:r>
                        <a:rPr lang="es-ES" sz="1200" b="0" i="0" u="none" strike="noStrike">
                          <a:solidFill>
                            <a:srgbClr val="000000"/>
                          </a:solidFill>
                          <a:effectLst/>
                          <a:latin typeface="+mn-lt"/>
                        </a:rPr>
                        <a:t>Bajo</a:t>
                      </a:r>
                    </a:p>
                  </a:txBody>
                  <a:tcPr marL="9525" marR="9525" marT="9525" anchor="ctr"/>
                </a:tc>
                <a:tc>
                  <a:txBody>
                    <a:bodyPr/>
                    <a:lstStyle/>
                    <a:p>
                      <a:pPr algn="ctr" fontAlgn="ctr"/>
                      <a:r>
                        <a:rPr lang="es-ES" sz="1200" b="0" i="0" u="none" strike="noStrike">
                          <a:solidFill>
                            <a:srgbClr val="000000"/>
                          </a:solidFill>
                          <a:effectLst/>
                          <a:latin typeface="+mn-lt"/>
                        </a:rPr>
                        <a:t>Bajo</a:t>
                      </a:r>
                    </a:p>
                  </a:txBody>
                  <a:tcPr marL="9525" marR="9525" marT="9525" anchor="ctr"/>
                </a:tc>
                <a:tc>
                  <a:txBody>
                    <a:bodyPr/>
                    <a:lstStyle/>
                    <a:p>
                      <a:pPr algn="ctr" fontAlgn="ctr"/>
                      <a:r>
                        <a:rPr lang="es-ES" sz="1200" b="0" i="0" u="none" strike="noStrike">
                          <a:solidFill>
                            <a:srgbClr val="000000"/>
                          </a:solidFill>
                          <a:effectLst/>
                          <a:latin typeface="+mn-lt"/>
                        </a:rPr>
                        <a:t>0,28</a:t>
                      </a:r>
                    </a:p>
                  </a:txBody>
                  <a:tcPr marL="9525" marR="9525" marT="9525" anchor="ctr">
                    <a:solidFill>
                      <a:srgbClr val="FFCC00"/>
                    </a:solidFill>
                  </a:tcPr>
                </a:tc>
                <a:tc>
                  <a:txBody>
                    <a:bodyPr/>
                    <a:lstStyle/>
                    <a:p>
                      <a:pPr algn="ctr" fontAlgn="ctr"/>
                      <a:r>
                        <a:rPr lang="es-ES" sz="1200" b="0" i="0" u="none" strike="noStrike">
                          <a:solidFill>
                            <a:srgbClr val="000000"/>
                          </a:solidFill>
                          <a:effectLst/>
                          <a:latin typeface="+mn-lt"/>
                        </a:rPr>
                        <a:t>Asumir</a:t>
                      </a:r>
                    </a:p>
                  </a:txBody>
                  <a:tcPr marL="9525" marR="9525" marT="9525" anchor="ctr"/>
                </a:tc>
                <a:extLst>
                  <a:ext uri="{0D108BD9-81ED-4DB2-BD59-A6C34878D82A}">
                    <a16:rowId xmlns:a16="http://schemas.microsoft.com/office/drawing/2014/main" val="701024717"/>
                  </a:ext>
                </a:extLst>
              </a:tr>
              <a:tr h="370840">
                <a:tc>
                  <a:txBody>
                    <a:bodyPr/>
                    <a:lstStyle/>
                    <a:p>
                      <a:r>
                        <a:rPr lang="es-ES" sz="1200" kern="1200">
                          <a:solidFill>
                            <a:schemeClr val="dk1"/>
                          </a:solidFill>
                          <a:effectLst/>
                          <a:latin typeface="+mn-lt"/>
                          <a:ea typeface="+mn-ea"/>
                          <a:cs typeface="+mn-cs"/>
                        </a:rPr>
                        <a:t>Dificultad para encontrar empleados con el perfil que se busca</a:t>
                      </a:r>
                      <a:endParaRPr lang="es-ES" sz="1200">
                        <a:latin typeface="+mn-lt"/>
                      </a:endParaRPr>
                    </a:p>
                  </a:txBody>
                  <a:tcPr/>
                </a:tc>
                <a:tc>
                  <a:txBody>
                    <a:bodyPr/>
                    <a:lstStyle/>
                    <a:p>
                      <a:pPr algn="l" fontAlgn="ctr"/>
                      <a:r>
                        <a:rPr lang="es-ES" sz="1200" b="0" i="0" u="none" strike="noStrike">
                          <a:solidFill>
                            <a:srgbClr val="000000"/>
                          </a:solidFill>
                          <a:effectLst/>
                          <a:latin typeface="+mn-lt"/>
                        </a:rPr>
                        <a:t>Organizacional</a:t>
                      </a:r>
                    </a:p>
                  </a:txBody>
                  <a:tcPr marL="9525" marR="9525" marT="9525" anchor="ctr"/>
                </a:tc>
                <a:tc>
                  <a:txBody>
                    <a:bodyPr/>
                    <a:lstStyle/>
                    <a:p>
                      <a:pPr algn="ctr" fontAlgn="ctr"/>
                      <a:r>
                        <a:rPr lang="es-ES" sz="1200" b="0" i="0" u="none" strike="noStrike">
                          <a:solidFill>
                            <a:srgbClr val="000000"/>
                          </a:solidFill>
                          <a:effectLst/>
                          <a:latin typeface="+mn-lt"/>
                        </a:rPr>
                        <a:t>Media</a:t>
                      </a:r>
                    </a:p>
                  </a:txBody>
                  <a:tcPr marL="9525" marR="9525" marT="9525" anchor="ctr"/>
                </a:tc>
                <a:tc>
                  <a:txBody>
                    <a:bodyPr/>
                    <a:lstStyle/>
                    <a:p>
                      <a:pPr algn="ctr" fontAlgn="ctr"/>
                      <a:r>
                        <a:rPr lang="es-ES" sz="1200" b="0" i="0" u="none" strike="noStrike">
                          <a:solidFill>
                            <a:srgbClr val="000000"/>
                          </a:solidFill>
                          <a:effectLst/>
                          <a:latin typeface="+mn-lt"/>
                        </a:rPr>
                        <a:t>Medio</a:t>
                      </a:r>
                    </a:p>
                  </a:txBody>
                  <a:tcPr marL="9525" marR="9525" marT="9525" anchor="ctr"/>
                </a:tc>
                <a:tc>
                  <a:txBody>
                    <a:bodyPr/>
                    <a:lstStyle/>
                    <a:p>
                      <a:pPr algn="ctr" fontAlgn="ctr"/>
                      <a:r>
                        <a:rPr lang="es-ES" sz="1200" b="0" i="0" u="none" strike="noStrike">
                          <a:solidFill>
                            <a:srgbClr val="000000"/>
                          </a:solidFill>
                          <a:effectLst/>
                          <a:latin typeface="+mn-lt"/>
                        </a:rPr>
                        <a:t>Alto</a:t>
                      </a:r>
                    </a:p>
                  </a:txBody>
                  <a:tcPr marL="9525" marR="9525" marT="9525" anchor="ctr"/>
                </a:tc>
                <a:tc>
                  <a:txBody>
                    <a:bodyPr/>
                    <a:lstStyle/>
                    <a:p>
                      <a:pPr algn="ctr" fontAlgn="ctr"/>
                      <a:r>
                        <a:rPr lang="es-ES" sz="1200" b="0" i="0" u="none" strike="noStrike">
                          <a:solidFill>
                            <a:srgbClr val="000000"/>
                          </a:solidFill>
                          <a:effectLst/>
                          <a:latin typeface="+mn-lt"/>
                        </a:rPr>
                        <a:t>Alto</a:t>
                      </a:r>
                    </a:p>
                  </a:txBody>
                  <a:tcPr marL="9525" marR="9525" marT="9525" anchor="ctr"/>
                </a:tc>
                <a:tc>
                  <a:txBody>
                    <a:bodyPr/>
                    <a:lstStyle/>
                    <a:p>
                      <a:pPr algn="ctr" fontAlgn="ctr"/>
                      <a:r>
                        <a:rPr lang="es-ES" sz="1200" b="0" i="0" u="none" strike="noStrike">
                          <a:solidFill>
                            <a:srgbClr val="000000"/>
                          </a:solidFill>
                          <a:effectLst/>
                          <a:latin typeface="+mn-lt"/>
                        </a:rPr>
                        <a:t>Alto</a:t>
                      </a:r>
                    </a:p>
                  </a:txBody>
                  <a:tcPr marL="9525" marR="9525" marT="9525" anchor="ctr"/>
                </a:tc>
                <a:tc>
                  <a:txBody>
                    <a:bodyPr/>
                    <a:lstStyle/>
                    <a:p>
                      <a:pPr algn="ctr" fontAlgn="ctr"/>
                      <a:r>
                        <a:rPr lang="es-ES" sz="1200" b="0" i="0" u="none" strike="noStrike">
                          <a:solidFill>
                            <a:srgbClr val="000000"/>
                          </a:solidFill>
                          <a:effectLst/>
                          <a:latin typeface="+mn-lt"/>
                        </a:rPr>
                        <a:t>0,28</a:t>
                      </a:r>
                    </a:p>
                  </a:txBody>
                  <a:tcPr marL="9525" marR="9525" marT="9525" anchor="ctr">
                    <a:solidFill>
                      <a:srgbClr val="FFCC00"/>
                    </a:solidFill>
                  </a:tcPr>
                </a:tc>
                <a:tc>
                  <a:txBody>
                    <a:bodyPr/>
                    <a:lstStyle/>
                    <a:p>
                      <a:pPr algn="ctr" fontAlgn="ctr"/>
                      <a:r>
                        <a:rPr lang="es-ES" sz="1200" b="0" i="0" u="none" strike="noStrike">
                          <a:solidFill>
                            <a:srgbClr val="000000"/>
                          </a:solidFill>
                          <a:effectLst/>
                          <a:latin typeface="+mn-lt"/>
                        </a:rPr>
                        <a:t>Mitigar</a:t>
                      </a:r>
                    </a:p>
                  </a:txBody>
                  <a:tcPr marL="9525" marR="9525" marT="9525" anchor="ctr"/>
                </a:tc>
                <a:extLst>
                  <a:ext uri="{0D108BD9-81ED-4DB2-BD59-A6C34878D82A}">
                    <a16:rowId xmlns:a16="http://schemas.microsoft.com/office/drawing/2014/main" val="2331074995"/>
                  </a:ext>
                </a:extLst>
              </a:tr>
              <a:tr h="370840">
                <a:tc>
                  <a:txBody>
                    <a:bodyPr/>
                    <a:lstStyle/>
                    <a:p>
                      <a:r>
                        <a:rPr lang="es-ES" sz="1200" kern="1200">
                          <a:solidFill>
                            <a:schemeClr val="dk1"/>
                          </a:solidFill>
                          <a:effectLst/>
                          <a:latin typeface="+mn-lt"/>
                          <a:ea typeface="+mn-ea"/>
                          <a:cs typeface="+mn-cs"/>
                        </a:rPr>
                        <a:t>Entorno laboral tóxico</a:t>
                      </a:r>
                      <a:endParaRPr lang="es-ES" sz="1200">
                        <a:latin typeface="+mn-lt"/>
                      </a:endParaRPr>
                    </a:p>
                  </a:txBody>
                  <a:tcPr/>
                </a:tc>
                <a:tc>
                  <a:txBody>
                    <a:bodyPr/>
                    <a:lstStyle/>
                    <a:p>
                      <a:pPr algn="l" fontAlgn="ctr"/>
                      <a:r>
                        <a:rPr lang="es-ES" sz="1200" b="0" i="0" u="none" strike="noStrike">
                          <a:solidFill>
                            <a:srgbClr val="000000"/>
                          </a:solidFill>
                          <a:effectLst/>
                          <a:latin typeface="+mn-lt"/>
                        </a:rPr>
                        <a:t>Organizacional</a:t>
                      </a:r>
                    </a:p>
                  </a:txBody>
                  <a:tcPr marL="9525" marR="9525" marT="9525" anchor="ctr"/>
                </a:tc>
                <a:tc>
                  <a:txBody>
                    <a:bodyPr/>
                    <a:lstStyle/>
                    <a:p>
                      <a:pPr algn="ctr" fontAlgn="ctr"/>
                      <a:r>
                        <a:rPr lang="es-ES" sz="1200" b="0" i="0" u="none" strike="noStrike">
                          <a:solidFill>
                            <a:srgbClr val="000000"/>
                          </a:solidFill>
                          <a:effectLst/>
                          <a:latin typeface="+mn-lt"/>
                        </a:rPr>
                        <a:t>Media</a:t>
                      </a:r>
                    </a:p>
                  </a:txBody>
                  <a:tcPr marL="9525" marR="9525" marT="9525" anchor="ctr"/>
                </a:tc>
                <a:tc>
                  <a:txBody>
                    <a:bodyPr/>
                    <a:lstStyle/>
                    <a:p>
                      <a:pPr algn="ctr" fontAlgn="ctr"/>
                      <a:r>
                        <a:rPr lang="es-ES" sz="1200" b="0" i="0" u="none" strike="noStrike">
                          <a:solidFill>
                            <a:srgbClr val="000000"/>
                          </a:solidFill>
                          <a:effectLst/>
                          <a:latin typeface="+mn-lt"/>
                        </a:rPr>
                        <a:t>Medio</a:t>
                      </a:r>
                    </a:p>
                  </a:txBody>
                  <a:tcPr marL="9525" marR="9525" marT="9525" anchor="ctr"/>
                </a:tc>
                <a:tc>
                  <a:txBody>
                    <a:bodyPr/>
                    <a:lstStyle/>
                    <a:p>
                      <a:pPr algn="ctr" fontAlgn="ctr"/>
                      <a:r>
                        <a:rPr lang="es-ES" sz="1200" b="0" i="0" u="none" strike="noStrike">
                          <a:solidFill>
                            <a:srgbClr val="000000"/>
                          </a:solidFill>
                          <a:effectLst/>
                          <a:latin typeface="+mn-lt"/>
                        </a:rPr>
                        <a:t>Medio</a:t>
                      </a:r>
                    </a:p>
                  </a:txBody>
                  <a:tcPr marL="9525" marR="9525" marT="9525" anchor="ctr"/>
                </a:tc>
                <a:tc>
                  <a:txBody>
                    <a:bodyPr/>
                    <a:lstStyle/>
                    <a:p>
                      <a:pPr algn="ctr" fontAlgn="ctr"/>
                      <a:r>
                        <a:rPr lang="es-ES" sz="1200" b="0" i="0" u="none" strike="noStrike">
                          <a:solidFill>
                            <a:srgbClr val="000000"/>
                          </a:solidFill>
                          <a:effectLst/>
                          <a:latin typeface="+mn-lt"/>
                        </a:rPr>
                        <a:t>Medio</a:t>
                      </a:r>
                    </a:p>
                  </a:txBody>
                  <a:tcPr marL="9525" marR="9525" marT="9525" anchor="ctr"/>
                </a:tc>
                <a:tc>
                  <a:txBody>
                    <a:bodyPr/>
                    <a:lstStyle/>
                    <a:p>
                      <a:pPr algn="ctr" fontAlgn="ctr"/>
                      <a:r>
                        <a:rPr lang="es-ES" sz="1200" b="0" i="0" u="none" strike="noStrike">
                          <a:solidFill>
                            <a:srgbClr val="000000"/>
                          </a:solidFill>
                          <a:effectLst/>
                          <a:latin typeface="+mn-lt"/>
                        </a:rPr>
                        <a:t>Alto</a:t>
                      </a:r>
                    </a:p>
                  </a:txBody>
                  <a:tcPr marL="9525" marR="9525" marT="9525" anchor="ctr"/>
                </a:tc>
                <a:tc>
                  <a:txBody>
                    <a:bodyPr/>
                    <a:lstStyle/>
                    <a:p>
                      <a:pPr algn="ctr" fontAlgn="ctr"/>
                      <a:r>
                        <a:rPr lang="es-ES" sz="1200" b="0" i="0" u="none" strike="noStrike">
                          <a:solidFill>
                            <a:srgbClr val="000000"/>
                          </a:solidFill>
                          <a:effectLst/>
                          <a:latin typeface="+mn-lt"/>
                        </a:rPr>
                        <a:t>0,28</a:t>
                      </a:r>
                    </a:p>
                  </a:txBody>
                  <a:tcPr marL="9525" marR="9525" marT="9525" anchor="ctr">
                    <a:solidFill>
                      <a:srgbClr val="FFCC00"/>
                    </a:solidFill>
                  </a:tcPr>
                </a:tc>
                <a:tc>
                  <a:txBody>
                    <a:bodyPr/>
                    <a:lstStyle/>
                    <a:p>
                      <a:pPr algn="ctr" fontAlgn="ctr"/>
                      <a:r>
                        <a:rPr lang="es-ES" sz="1200" b="0" i="0" u="none" strike="noStrike">
                          <a:solidFill>
                            <a:srgbClr val="000000"/>
                          </a:solidFill>
                          <a:effectLst/>
                          <a:latin typeface="+mn-lt"/>
                        </a:rPr>
                        <a:t>Mitigar</a:t>
                      </a:r>
                    </a:p>
                  </a:txBody>
                  <a:tcPr marL="9525" marR="9525" marT="9525" anchor="ctr"/>
                </a:tc>
                <a:extLst>
                  <a:ext uri="{0D108BD9-81ED-4DB2-BD59-A6C34878D82A}">
                    <a16:rowId xmlns:a16="http://schemas.microsoft.com/office/drawing/2014/main" val="3524461569"/>
                  </a:ext>
                </a:extLst>
              </a:tr>
              <a:tr h="370840">
                <a:tc>
                  <a:txBody>
                    <a:bodyPr/>
                    <a:lstStyle/>
                    <a:p>
                      <a:r>
                        <a:rPr lang="es-ES" sz="1200" kern="1200">
                          <a:solidFill>
                            <a:schemeClr val="dk1"/>
                          </a:solidFill>
                          <a:effectLst/>
                          <a:latin typeface="+mn-lt"/>
                          <a:ea typeface="+mn-ea"/>
                          <a:cs typeface="+mn-cs"/>
                        </a:rPr>
                        <a:t>El desacuerdo sobre los problemas debidos al uso de SOLID</a:t>
                      </a:r>
                      <a:endParaRPr lang="es-ES" sz="1200">
                        <a:latin typeface="+mn-lt"/>
                      </a:endParaRPr>
                    </a:p>
                  </a:txBody>
                  <a:tcPr/>
                </a:tc>
                <a:tc>
                  <a:txBody>
                    <a:bodyPr/>
                    <a:lstStyle/>
                    <a:p>
                      <a:pPr algn="l" fontAlgn="ctr"/>
                      <a:r>
                        <a:rPr lang="es-ES" sz="1200" b="0" i="0" u="none" strike="noStrike">
                          <a:solidFill>
                            <a:srgbClr val="000000"/>
                          </a:solidFill>
                          <a:effectLst/>
                          <a:latin typeface="+mn-lt"/>
                        </a:rPr>
                        <a:t>Organizacional</a:t>
                      </a:r>
                    </a:p>
                  </a:txBody>
                  <a:tcPr marL="9525" marR="9525" marT="9525" anchor="ctr"/>
                </a:tc>
                <a:tc>
                  <a:txBody>
                    <a:bodyPr/>
                    <a:lstStyle/>
                    <a:p>
                      <a:pPr algn="ctr" fontAlgn="ctr"/>
                      <a:r>
                        <a:rPr lang="es-ES" sz="1200" b="0" i="0" u="none" strike="noStrike">
                          <a:solidFill>
                            <a:srgbClr val="000000"/>
                          </a:solidFill>
                          <a:effectLst/>
                          <a:latin typeface="+mn-lt"/>
                        </a:rPr>
                        <a:t>Media</a:t>
                      </a:r>
                    </a:p>
                  </a:txBody>
                  <a:tcPr marL="9525" marR="9525" marT="9525" anchor="ctr"/>
                </a:tc>
                <a:tc>
                  <a:txBody>
                    <a:bodyPr/>
                    <a:lstStyle/>
                    <a:p>
                      <a:pPr algn="ctr" fontAlgn="ctr"/>
                      <a:r>
                        <a:rPr lang="es-ES" sz="1200" b="0" i="0" u="none" strike="noStrike">
                          <a:solidFill>
                            <a:srgbClr val="000000"/>
                          </a:solidFill>
                          <a:effectLst/>
                          <a:latin typeface="+mn-lt"/>
                        </a:rPr>
                        <a:t>Medio</a:t>
                      </a:r>
                    </a:p>
                  </a:txBody>
                  <a:tcPr marL="9525" marR="9525" marT="9525" anchor="ctr"/>
                </a:tc>
                <a:tc>
                  <a:txBody>
                    <a:bodyPr/>
                    <a:lstStyle/>
                    <a:p>
                      <a:pPr algn="ctr" fontAlgn="ctr"/>
                      <a:r>
                        <a:rPr lang="es-ES" sz="1200" b="0" i="0" u="none" strike="noStrike">
                          <a:solidFill>
                            <a:srgbClr val="000000"/>
                          </a:solidFill>
                          <a:effectLst/>
                          <a:latin typeface="+mn-lt"/>
                        </a:rPr>
                        <a:t>Alto</a:t>
                      </a:r>
                    </a:p>
                  </a:txBody>
                  <a:tcPr marL="9525" marR="9525" marT="9525" anchor="ctr"/>
                </a:tc>
                <a:tc>
                  <a:txBody>
                    <a:bodyPr/>
                    <a:lstStyle/>
                    <a:p>
                      <a:pPr algn="ctr" fontAlgn="ctr"/>
                      <a:r>
                        <a:rPr lang="es-ES" sz="1200" b="0" i="0" u="none" strike="noStrike">
                          <a:solidFill>
                            <a:srgbClr val="000000"/>
                          </a:solidFill>
                          <a:effectLst/>
                          <a:latin typeface="+mn-lt"/>
                        </a:rPr>
                        <a:t>Medio</a:t>
                      </a:r>
                    </a:p>
                  </a:txBody>
                  <a:tcPr marL="9525" marR="9525" marT="9525" anchor="ctr"/>
                </a:tc>
                <a:tc>
                  <a:txBody>
                    <a:bodyPr/>
                    <a:lstStyle/>
                    <a:p>
                      <a:pPr algn="ctr" fontAlgn="ctr"/>
                      <a:r>
                        <a:rPr lang="es-ES" sz="1200" b="0" i="0" u="none" strike="noStrike">
                          <a:solidFill>
                            <a:srgbClr val="000000"/>
                          </a:solidFill>
                          <a:effectLst/>
                          <a:latin typeface="+mn-lt"/>
                        </a:rPr>
                        <a:t>Medio</a:t>
                      </a:r>
                    </a:p>
                  </a:txBody>
                  <a:tcPr marL="9525" marR="9525" marT="9525" anchor="ctr"/>
                </a:tc>
                <a:tc>
                  <a:txBody>
                    <a:bodyPr/>
                    <a:lstStyle/>
                    <a:p>
                      <a:pPr algn="ctr" fontAlgn="ctr"/>
                      <a:r>
                        <a:rPr lang="es-ES" sz="1200" b="0" i="0" u="none" strike="noStrike">
                          <a:solidFill>
                            <a:srgbClr val="000000"/>
                          </a:solidFill>
                          <a:effectLst/>
                          <a:latin typeface="+mn-lt"/>
                        </a:rPr>
                        <a:t>0,28</a:t>
                      </a:r>
                    </a:p>
                  </a:txBody>
                  <a:tcPr marL="9525" marR="9525" marT="9525" anchor="ctr">
                    <a:solidFill>
                      <a:srgbClr val="FFCC00"/>
                    </a:solidFill>
                  </a:tcPr>
                </a:tc>
                <a:tc>
                  <a:txBody>
                    <a:bodyPr/>
                    <a:lstStyle/>
                    <a:p>
                      <a:pPr algn="ctr" fontAlgn="ctr"/>
                      <a:r>
                        <a:rPr lang="es-ES" sz="1200" b="0" i="0" u="none" strike="noStrike">
                          <a:solidFill>
                            <a:srgbClr val="000000"/>
                          </a:solidFill>
                          <a:effectLst/>
                          <a:latin typeface="+mn-lt"/>
                        </a:rPr>
                        <a:t>Eliminar</a:t>
                      </a:r>
                    </a:p>
                  </a:txBody>
                  <a:tcPr marL="9525" marR="9525" marT="9525" anchor="ctr"/>
                </a:tc>
                <a:extLst>
                  <a:ext uri="{0D108BD9-81ED-4DB2-BD59-A6C34878D82A}">
                    <a16:rowId xmlns:a16="http://schemas.microsoft.com/office/drawing/2014/main" val="4135653"/>
                  </a:ext>
                </a:extLst>
              </a:tr>
              <a:tr h="370840">
                <a:tc>
                  <a:txBody>
                    <a:bodyPr/>
                    <a:lstStyle/>
                    <a:p>
                      <a:r>
                        <a:rPr lang="es-ES" sz="1200" kern="1200">
                          <a:solidFill>
                            <a:schemeClr val="dk1"/>
                          </a:solidFill>
                          <a:effectLst/>
                          <a:latin typeface="+mn-lt"/>
                          <a:ea typeface="+mn-ea"/>
                          <a:cs typeface="+mn-cs"/>
                        </a:rPr>
                        <a:t>La arquitectura carece de flexibilidad</a:t>
                      </a:r>
                      <a:endParaRPr lang="es-ES" sz="1200">
                        <a:latin typeface="+mn-lt"/>
                      </a:endParaRPr>
                    </a:p>
                  </a:txBody>
                  <a:tcPr/>
                </a:tc>
                <a:tc>
                  <a:txBody>
                    <a:bodyPr/>
                    <a:lstStyle/>
                    <a:p>
                      <a:pPr algn="l" fontAlgn="ctr"/>
                      <a:r>
                        <a:rPr lang="es-ES" sz="1200" b="0" i="0" u="none" strike="noStrike">
                          <a:solidFill>
                            <a:srgbClr val="000000"/>
                          </a:solidFill>
                          <a:effectLst/>
                          <a:latin typeface="+mn-lt"/>
                        </a:rPr>
                        <a:t>Técnico</a:t>
                      </a:r>
                    </a:p>
                  </a:txBody>
                  <a:tcPr marL="9525" marR="9525" marT="9525" anchor="ctr"/>
                </a:tc>
                <a:tc>
                  <a:txBody>
                    <a:bodyPr/>
                    <a:lstStyle/>
                    <a:p>
                      <a:pPr algn="ctr" fontAlgn="ctr"/>
                      <a:r>
                        <a:rPr lang="es-ES" sz="1200" b="0" i="0" u="none" strike="noStrike">
                          <a:solidFill>
                            <a:srgbClr val="000000"/>
                          </a:solidFill>
                          <a:effectLst/>
                          <a:latin typeface="+mn-lt"/>
                        </a:rPr>
                        <a:t>Media</a:t>
                      </a:r>
                    </a:p>
                  </a:txBody>
                  <a:tcPr marL="9525" marR="9525" marT="9525" anchor="ctr"/>
                </a:tc>
                <a:tc>
                  <a:txBody>
                    <a:bodyPr/>
                    <a:lstStyle/>
                    <a:p>
                      <a:pPr algn="ctr" fontAlgn="ctr"/>
                      <a:r>
                        <a:rPr lang="es-ES" sz="1200" b="0" i="0" u="none" strike="noStrike">
                          <a:solidFill>
                            <a:srgbClr val="000000"/>
                          </a:solidFill>
                          <a:effectLst/>
                          <a:latin typeface="+mn-lt"/>
                        </a:rPr>
                        <a:t>Bajo</a:t>
                      </a:r>
                    </a:p>
                  </a:txBody>
                  <a:tcPr marL="9525" marR="9525" marT="9525" anchor="ctr"/>
                </a:tc>
                <a:tc>
                  <a:txBody>
                    <a:bodyPr/>
                    <a:lstStyle/>
                    <a:p>
                      <a:pPr algn="ctr" fontAlgn="ctr"/>
                      <a:r>
                        <a:rPr lang="es-ES" sz="1200" b="0" i="0" u="none" strike="noStrike">
                          <a:solidFill>
                            <a:srgbClr val="000000"/>
                          </a:solidFill>
                          <a:effectLst/>
                          <a:latin typeface="+mn-lt"/>
                        </a:rPr>
                        <a:t>Alto</a:t>
                      </a:r>
                    </a:p>
                  </a:txBody>
                  <a:tcPr marL="9525" marR="9525" marT="9525" anchor="ctr"/>
                </a:tc>
                <a:tc>
                  <a:txBody>
                    <a:bodyPr/>
                    <a:lstStyle/>
                    <a:p>
                      <a:pPr algn="ctr" fontAlgn="ctr"/>
                      <a:r>
                        <a:rPr lang="es-ES" sz="1200" b="0" i="0" u="none" strike="noStrike">
                          <a:solidFill>
                            <a:srgbClr val="000000"/>
                          </a:solidFill>
                          <a:effectLst/>
                          <a:latin typeface="+mn-lt"/>
                        </a:rPr>
                        <a:t>Medio</a:t>
                      </a:r>
                    </a:p>
                  </a:txBody>
                  <a:tcPr marL="9525" marR="9525" marT="9525" anchor="ctr"/>
                </a:tc>
                <a:tc>
                  <a:txBody>
                    <a:bodyPr/>
                    <a:lstStyle/>
                    <a:p>
                      <a:pPr algn="ctr" fontAlgn="ctr"/>
                      <a:r>
                        <a:rPr lang="es-ES" sz="1200" b="0" i="0" u="none" strike="noStrike">
                          <a:solidFill>
                            <a:srgbClr val="000000"/>
                          </a:solidFill>
                          <a:effectLst/>
                          <a:latin typeface="+mn-lt"/>
                        </a:rPr>
                        <a:t>Medio</a:t>
                      </a:r>
                    </a:p>
                  </a:txBody>
                  <a:tcPr marL="9525" marR="9525" marT="9525" anchor="ctr"/>
                </a:tc>
                <a:tc>
                  <a:txBody>
                    <a:bodyPr/>
                    <a:lstStyle/>
                    <a:p>
                      <a:pPr algn="ctr" fontAlgn="ctr"/>
                      <a:r>
                        <a:rPr lang="es-ES" sz="1200" b="0" i="0" u="none" strike="noStrike">
                          <a:solidFill>
                            <a:srgbClr val="000000"/>
                          </a:solidFill>
                          <a:effectLst/>
                          <a:latin typeface="+mn-lt"/>
                        </a:rPr>
                        <a:t>0,28</a:t>
                      </a:r>
                    </a:p>
                  </a:txBody>
                  <a:tcPr marL="9525" marR="9525" marT="9525" anchor="ctr">
                    <a:solidFill>
                      <a:srgbClr val="FFCC00"/>
                    </a:solidFill>
                  </a:tcPr>
                </a:tc>
                <a:tc>
                  <a:txBody>
                    <a:bodyPr/>
                    <a:lstStyle/>
                    <a:p>
                      <a:pPr algn="ctr" fontAlgn="ctr"/>
                      <a:r>
                        <a:rPr lang="es-ES" sz="1200" b="0" i="0" u="none" strike="noStrike">
                          <a:solidFill>
                            <a:srgbClr val="000000"/>
                          </a:solidFill>
                          <a:effectLst/>
                          <a:latin typeface="+mn-lt"/>
                        </a:rPr>
                        <a:t>Mitigar</a:t>
                      </a:r>
                    </a:p>
                  </a:txBody>
                  <a:tcPr marL="9525" marR="9525" marT="9525" anchor="ctr"/>
                </a:tc>
                <a:extLst>
                  <a:ext uri="{0D108BD9-81ED-4DB2-BD59-A6C34878D82A}">
                    <a16:rowId xmlns:a16="http://schemas.microsoft.com/office/drawing/2014/main" val="2026041531"/>
                  </a:ext>
                </a:extLst>
              </a:tr>
              <a:tr h="370840">
                <a:tc>
                  <a:txBody>
                    <a:bodyPr/>
                    <a:lstStyle/>
                    <a:p>
                      <a:r>
                        <a:rPr lang="es-ES" sz="1200" kern="1200">
                          <a:solidFill>
                            <a:schemeClr val="dk1"/>
                          </a:solidFill>
                          <a:effectLst/>
                          <a:latin typeface="+mn-lt"/>
                          <a:ea typeface="+mn-ea"/>
                          <a:cs typeface="+mn-cs"/>
                        </a:rPr>
                        <a:t>Colapso bancario</a:t>
                      </a:r>
                      <a:endParaRPr lang="es-ES" sz="1200">
                        <a:latin typeface="+mn-lt"/>
                      </a:endParaRPr>
                    </a:p>
                  </a:txBody>
                  <a:tcPr/>
                </a:tc>
                <a:tc>
                  <a:txBody>
                    <a:bodyPr/>
                    <a:lstStyle/>
                    <a:p>
                      <a:pPr algn="l" fontAlgn="ctr"/>
                      <a:r>
                        <a:rPr lang="es-ES" sz="1200" b="0" i="0" u="none" strike="noStrike">
                          <a:solidFill>
                            <a:srgbClr val="000000"/>
                          </a:solidFill>
                          <a:effectLst/>
                          <a:latin typeface="+mn-lt"/>
                        </a:rPr>
                        <a:t>Externo</a:t>
                      </a:r>
                    </a:p>
                  </a:txBody>
                  <a:tcPr marL="9525" marR="9525" marT="9525" anchor="ctr"/>
                </a:tc>
                <a:tc>
                  <a:txBody>
                    <a:bodyPr/>
                    <a:lstStyle/>
                    <a:p>
                      <a:pPr algn="ctr" fontAlgn="ctr"/>
                      <a:r>
                        <a:rPr lang="es-ES" sz="1200" b="0" i="0" u="none" strike="noStrike">
                          <a:solidFill>
                            <a:srgbClr val="000000"/>
                          </a:solidFill>
                          <a:effectLst/>
                          <a:latin typeface="+mn-lt"/>
                        </a:rPr>
                        <a:t>Baja</a:t>
                      </a:r>
                    </a:p>
                  </a:txBody>
                  <a:tcPr marL="9525" marR="9525" marT="9525" anchor="ctr"/>
                </a:tc>
                <a:tc>
                  <a:txBody>
                    <a:bodyPr/>
                    <a:lstStyle/>
                    <a:p>
                      <a:pPr algn="ctr" fontAlgn="ctr"/>
                      <a:r>
                        <a:rPr lang="es-ES" sz="1200" b="0" i="0" u="none" strike="noStrike">
                          <a:solidFill>
                            <a:srgbClr val="000000"/>
                          </a:solidFill>
                          <a:effectLst/>
                          <a:latin typeface="+mn-lt"/>
                        </a:rPr>
                        <a:t>Crítico</a:t>
                      </a:r>
                    </a:p>
                  </a:txBody>
                  <a:tcPr marL="9525" marR="9525" marT="9525" anchor="ctr"/>
                </a:tc>
                <a:tc>
                  <a:txBody>
                    <a:bodyPr/>
                    <a:lstStyle/>
                    <a:p>
                      <a:pPr algn="ctr" fontAlgn="ctr"/>
                      <a:r>
                        <a:rPr lang="es-ES" sz="1200" b="0" i="0" u="none" strike="noStrike">
                          <a:solidFill>
                            <a:srgbClr val="000000"/>
                          </a:solidFill>
                          <a:effectLst/>
                          <a:latin typeface="+mn-lt"/>
                        </a:rPr>
                        <a:t>Alto</a:t>
                      </a:r>
                    </a:p>
                  </a:txBody>
                  <a:tcPr marL="9525" marR="9525" marT="9525" anchor="ctr"/>
                </a:tc>
                <a:tc>
                  <a:txBody>
                    <a:bodyPr/>
                    <a:lstStyle/>
                    <a:p>
                      <a:pPr algn="ctr" fontAlgn="ctr"/>
                      <a:r>
                        <a:rPr lang="es-ES" sz="1200" b="0" i="0" u="none" strike="noStrike">
                          <a:solidFill>
                            <a:srgbClr val="000000"/>
                          </a:solidFill>
                          <a:effectLst/>
                          <a:latin typeface="+mn-lt"/>
                        </a:rPr>
                        <a:t>Alto</a:t>
                      </a:r>
                    </a:p>
                  </a:txBody>
                  <a:tcPr marL="9525" marR="9525" marT="9525" anchor="ctr"/>
                </a:tc>
                <a:tc>
                  <a:txBody>
                    <a:bodyPr/>
                    <a:lstStyle/>
                    <a:p>
                      <a:pPr algn="ctr" fontAlgn="ctr"/>
                      <a:r>
                        <a:rPr lang="es-ES" sz="1200" b="0" i="0" u="none" strike="noStrike">
                          <a:solidFill>
                            <a:srgbClr val="000000"/>
                          </a:solidFill>
                          <a:effectLst/>
                          <a:latin typeface="+mn-lt"/>
                        </a:rPr>
                        <a:t>Alto</a:t>
                      </a:r>
                    </a:p>
                  </a:txBody>
                  <a:tcPr marL="9525" marR="9525" marT="9525" anchor="ctr"/>
                </a:tc>
                <a:tc>
                  <a:txBody>
                    <a:bodyPr/>
                    <a:lstStyle/>
                    <a:p>
                      <a:pPr algn="ctr" fontAlgn="ctr"/>
                      <a:r>
                        <a:rPr lang="es-ES" sz="1200" b="0" i="0" u="none" strike="noStrike">
                          <a:solidFill>
                            <a:srgbClr val="000000"/>
                          </a:solidFill>
                          <a:effectLst/>
                          <a:latin typeface="+mn-lt"/>
                        </a:rPr>
                        <a:t>0,27</a:t>
                      </a:r>
                    </a:p>
                  </a:txBody>
                  <a:tcPr marL="9525" marR="9525" marT="9525" anchor="ctr">
                    <a:solidFill>
                      <a:srgbClr val="FEF0BC"/>
                    </a:solidFill>
                  </a:tcPr>
                </a:tc>
                <a:tc>
                  <a:txBody>
                    <a:bodyPr/>
                    <a:lstStyle/>
                    <a:p>
                      <a:pPr algn="ctr" fontAlgn="ctr"/>
                      <a:r>
                        <a:rPr lang="es-ES" sz="1200" b="0" i="0" u="none" strike="noStrike">
                          <a:solidFill>
                            <a:srgbClr val="000000"/>
                          </a:solidFill>
                          <a:effectLst/>
                          <a:latin typeface="+mn-lt"/>
                        </a:rPr>
                        <a:t>Mitigar</a:t>
                      </a:r>
                    </a:p>
                  </a:txBody>
                  <a:tcPr marL="9525" marR="9525" marT="9525" anchor="ctr"/>
                </a:tc>
                <a:extLst>
                  <a:ext uri="{0D108BD9-81ED-4DB2-BD59-A6C34878D82A}">
                    <a16:rowId xmlns:a16="http://schemas.microsoft.com/office/drawing/2014/main" val="1959740706"/>
                  </a:ext>
                </a:extLst>
              </a:tr>
              <a:tr h="370840">
                <a:tc>
                  <a:txBody>
                    <a:bodyPr/>
                    <a:lstStyle/>
                    <a:p>
                      <a:r>
                        <a:rPr lang="es-ES" sz="1200" kern="1200" err="1">
                          <a:solidFill>
                            <a:schemeClr val="dk1"/>
                          </a:solidFill>
                          <a:effectLst/>
                          <a:latin typeface="+mn-lt"/>
                          <a:ea typeface="+mn-ea"/>
                          <a:cs typeface="+mn-cs"/>
                        </a:rPr>
                        <a:t>Dificutad</a:t>
                      </a:r>
                      <a:r>
                        <a:rPr lang="es-ES" sz="1200" kern="1200">
                          <a:solidFill>
                            <a:schemeClr val="dk1"/>
                          </a:solidFill>
                          <a:effectLst/>
                          <a:latin typeface="+mn-lt"/>
                          <a:ea typeface="+mn-ea"/>
                          <a:cs typeface="+mn-cs"/>
                        </a:rPr>
                        <a:t> para formar al personal</a:t>
                      </a:r>
                      <a:endParaRPr lang="es-ES" sz="1200">
                        <a:latin typeface="+mn-lt"/>
                      </a:endParaRPr>
                    </a:p>
                  </a:txBody>
                  <a:tcPr/>
                </a:tc>
                <a:tc>
                  <a:txBody>
                    <a:bodyPr/>
                    <a:lstStyle/>
                    <a:p>
                      <a:pPr algn="l" fontAlgn="ctr"/>
                      <a:r>
                        <a:rPr lang="es-ES" sz="1200" b="0" i="0" u="none" strike="noStrike">
                          <a:solidFill>
                            <a:srgbClr val="000000"/>
                          </a:solidFill>
                          <a:effectLst/>
                          <a:latin typeface="+mn-lt"/>
                        </a:rPr>
                        <a:t>Externo</a:t>
                      </a:r>
                    </a:p>
                  </a:txBody>
                  <a:tcPr marL="9525" marR="9525" marT="9525" anchor="ctr"/>
                </a:tc>
                <a:tc>
                  <a:txBody>
                    <a:bodyPr/>
                    <a:lstStyle/>
                    <a:p>
                      <a:pPr algn="ctr" fontAlgn="ctr"/>
                      <a:r>
                        <a:rPr lang="es-ES" sz="1200" b="0" i="0" u="none" strike="noStrike">
                          <a:solidFill>
                            <a:srgbClr val="000000"/>
                          </a:solidFill>
                          <a:effectLst/>
                          <a:latin typeface="+mn-lt"/>
                        </a:rPr>
                        <a:t>Alta</a:t>
                      </a:r>
                    </a:p>
                  </a:txBody>
                  <a:tcPr marL="9525" marR="9525" marT="9525" anchor="ctr"/>
                </a:tc>
                <a:tc>
                  <a:txBody>
                    <a:bodyPr/>
                    <a:lstStyle/>
                    <a:p>
                      <a:pPr algn="ctr" fontAlgn="ctr"/>
                      <a:r>
                        <a:rPr lang="es-ES" sz="1200" b="0" i="0" u="none" strike="noStrike">
                          <a:solidFill>
                            <a:srgbClr val="000000"/>
                          </a:solidFill>
                          <a:effectLst/>
                          <a:latin typeface="+mn-lt"/>
                        </a:rPr>
                        <a:t>Bajo</a:t>
                      </a:r>
                    </a:p>
                  </a:txBody>
                  <a:tcPr marL="9525" marR="9525" marT="9525" anchor="ctr"/>
                </a:tc>
                <a:tc>
                  <a:txBody>
                    <a:bodyPr/>
                    <a:lstStyle/>
                    <a:p>
                      <a:pPr algn="ctr" fontAlgn="ctr"/>
                      <a:r>
                        <a:rPr lang="es-ES" sz="1200" b="0" i="0" u="none" strike="noStrike">
                          <a:solidFill>
                            <a:srgbClr val="000000"/>
                          </a:solidFill>
                          <a:effectLst/>
                          <a:latin typeface="+mn-lt"/>
                        </a:rPr>
                        <a:t>Medio</a:t>
                      </a:r>
                    </a:p>
                  </a:txBody>
                  <a:tcPr marL="9525" marR="9525" marT="9525" anchor="ctr"/>
                </a:tc>
                <a:tc>
                  <a:txBody>
                    <a:bodyPr/>
                    <a:lstStyle/>
                    <a:p>
                      <a:pPr algn="ctr" fontAlgn="ctr"/>
                      <a:r>
                        <a:rPr lang="es-ES" sz="1200" b="0" i="0" u="none" strike="noStrike">
                          <a:solidFill>
                            <a:srgbClr val="000000"/>
                          </a:solidFill>
                          <a:effectLst/>
                          <a:latin typeface="+mn-lt"/>
                        </a:rPr>
                        <a:t>Medio</a:t>
                      </a:r>
                    </a:p>
                  </a:txBody>
                  <a:tcPr marL="9525" marR="9525" marT="9525" anchor="ctr"/>
                </a:tc>
                <a:tc>
                  <a:txBody>
                    <a:bodyPr/>
                    <a:lstStyle/>
                    <a:p>
                      <a:pPr algn="ctr" fontAlgn="ctr"/>
                      <a:r>
                        <a:rPr lang="es-ES" sz="1200" b="0" i="0" u="none" strike="noStrike">
                          <a:solidFill>
                            <a:srgbClr val="000000"/>
                          </a:solidFill>
                          <a:effectLst/>
                          <a:latin typeface="+mn-lt"/>
                        </a:rPr>
                        <a:t>Bajo</a:t>
                      </a:r>
                    </a:p>
                  </a:txBody>
                  <a:tcPr marL="9525" marR="9525" marT="9525" anchor="ctr"/>
                </a:tc>
                <a:tc>
                  <a:txBody>
                    <a:bodyPr/>
                    <a:lstStyle/>
                    <a:p>
                      <a:pPr algn="ctr" fontAlgn="ctr"/>
                      <a:r>
                        <a:rPr lang="es-ES" sz="1200" b="0" i="0" u="none" strike="noStrike">
                          <a:solidFill>
                            <a:srgbClr val="000000"/>
                          </a:solidFill>
                          <a:effectLst/>
                          <a:latin typeface="+mn-lt"/>
                        </a:rPr>
                        <a:t>0,21</a:t>
                      </a:r>
                    </a:p>
                  </a:txBody>
                  <a:tcPr marL="9525" marR="9525" marT="9525" anchor="ctr">
                    <a:solidFill>
                      <a:srgbClr val="F8F890"/>
                    </a:solidFill>
                  </a:tcPr>
                </a:tc>
                <a:tc>
                  <a:txBody>
                    <a:bodyPr/>
                    <a:lstStyle/>
                    <a:p>
                      <a:pPr algn="ctr" fontAlgn="ctr"/>
                      <a:r>
                        <a:rPr lang="es-ES" sz="1200" b="0" i="0" u="none" strike="noStrike">
                          <a:solidFill>
                            <a:srgbClr val="000000"/>
                          </a:solidFill>
                          <a:effectLst/>
                          <a:latin typeface="+mn-lt"/>
                        </a:rPr>
                        <a:t>Mitigar</a:t>
                      </a:r>
                    </a:p>
                  </a:txBody>
                  <a:tcPr marL="9525" marR="9525" marT="9525" anchor="ctr"/>
                </a:tc>
                <a:extLst>
                  <a:ext uri="{0D108BD9-81ED-4DB2-BD59-A6C34878D82A}">
                    <a16:rowId xmlns:a16="http://schemas.microsoft.com/office/drawing/2014/main" val="322308587"/>
                  </a:ext>
                </a:extLst>
              </a:tr>
              <a:tr h="370840">
                <a:tc>
                  <a:txBody>
                    <a:bodyPr/>
                    <a:lstStyle/>
                    <a:p>
                      <a:r>
                        <a:rPr lang="es-ES" sz="1200" kern="1200">
                          <a:solidFill>
                            <a:schemeClr val="dk1"/>
                          </a:solidFill>
                          <a:effectLst/>
                          <a:latin typeface="+mn-lt"/>
                          <a:ea typeface="+mn-ea"/>
                          <a:cs typeface="+mn-cs"/>
                        </a:rPr>
                        <a:t>GitHub deja de estar disponible</a:t>
                      </a:r>
                      <a:endParaRPr lang="es-ES" sz="1200">
                        <a:latin typeface="+mn-lt"/>
                      </a:endParaRPr>
                    </a:p>
                  </a:txBody>
                  <a:tcPr/>
                </a:tc>
                <a:tc>
                  <a:txBody>
                    <a:bodyPr/>
                    <a:lstStyle/>
                    <a:p>
                      <a:pPr algn="l" fontAlgn="ctr"/>
                      <a:r>
                        <a:rPr lang="es-ES" sz="1200" b="0" i="0" u="none" strike="noStrike">
                          <a:solidFill>
                            <a:srgbClr val="000000"/>
                          </a:solidFill>
                          <a:effectLst/>
                          <a:latin typeface="+mn-lt"/>
                        </a:rPr>
                        <a:t>Externo</a:t>
                      </a:r>
                    </a:p>
                  </a:txBody>
                  <a:tcPr marL="9525" marR="9525" marT="9525" anchor="ctr"/>
                </a:tc>
                <a:tc>
                  <a:txBody>
                    <a:bodyPr/>
                    <a:lstStyle/>
                    <a:p>
                      <a:pPr algn="ctr" fontAlgn="ctr"/>
                      <a:r>
                        <a:rPr lang="es-ES" sz="1200" b="0" i="0" u="none" strike="noStrike">
                          <a:solidFill>
                            <a:srgbClr val="000000"/>
                          </a:solidFill>
                          <a:effectLst/>
                          <a:latin typeface="+mn-lt"/>
                        </a:rPr>
                        <a:t>Baja</a:t>
                      </a:r>
                    </a:p>
                  </a:txBody>
                  <a:tcPr marL="9525" marR="9525" marT="9525" anchor="ctr"/>
                </a:tc>
                <a:tc>
                  <a:txBody>
                    <a:bodyPr/>
                    <a:lstStyle/>
                    <a:p>
                      <a:pPr algn="ctr" fontAlgn="ctr"/>
                      <a:r>
                        <a:rPr lang="es-ES" sz="1200" b="0" i="0" u="none" strike="noStrike">
                          <a:solidFill>
                            <a:srgbClr val="000000"/>
                          </a:solidFill>
                          <a:effectLst/>
                          <a:latin typeface="+mn-lt"/>
                        </a:rPr>
                        <a:t>Medio</a:t>
                      </a:r>
                    </a:p>
                  </a:txBody>
                  <a:tcPr marL="9525" marR="9525" marT="9525" anchor="ctr"/>
                </a:tc>
                <a:tc>
                  <a:txBody>
                    <a:bodyPr/>
                    <a:lstStyle/>
                    <a:p>
                      <a:pPr algn="ctr" fontAlgn="ctr"/>
                      <a:r>
                        <a:rPr lang="es-ES" sz="1200" b="0" i="0" u="none" strike="noStrike">
                          <a:solidFill>
                            <a:srgbClr val="000000"/>
                          </a:solidFill>
                          <a:effectLst/>
                          <a:latin typeface="+mn-lt"/>
                        </a:rPr>
                        <a:t>Alto</a:t>
                      </a:r>
                    </a:p>
                  </a:txBody>
                  <a:tcPr marL="9525" marR="9525" marT="9525" anchor="ctr"/>
                </a:tc>
                <a:tc>
                  <a:txBody>
                    <a:bodyPr/>
                    <a:lstStyle/>
                    <a:p>
                      <a:pPr algn="ctr" fontAlgn="ctr"/>
                      <a:r>
                        <a:rPr lang="es-ES" sz="1200" b="0" i="0" u="none" strike="noStrike">
                          <a:solidFill>
                            <a:srgbClr val="000000"/>
                          </a:solidFill>
                          <a:effectLst/>
                          <a:latin typeface="+mn-lt"/>
                        </a:rPr>
                        <a:t>Medio</a:t>
                      </a:r>
                    </a:p>
                  </a:txBody>
                  <a:tcPr marL="9525" marR="9525" marT="9525" anchor="ctr"/>
                </a:tc>
                <a:tc>
                  <a:txBody>
                    <a:bodyPr/>
                    <a:lstStyle/>
                    <a:p>
                      <a:pPr algn="ctr" fontAlgn="ctr"/>
                      <a:r>
                        <a:rPr lang="es-ES" sz="1200" b="0" i="0" u="none" strike="noStrike">
                          <a:solidFill>
                            <a:srgbClr val="000000"/>
                          </a:solidFill>
                          <a:effectLst/>
                          <a:latin typeface="+mn-lt"/>
                        </a:rPr>
                        <a:t>Medio</a:t>
                      </a:r>
                    </a:p>
                  </a:txBody>
                  <a:tcPr marL="9525" marR="9525" marT="9525" anchor="ctr"/>
                </a:tc>
                <a:tc>
                  <a:txBody>
                    <a:bodyPr/>
                    <a:lstStyle/>
                    <a:p>
                      <a:pPr algn="ctr" fontAlgn="ctr"/>
                      <a:r>
                        <a:rPr lang="es-ES" sz="1200" b="0" i="0" u="none" strike="noStrike">
                          <a:solidFill>
                            <a:srgbClr val="000000"/>
                          </a:solidFill>
                          <a:effectLst/>
                          <a:latin typeface="+mn-lt"/>
                        </a:rPr>
                        <a:t>0,17</a:t>
                      </a:r>
                    </a:p>
                  </a:txBody>
                  <a:tcPr marL="9525" marR="9525" marT="9525" anchor="ctr">
                    <a:solidFill>
                      <a:srgbClr val="F4FCA6"/>
                    </a:solidFill>
                  </a:tcPr>
                </a:tc>
                <a:tc>
                  <a:txBody>
                    <a:bodyPr/>
                    <a:lstStyle/>
                    <a:p>
                      <a:pPr algn="ctr" fontAlgn="ctr"/>
                      <a:r>
                        <a:rPr lang="es-ES" sz="1200" b="0" i="0" u="none" strike="noStrike">
                          <a:solidFill>
                            <a:srgbClr val="000000"/>
                          </a:solidFill>
                          <a:effectLst/>
                          <a:latin typeface="+mn-lt"/>
                        </a:rPr>
                        <a:t>Mitigar</a:t>
                      </a:r>
                    </a:p>
                  </a:txBody>
                  <a:tcPr marL="9525" marR="9525" marT="9525" anchor="ctr"/>
                </a:tc>
                <a:extLst>
                  <a:ext uri="{0D108BD9-81ED-4DB2-BD59-A6C34878D82A}">
                    <a16:rowId xmlns:a16="http://schemas.microsoft.com/office/drawing/2014/main" val="3020844473"/>
                  </a:ext>
                </a:extLst>
              </a:tr>
              <a:tr h="370840">
                <a:tc>
                  <a:txBody>
                    <a:bodyPr/>
                    <a:lstStyle/>
                    <a:p>
                      <a:r>
                        <a:rPr lang="es-ES" sz="1200" kern="1200">
                          <a:solidFill>
                            <a:schemeClr val="dk1"/>
                          </a:solidFill>
                          <a:effectLst/>
                          <a:latin typeface="+mn-lt"/>
                          <a:ea typeface="+mn-ea"/>
                          <a:cs typeface="+mn-cs"/>
                        </a:rPr>
                        <a:t>Sufrir ataque informático</a:t>
                      </a:r>
                      <a:endParaRPr lang="es-ES" sz="1200">
                        <a:latin typeface="+mn-lt"/>
                      </a:endParaRPr>
                    </a:p>
                  </a:txBody>
                  <a:tcPr/>
                </a:tc>
                <a:tc>
                  <a:txBody>
                    <a:bodyPr/>
                    <a:lstStyle/>
                    <a:p>
                      <a:pPr algn="l" fontAlgn="ctr"/>
                      <a:r>
                        <a:rPr lang="es-ES" sz="1200" b="0" i="0" u="none" strike="noStrike">
                          <a:solidFill>
                            <a:srgbClr val="000000"/>
                          </a:solidFill>
                          <a:effectLst/>
                          <a:latin typeface="+mn-lt"/>
                        </a:rPr>
                        <a:t>Externo</a:t>
                      </a:r>
                    </a:p>
                  </a:txBody>
                  <a:tcPr marL="9525" marR="9525" marT="9525" anchor="ctr"/>
                </a:tc>
                <a:tc>
                  <a:txBody>
                    <a:bodyPr/>
                    <a:lstStyle/>
                    <a:p>
                      <a:pPr algn="ctr" fontAlgn="ctr"/>
                      <a:r>
                        <a:rPr lang="es-ES" sz="1200" b="0" i="0" u="none" strike="noStrike">
                          <a:solidFill>
                            <a:srgbClr val="000000"/>
                          </a:solidFill>
                          <a:effectLst/>
                          <a:latin typeface="+mn-lt"/>
                        </a:rPr>
                        <a:t>Baja</a:t>
                      </a:r>
                    </a:p>
                  </a:txBody>
                  <a:tcPr marL="9525" marR="9525" marT="9525" anchor="ctr"/>
                </a:tc>
                <a:tc>
                  <a:txBody>
                    <a:bodyPr/>
                    <a:lstStyle/>
                    <a:p>
                      <a:pPr algn="ctr" fontAlgn="ctr"/>
                      <a:r>
                        <a:rPr lang="es-ES" sz="1200" b="0" i="0" u="none" strike="noStrike">
                          <a:solidFill>
                            <a:srgbClr val="000000"/>
                          </a:solidFill>
                          <a:effectLst/>
                          <a:latin typeface="+mn-lt"/>
                        </a:rPr>
                        <a:t>Alto</a:t>
                      </a:r>
                    </a:p>
                  </a:txBody>
                  <a:tcPr marL="9525" marR="9525" marT="9525" anchor="ctr"/>
                </a:tc>
                <a:tc>
                  <a:txBody>
                    <a:bodyPr/>
                    <a:lstStyle/>
                    <a:p>
                      <a:pPr algn="ctr" fontAlgn="ctr"/>
                      <a:r>
                        <a:rPr lang="es-ES" sz="1200" b="0" i="0" u="none" strike="noStrike">
                          <a:solidFill>
                            <a:srgbClr val="000000"/>
                          </a:solidFill>
                          <a:effectLst/>
                          <a:latin typeface="+mn-lt"/>
                        </a:rPr>
                        <a:t>Inapreciable</a:t>
                      </a:r>
                    </a:p>
                  </a:txBody>
                  <a:tcPr marL="9525" marR="9525" marT="9525" anchor="ctr"/>
                </a:tc>
                <a:tc>
                  <a:txBody>
                    <a:bodyPr/>
                    <a:lstStyle/>
                    <a:p>
                      <a:pPr algn="ctr" fontAlgn="ctr"/>
                      <a:r>
                        <a:rPr lang="es-ES" sz="1200" b="0" i="0" u="none" strike="noStrike">
                          <a:solidFill>
                            <a:srgbClr val="000000"/>
                          </a:solidFill>
                          <a:effectLst/>
                          <a:latin typeface="+mn-lt"/>
                        </a:rPr>
                        <a:t>Inapreciable</a:t>
                      </a:r>
                    </a:p>
                  </a:txBody>
                  <a:tcPr marL="9525" marR="9525" marT="9525" anchor="ctr"/>
                </a:tc>
                <a:tc>
                  <a:txBody>
                    <a:bodyPr/>
                    <a:lstStyle/>
                    <a:p>
                      <a:pPr algn="ctr" fontAlgn="ctr"/>
                      <a:r>
                        <a:rPr lang="es-ES" sz="1200" b="0" i="0" u="none" strike="noStrike">
                          <a:solidFill>
                            <a:srgbClr val="000000"/>
                          </a:solidFill>
                          <a:effectLst/>
                          <a:latin typeface="+mn-lt"/>
                        </a:rPr>
                        <a:t>Bajo</a:t>
                      </a:r>
                    </a:p>
                  </a:txBody>
                  <a:tcPr marL="9525" marR="9525" marT="9525" anchor="ctr"/>
                </a:tc>
                <a:tc>
                  <a:txBody>
                    <a:bodyPr/>
                    <a:lstStyle/>
                    <a:p>
                      <a:pPr algn="ctr" fontAlgn="ctr"/>
                      <a:r>
                        <a:rPr lang="es-ES" sz="1200" b="0" i="0" u="none" strike="noStrike">
                          <a:solidFill>
                            <a:srgbClr val="000000"/>
                          </a:solidFill>
                          <a:effectLst/>
                          <a:latin typeface="+mn-lt"/>
                        </a:rPr>
                        <a:t>0,17</a:t>
                      </a:r>
                    </a:p>
                  </a:txBody>
                  <a:tcPr marL="9525" marR="9525" marT="9525" anchor="ctr">
                    <a:solidFill>
                      <a:srgbClr val="F4FCA6"/>
                    </a:solidFill>
                  </a:tcPr>
                </a:tc>
                <a:tc>
                  <a:txBody>
                    <a:bodyPr/>
                    <a:lstStyle/>
                    <a:p>
                      <a:pPr algn="ctr" fontAlgn="ctr"/>
                      <a:r>
                        <a:rPr lang="es-ES" sz="1200" b="0" i="0" u="none" strike="noStrike">
                          <a:solidFill>
                            <a:srgbClr val="000000"/>
                          </a:solidFill>
                          <a:effectLst/>
                          <a:latin typeface="+mn-lt"/>
                        </a:rPr>
                        <a:t>Mitigar</a:t>
                      </a:r>
                    </a:p>
                  </a:txBody>
                  <a:tcPr marL="9525" marR="9525" marT="9525" anchor="ctr"/>
                </a:tc>
                <a:extLst>
                  <a:ext uri="{0D108BD9-81ED-4DB2-BD59-A6C34878D82A}">
                    <a16:rowId xmlns:a16="http://schemas.microsoft.com/office/drawing/2014/main" val="221040091"/>
                  </a:ext>
                </a:extLst>
              </a:tr>
            </a:tbl>
          </a:graphicData>
        </a:graphic>
      </p:graphicFrame>
    </p:spTree>
    <p:extLst>
      <p:ext uri="{BB962C8B-B14F-4D97-AF65-F5344CB8AC3E}">
        <p14:creationId xmlns:p14="http://schemas.microsoft.com/office/powerpoint/2010/main" val="311485372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3363022-C969-41E9-8EB2-E4C94908C1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202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D1AD6B3-BE88-4CEB-BA17-790657CC47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05C1E001-098E-DFCF-42AC-3189095A47CC}"/>
              </a:ext>
            </a:extLst>
          </p:cNvPr>
          <p:cNvSpPr>
            <a:spLocks noGrp="1"/>
          </p:cNvSpPr>
          <p:nvPr>
            <p:ph type="title"/>
          </p:nvPr>
        </p:nvSpPr>
        <p:spPr>
          <a:xfrm>
            <a:off x="6590662" y="4267832"/>
            <a:ext cx="4805996" cy="1297115"/>
          </a:xfrm>
        </p:spPr>
        <p:txBody>
          <a:bodyPr vert="horz" lIns="91440" tIns="45720" rIns="91440" bIns="45720" rtlCol="0" anchor="t">
            <a:normAutofit/>
          </a:bodyPr>
          <a:lstStyle/>
          <a:p>
            <a:r>
              <a:rPr lang="en-US" sz="4000" kern="1200">
                <a:solidFill>
                  <a:schemeClr val="tx2"/>
                </a:solidFill>
                <a:latin typeface="+mj-lt"/>
                <a:ea typeface="+mj-ea"/>
                <a:cs typeface="+mj-cs"/>
              </a:rPr>
              <a:t>Gracias</a:t>
            </a:r>
          </a:p>
        </p:txBody>
      </p:sp>
      <p:pic>
        <p:nvPicPr>
          <p:cNvPr id="7" name="Graphic 6" descr="Smiling Face with No Fill">
            <a:extLst>
              <a:ext uri="{FF2B5EF4-FFF2-40B4-BE49-F238E27FC236}">
                <a16:creationId xmlns:a16="http://schemas.microsoft.com/office/drawing/2014/main" id="{3047E455-3077-4613-8918-5DE6D54B8FC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40470" y="1815320"/>
            <a:ext cx="4141760" cy="4141760"/>
          </a:xfrm>
          <a:custGeom>
            <a:avLst/>
            <a:gdLst/>
            <a:ahLst/>
            <a:cxnLst/>
            <a:rect l="l" t="t" r="r" b="b"/>
            <a:pathLst>
              <a:path w="4141760" h="4377846">
                <a:moveTo>
                  <a:pt x="0" y="0"/>
                </a:moveTo>
                <a:lnTo>
                  <a:pt x="4141760" y="0"/>
                </a:lnTo>
                <a:lnTo>
                  <a:pt x="4141760" y="4377846"/>
                </a:lnTo>
                <a:lnTo>
                  <a:pt x="0" y="4377846"/>
                </a:lnTo>
                <a:close/>
              </a:path>
            </a:pathLst>
          </a:custGeom>
        </p:spPr>
      </p:pic>
      <p:grpSp>
        <p:nvGrpSpPr>
          <p:cNvPr id="14" name="Group 13">
            <a:extLst>
              <a:ext uri="{FF2B5EF4-FFF2-40B4-BE49-F238E27FC236}">
                <a16:creationId xmlns:a16="http://schemas.microsoft.com/office/drawing/2014/main" id="{89D1390B-7E13-4B4F-9CB2-391063412E5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253" y="-5977"/>
            <a:ext cx="6238675" cy="6863979"/>
            <a:chOff x="305" y="-5977"/>
            <a:chExt cx="6238675" cy="6863979"/>
          </a:xfrm>
        </p:grpSpPr>
        <p:sp>
          <p:nvSpPr>
            <p:cNvPr id="15" name="Freeform: Shape 14">
              <a:extLst>
                <a:ext uri="{FF2B5EF4-FFF2-40B4-BE49-F238E27FC236}">
                  <a16:creationId xmlns:a16="http://schemas.microsoft.com/office/drawing/2014/main" id="{9E720206-AA49-4786-A932-A2650DE091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34854"/>
              <a:ext cx="6028697" cy="6817170"/>
            </a:xfrm>
            <a:custGeom>
              <a:avLst/>
              <a:gdLst>
                <a:gd name="connsiteX0" fmla="*/ 6028697 w 6028697"/>
                <a:gd name="connsiteY0" fmla="*/ 6155323 h 6817170"/>
                <a:gd name="connsiteX1" fmla="*/ 6028697 w 6028697"/>
                <a:gd name="connsiteY1" fmla="*/ 6817170 h 6817170"/>
                <a:gd name="connsiteX2" fmla="*/ 5157862 w 6028697"/>
                <a:gd name="connsiteY2" fmla="*/ 6817170 h 6817170"/>
                <a:gd name="connsiteX3" fmla="*/ 5347156 w 6028697"/>
                <a:gd name="connsiteY3" fmla="*/ 6687553 h 6817170"/>
                <a:gd name="connsiteX4" fmla="*/ 5487470 w 6028697"/>
                <a:gd name="connsiteY4" fmla="*/ 6581714 h 6817170"/>
                <a:gd name="connsiteX5" fmla="*/ 5627642 w 6028697"/>
                <a:gd name="connsiteY5" fmla="*/ 6472328 h 6817170"/>
                <a:gd name="connsiteX6" fmla="*/ 5911392 w 6028697"/>
                <a:gd name="connsiteY6" fmla="*/ 6245328 h 6817170"/>
                <a:gd name="connsiteX7" fmla="*/ 4481066 w 6028697"/>
                <a:gd name="connsiteY7" fmla="*/ 478 h 6817170"/>
                <a:gd name="connsiteX8" fmla="*/ 4672258 w 6028697"/>
                <a:gd name="connsiteY8" fmla="*/ 7519 h 6817170"/>
                <a:gd name="connsiteX9" fmla="*/ 5429869 w 6028697"/>
                <a:gd name="connsiteY9" fmla="*/ 125134 h 6817170"/>
                <a:gd name="connsiteX10" fmla="*/ 5976319 w 6028697"/>
                <a:gd name="connsiteY10" fmla="*/ 314893 h 6817170"/>
                <a:gd name="connsiteX11" fmla="*/ 6028697 w 6028697"/>
                <a:gd name="connsiteY11" fmla="*/ 339901 h 6817170"/>
                <a:gd name="connsiteX12" fmla="*/ 6028697 w 6028697"/>
                <a:gd name="connsiteY12" fmla="*/ 732458 h 6817170"/>
                <a:gd name="connsiteX13" fmla="*/ 5990985 w 6028697"/>
                <a:gd name="connsiteY13" fmla="*/ 712211 h 6817170"/>
                <a:gd name="connsiteX14" fmla="*/ 5341339 w 6028697"/>
                <a:gd name="connsiteY14" fmla="*/ 475281 h 6817170"/>
                <a:gd name="connsiteX15" fmla="*/ 4651969 w 6028697"/>
                <a:gd name="connsiteY15" fmla="*/ 377104 h 6817170"/>
                <a:gd name="connsiteX16" fmla="*/ 3953093 w 6028697"/>
                <a:gd name="connsiteY16" fmla="*/ 402498 h 6817170"/>
                <a:gd name="connsiteX17" fmla="*/ 3267413 w 6028697"/>
                <a:gd name="connsiteY17" fmla="*/ 546643 h 6817170"/>
                <a:gd name="connsiteX18" fmla="*/ 1439498 w 6028697"/>
                <a:gd name="connsiteY18" fmla="*/ 1568141 h 6817170"/>
                <a:gd name="connsiteX19" fmla="*/ 960671 w 6028697"/>
                <a:gd name="connsiteY19" fmla="*/ 2082013 h 6817170"/>
                <a:gd name="connsiteX20" fmla="*/ 581866 w 6028697"/>
                <a:gd name="connsiteY20" fmla="*/ 2672638 h 6817170"/>
                <a:gd name="connsiteX21" fmla="*/ 324789 w 6028697"/>
                <a:gd name="connsiteY21" fmla="*/ 3325262 h 6817170"/>
                <a:gd name="connsiteX22" fmla="*/ 231151 w 6028697"/>
                <a:gd name="connsiteY22" fmla="*/ 4022292 h 6817170"/>
                <a:gd name="connsiteX23" fmla="*/ 270592 w 6028697"/>
                <a:gd name="connsiteY23" fmla="*/ 4362792 h 6817170"/>
                <a:gd name="connsiteX24" fmla="*/ 387213 w 6028697"/>
                <a:gd name="connsiteY24" fmla="*/ 4681585 h 6817170"/>
                <a:gd name="connsiteX25" fmla="*/ 468507 w 6028697"/>
                <a:gd name="connsiteY25" fmla="*/ 4831546 h 6817170"/>
                <a:gd name="connsiteX26" fmla="*/ 561862 w 6028697"/>
                <a:gd name="connsiteY26" fmla="*/ 4976826 h 6817170"/>
                <a:gd name="connsiteX27" fmla="*/ 777511 w 6028697"/>
                <a:gd name="connsiteY27" fmla="*/ 5257597 h 6817170"/>
                <a:gd name="connsiteX28" fmla="*/ 1010895 w 6028697"/>
                <a:gd name="connsiteY28" fmla="*/ 5540494 h 6817170"/>
                <a:gd name="connsiteX29" fmla="*/ 1126948 w 6028697"/>
                <a:gd name="connsiteY29" fmla="*/ 5688186 h 6817170"/>
                <a:gd name="connsiteX30" fmla="*/ 1182706 w 6028697"/>
                <a:gd name="connsiteY30" fmla="*/ 5760543 h 6817170"/>
                <a:gd name="connsiteX31" fmla="*/ 1237327 w 6028697"/>
                <a:gd name="connsiteY31" fmla="*/ 5830060 h 6817170"/>
                <a:gd name="connsiteX32" fmla="*/ 1706649 w 6028697"/>
                <a:gd name="connsiteY32" fmla="*/ 6342797 h 6817170"/>
                <a:gd name="connsiteX33" fmla="*/ 1956207 w 6028697"/>
                <a:gd name="connsiteY33" fmla="*/ 6573484 h 6817170"/>
                <a:gd name="connsiteX34" fmla="*/ 2217681 w 6028697"/>
                <a:gd name="connsiteY34" fmla="*/ 6786297 h 6817170"/>
                <a:gd name="connsiteX35" fmla="*/ 2260820 w 6028697"/>
                <a:gd name="connsiteY35" fmla="*/ 6817170 h 6817170"/>
                <a:gd name="connsiteX36" fmla="*/ 1429497 w 6028697"/>
                <a:gd name="connsiteY36" fmla="*/ 6817170 h 6817170"/>
                <a:gd name="connsiteX37" fmla="*/ 1327275 w 6028697"/>
                <a:gd name="connsiteY37" fmla="*/ 6713800 h 6817170"/>
                <a:gd name="connsiteX38" fmla="*/ 1080556 w 6028697"/>
                <a:gd name="connsiteY38" fmla="*/ 6414443 h 6817170"/>
                <a:gd name="connsiteX39" fmla="*/ 865189 w 6028697"/>
                <a:gd name="connsiteY39" fmla="*/ 6097496 h 6817170"/>
                <a:gd name="connsiteX40" fmla="*/ 814823 w 6028697"/>
                <a:gd name="connsiteY40" fmla="*/ 6016911 h 6817170"/>
                <a:gd name="connsiteX41" fmla="*/ 766729 w 6028697"/>
                <a:gd name="connsiteY41" fmla="*/ 5938453 h 6817170"/>
                <a:gd name="connsiteX42" fmla="*/ 671672 w 6028697"/>
                <a:gd name="connsiteY42" fmla="*/ 5786648 h 6817170"/>
                <a:gd name="connsiteX43" fmla="*/ 474608 w 6028697"/>
                <a:gd name="connsiteY43" fmla="*/ 5474664 h 6817170"/>
                <a:gd name="connsiteX44" fmla="*/ 282652 w 6028697"/>
                <a:gd name="connsiteY44" fmla="*/ 5146508 h 6817170"/>
                <a:gd name="connsiteX45" fmla="*/ 196108 w 6028697"/>
                <a:gd name="connsiteY45" fmla="*/ 4972712 h 6817170"/>
                <a:gd name="connsiteX46" fmla="*/ 122474 w 6028697"/>
                <a:gd name="connsiteY46" fmla="*/ 4791821 h 6817170"/>
                <a:gd name="connsiteX47" fmla="*/ 65724 w 6028697"/>
                <a:gd name="connsiteY47" fmla="*/ 4603129 h 6817170"/>
                <a:gd name="connsiteX48" fmla="*/ 44727 w 6028697"/>
                <a:gd name="connsiteY48" fmla="*/ 4506937 h 6817170"/>
                <a:gd name="connsiteX49" fmla="*/ 35505 w 6028697"/>
                <a:gd name="connsiteY49" fmla="*/ 4458699 h 6817170"/>
                <a:gd name="connsiteX50" fmla="*/ 27845 w 6028697"/>
                <a:gd name="connsiteY50" fmla="*/ 4410320 h 6817170"/>
                <a:gd name="connsiteX51" fmla="*/ 37 w 6028697"/>
                <a:gd name="connsiteY51" fmla="*/ 4022292 h 6817170"/>
                <a:gd name="connsiteX52" fmla="*/ 78777 w 6028697"/>
                <a:gd name="connsiteY52" fmla="*/ 3267236 h 6817170"/>
                <a:gd name="connsiteX53" fmla="*/ 315424 w 6028697"/>
                <a:gd name="connsiteY53" fmla="*/ 2543673 h 6817170"/>
                <a:gd name="connsiteX54" fmla="*/ 1202710 w 6028697"/>
                <a:gd name="connsiteY54" fmla="*/ 1314895 h 6817170"/>
                <a:gd name="connsiteX55" fmla="*/ 1791065 w 6028697"/>
                <a:gd name="connsiteY55" fmla="*/ 833514 h 6817170"/>
                <a:gd name="connsiteX56" fmla="*/ 3908404 w 6028697"/>
                <a:gd name="connsiteY56" fmla="*/ 29794 h 6817170"/>
                <a:gd name="connsiteX57" fmla="*/ 4481066 w 6028697"/>
                <a:gd name="connsiteY57" fmla="*/ 478 h 6817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6028697" h="6817170">
                  <a:moveTo>
                    <a:pt x="6028697" y="6155323"/>
                  </a:moveTo>
                  <a:lnTo>
                    <a:pt x="6028697" y="6817170"/>
                  </a:lnTo>
                  <a:lnTo>
                    <a:pt x="5157862" y="6817170"/>
                  </a:lnTo>
                  <a:lnTo>
                    <a:pt x="5347156" y="6687553"/>
                  </a:lnTo>
                  <a:cubicBezTo>
                    <a:pt x="5394117" y="6653219"/>
                    <a:pt x="5440793" y="6617608"/>
                    <a:pt x="5487470" y="6581714"/>
                  </a:cubicBezTo>
                  <a:cubicBezTo>
                    <a:pt x="5534147" y="6545820"/>
                    <a:pt x="5580966" y="6509358"/>
                    <a:pt x="5627642" y="6472328"/>
                  </a:cubicBezTo>
                  <a:lnTo>
                    <a:pt x="5911392" y="6245328"/>
                  </a:lnTo>
                  <a:close/>
                  <a:moveTo>
                    <a:pt x="4481066" y="478"/>
                  </a:moveTo>
                  <a:cubicBezTo>
                    <a:pt x="4544817" y="1422"/>
                    <a:pt x="4608563" y="3769"/>
                    <a:pt x="4672258" y="7519"/>
                  </a:cubicBezTo>
                  <a:cubicBezTo>
                    <a:pt x="4927973" y="22364"/>
                    <a:pt x="5181687" y="61751"/>
                    <a:pt x="5429869" y="125134"/>
                  </a:cubicBezTo>
                  <a:cubicBezTo>
                    <a:pt x="5617090" y="173104"/>
                    <a:pt x="5799867" y="236595"/>
                    <a:pt x="5976319" y="314893"/>
                  </a:cubicBezTo>
                  <a:lnTo>
                    <a:pt x="6028697" y="339901"/>
                  </a:lnTo>
                  <a:lnTo>
                    <a:pt x="6028697" y="732458"/>
                  </a:lnTo>
                  <a:lnTo>
                    <a:pt x="5990985" y="712211"/>
                  </a:lnTo>
                  <a:cubicBezTo>
                    <a:pt x="5783917" y="609342"/>
                    <a:pt x="5566013" y="529876"/>
                    <a:pt x="5341339" y="475281"/>
                  </a:cubicBezTo>
                  <a:cubicBezTo>
                    <a:pt x="5115233" y="420503"/>
                    <a:pt x="4884375" y="387624"/>
                    <a:pt x="4651969" y="377104"/>
                  </a:cubicBezTo>
                  <a:cubicBezTo>
                    <a:pt x="4418713" y="365171"/>
                    <a:pt x="4184861" y="373670"/>
                    <a:pt x="3953093" y="402498"/>
                  </a:cubicBezTo>
                  <a:cubicBezTo>
                    <a:pt x="3721001" y="431832"/>
                    <a:pt x="3491675" y="480040"/>
                    <a:pt x="3267413" y="546643"/>
                  </a:cubicBezTo>
                  <a:cubicBezTo>
                    <a:pt x="2591323" y="750761"/>
                    <a:pt x="1967642" y="1099289"/>
                    <a:pt x="1439498" y="1568141"/>
                  </a:cubicBezTo>
                  <a:cubicBezTo>
                    <a:pt x="1265589" y="1725523"/>
                    <a:pt x="1105393" y="1897434"/>
                    <a:pt x="960671" y="2082013"/>
                  </a:cubicBezTo>
                  <a:cubicBezTo>
                    <a:pt x="815775" y="2266294"/>
                    <a:pt x="688923" y="2464081"/>
                    <a:pt x="581866" y="2672638"/>
                  </a:cubicBezTo>
                  <a:cubicBezTo>
                    <a:pt x="473765" y="2880669"/>
                    <a:pt x="387610" y="3099397"/>
                    <a:pt x="324789" y="3325262"/>
                  </a:cubicBezTo>
                  <a:cubicBezTo>
                    <a:pt x="262714" y="3552403"/>
                    <a:pt x="231223" y="3786822"/>
                    <a:pt x="231151" y="4022292"/>
                  </a:cubicBezTo>
                  <a:cubicBezTo>
                    <a:pt x="231413" y="4136912"/>
                    <a:pt x="244645" y="4251136"/>
                    <a:pt x="270592" y="4362792"/>
                  </a:cubicBezTo>
                  <a:cubicBezTo>
                    <a:pt x="297885" y="4472943"/>
                    <a:pt x="336983" y="4579833"/>
                    <a:pt x="387213" y="4681585"/>
                  </a:cubicBezTo>
                  <a:cubicBezTo>
                    <a:pt x="412042" y="4732517"/>
                    <a:pt x="439423" y="4782457"/>
                    <a:pt x="468507" y="4831546"/>
                  </a:cubicBezTo>
                  <a:cubicBezTo>
                    <a:pt x="497591" y="4880636"/>
                    <a:pt x="529230" y="4929015"/>
                    <a:pt x="561862" y="4976826"/>
                  </a:cubicBezTo>
                  <a:cubicBezTo>
                    <a:pt x="627975" y="5072166"/>
                    <a:pt x="701466" y="5164668"/>
                    <a:pt x="777511" y="5257597"/>
                  </a:cubicBezTo>
                  <a:cubicBezTo>
                    <a:pt x="853556" y="5350524"/>
                    <a:pt x="933574" y="5443594"/>
                    <a:pt x="1010895" y="5540494"/>
                  </a:cubicBezTo>
                  <a:cubicBezTo>
                    <a:pt x="1049957" y="5588732"/>
                    <a:pt x="1088642" y="5637963"/>
                    <a:pt x="1126948" y="5688186"/>
                  </a:cubicBezTo>
                  <a:lnTo>
                    <a:pt x="1182706" y="5760543"/>
                  </a:lnTo>
                  <a:cubicBezTo>
                    <a:pt x="1201007" y="5783669"/>
                    <a:pt x="1218458" y="5807503"/>
                    <a:pt x="1237327" y="5830060"/>
                  </a:cubicBezTo>
                  <a:cubicBezTo>
                    <a:pt x="1383714" y="6009916"/>
                    <a:pt x="1540413" y="6181116"/>
                    <a:pt x="1706649" y="6342797"/>
                  </a:cubicBezTo>
                  <a:cubicBezTo>
                    <a:pt x="1788084" y="6422531"/>
                    <a:pt x="1871265" y="6499427"/>
                    <a:pt x="1956207" y="6573484"/>
                  </a:cubicBezTo>
                  <a:cubicBezTo>
                    <a:pt x="2041332" y="6647402"/>
                    <a:pt x="2127733" y="6718907"/>
                    <a:pt x="2217681" y="6786297"/>
                  </a:cubicBezTo>
                  <a:lnTo>
                    <a:pt x="2260820" y="6817170"/>
                  </a:lnTo>
                  <a:lnTo>
                    <a:pt x="1429497" y="6817170"/>
                  </a:lnTo>
                  <a:lnTo>
                    <a:pt x="1327275" y="6713800"/>
                  </a:lnTo>
                  <a:cubicBezTo>
                    <a:pt x="1239186" y="6618984"/>
                    <a:pt x="1156797" y="6519019"/>
                    <a:pt x="1080556" y="6414443"/>
                  </a:cubicBezTo>
                  <a:cubicBezTo>
                    <a:pt x="1004653" y="6310734"/>
                    <a:pt x="932439" y="6205177"/>
                    <a:pt x="865189" y="6097496"/>
                  </a:cubicBezTo>
                  <a:cubicBezTo>
                    <a:pt x="847881" y="6070823"/>
                    <a:pt x="831565" y="6043725"/>
                    <a:pt x="814823" y="6016911"/>
                  </a:cubicBezTo>
                  <a:lnTo>
                    <a:pt x="766729" y="5938453"/>
                  </a:lnTo>
                  <a:cubicBezTo>
                    <a:pt x="735941" y="5887947"/>
                    <a:pt x="703878" y="5837581"/>
                    <a:pt x="671672" y="5786648"/>
                  </a:cubicBezTo>
                  <a:lnTo>
                    <a:pt x="474608" y="5474664"/>
                  </a:lnTo>
                  <a:cubicBezTo>
                    <a:pt x="408778" y="5368968"/>
                    <a:pt x="343516" y="5260008"/>
                    <a:pt x="282652" y="5146508"/>
                  </a:cubicBezTo>
                  <a:cubicBezTo>
                    <a:pt x="252290" y="5089759"/>
                    <a:pt x="223065" y="5032015"/>
                    <a:pt x="196108" y="4972712"/>
                  </a:cubicBezTo>
                  <a:cubicBezTo>
                    <a:pt x="169152" y="4913408"/>
                    <a:pt x="144607" y="4853111"/>
                    <a:pt x="122474" y="4791821"/>
                  </a:cubicBezTo>
                  <a:cubicBezTo>
                    <a:pt x="100342" y="4730532"/>
                    <a:pt x="81757" y="4666830"/>
                    <a:pt x="65724" y="4603129"/>
                  </a:cubicBezTo>
                  <a:cubicBezTo>
                    <a:pt x="58205" y="4571064"/>
                    <a:pt x="50828" y="4539143"/>
                    <a:pt x="44727" y="4506937"/>
                  </a:cubicBezTo>
                  <a:lnTo>
                    <a:pt x="35505" y="4458699"/>
                  </a:lnTo>
                  <a:lnTo>
                    <a:pt x="27845" y="4410320"/>
                  </a:lnTo>
                  <a:cubicBezTo>
                    <a:pt x="8635" y="4281881"/>
                    <a:pt x="-661" y="4152150"/>
                    <a:pt x="37" y="4022292"/>
                  </a:cubicBezTo>
                  <a:cubicBezTo>
                    <a:pt x="712" y="3768592"/>
                    <a:pt x="27094" y="3515615"/>
                    <a:pt x="78777" y="3267236"/>
                  </a:cubicBezTo>
                  <a:cubicBezTo>
                    <a:pt x="130048" y="3017876"/>
                    <a:pt x="209439" y="2775142"/>
                    <a:pt x="315424" y="2543673"/>
                  </a:cubicBezTo>
                  <a:cubicBezTo>
                    <a:pt x="528236" y="2081161"/>
                    <a:pt x="838234" y="1667312"/>
                    <a:pt x="1202710" y="1314895"/>
                  </a:cubicBezTo>
                  <a:cubicBezTo>
                    <a:pt x="1385514" y="1138814"/>
                    <a:pt x="1582282" y="977831"/>
                    <a:pt x="1791065" y="833514"/>
                  </a:cubicBezTo>
                  <a:cubicBezTo>
                    <a:pt x="2420037" y="395614"/>
                    <a:pt x="3147288" y="119557"/>
                    <a:pt x="3908404" y="29794"/>
                  </a:cubicBezTo>
                  <a:cubicBezTo>
                    <a:pt x="4098509" y="7429"/>
                    <a:pt x="4289811" y="-2355"/>
                    <a:pt x="4481066" y="478"/>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C72F6EE6-EDE9-45A5-8F6D-02B9B7CB2C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1"/>
              <a:ext cx="6165116" cy="6858001"/>
            </a:xfrm>
            <a:custGeom>
              <a:avLst/>
              <a:gdLst>
                <a:gd name="connsiteX0" fmla="*/ 6264586 w 6264586"/>
                <a:gd name="connsiteY0" fmla="*/ 6646464 h 6858001"/>
                <a:gd name="connsiteX1" fmla="*/ 6264586 w 6264586"/>
                <a:gd name="connsiteY1" fmla="*/ 6858001 h 6858001"/>
                <a:gd name="connsiteX2" fmla="*/ 5997170 w 6264586"/>
                <a:gd name="connsiteY2" fmla="*/ 6858001 h 6858001"/>
                <a:gd name="connsiteX3" fmla="*/ 6121512 w 6264586"/>
                <a:gd name="connsiteY3" fmla="*/ 6761029 h 6858001"/>
                <a:gd name="connsiteX4" fmla="*/ 2693206 w 6264586"/>
                <a:gd name="connsiteY4" fmla="*/ 0 h 6858001"/>
                <a:gd name="connsiteX5" fmla="*/ 5872285 w 6264586"/>
                <a:gd name="connsiteY5" fmla="*/ 0 h 6858001"/>
                <a:gd name="connsiteX6" fmla="*/ 6024875 w 6264586"/>
                <a:gd name="connsiteY6" fmla="*/ 68385 h 6858001"/>
                <a:gd name="connsiteX7" fmla="*/ 6206432 w 6264586"/>
                <a:gd name="connsiteY7" fmla="*/ 162336 h 6858001"/>
                <a:gd name="connsiteX8" fmla="*/ 6264586 w 6264586"/>
                <a:gd name="connsiteY8" fmla="*/ 196704 h 6858001"/>
                <a:gd name="connsiteX9" fmla="*/ 6264586 w 6264586"/>
                <a:gd name="connsiteY9" fmla="*/ 537242 h 6858001"/>
                <a:gd name="connsiteX10" fmla="*/ 6230189 w 6264586"/>
                <a:gd name="connsiteY10" fmla="*/ 517260 h 6858001"/>
                <a:gd name="connsiteX11" fmla="*/ 5540536 w 6264586"/>
                <a:gd name="connsiteY11" fmla="*/ 249543 h 6858001"/>
                <a:gd name="connsiteX12" fmla="*/ 5178896 w 6264586"/>
                <a:gd name="connsiteY12" fmla="*/ 178606 h 6858001"/>
                <a:gd name="connsiteX13" fmla="*/ 4814279 w 6264586"/>
                <a:gd name="connsiteY13" fmla="*/ 146683 h 6858001"/>
                <a:gd name="connsiteX14" fmla="*/ 4655095 w 6264586"/>
                <a:gd name="connsiteY14" fmla="*/ 143421 h 6858001"/>
                <a:gd name="connsiteX15" fmla="*/ 4081069 w 6264586"/>
                <a:gd name="connsiteY15" fmla="*/ 185983 h 6858001"/>
                <a:gd name="connsiteX16" fmla="*/ 3720566 w 6264586"/>
                <a:gd name="connsiteY16" fmla="*/ 256921 h 6858001"/>
                <a:gd name="connsiteX17" fmla="*/ 3365879 w 6264586"/>
                <a:gd name="connsiteY17" fmla="*/ 357651 h 6858001"/>
                <a:gd name="connsiteX18" fmla="*/ 3020555 w 6264586"/>
                <a:gd name="connsiteY18" fmla="*/ 486190 h 6858001"/>
                <a:gd name="connsiteX19" fmla="*/ 2685163 w 6264586"/>
                <a:gd name="connsiteY19" fmla="*/ 641542 h 6858001"/>
                <a:gd name="connsiteX20" fmla="*/ 2047720 w 6264586"/>
                <a:gd name="connsiteY20" fmla="*/ 1025030 h 6858001"/>
                <a:gd name="connsiteX21" fmla="*/ 1897333 w 6264586"/>
                <a:gd name="connsiteY21" fmla="*/ 1134983 h 6858001"/>
                <a:gd name="connsiteX22" fmla="*/ 1835758 w 6264586"/>
                <a:gd name="connsiteY22" fmla="*/ 1182227 h 6858001"/>
                <a:gd name="connsiteX23" fmla="*/ 1823273 w 6264586"/>
                <a:gd name="connsiteY23" fmla="*/ 1192016 h 6858001"/>
                <a:gd name="connsiteX24" fmla="*/ 1750918 w 6264586"/>
                <a:gd name="connsiteY24" fmla="*/ 1249760 h 6858001"/>
                <a:gd name="connsiteX25" fmla="*/ 1469297 w 6264586"/>
                <a:gd name="connsiteY25" fmla="*/ 1496906 h 6858001"/>
                <a:gd name="connsiteX26" fmla="*/ 967769 w 6264586"/>
                <a:gd name="connsiteY26" fmla="*/ 2056602 h 6858001"/>
                <a:gd name="connsiteX27" fmla="*/ 754105 w 6264586"/>
                <a:gd name="connsiteY27" fmla="*/ 2368727 h 6858001"/>
                <a:gd name="connsiteX28" fmla="*/ 572364 w 6264586"/>
                <a:gd name="connsiteY28" fmla="*/ 2701140 h 6858001"/>
                <a:gd name="connsiteX29" fmla="*/ 532497 w 6264586"/>
                <a:gd name="connsiteY29" fmla="*/ 2786265 h 6858001"/>
                <a:gd name="connsiteX30" fmla="*/ 512918 w 6264586"/>
                <a:gd name="connsiteY30" fmla="*/ 2828827 h 6858001"/>
                <a:gd name="connsiteX31" fmla="*/ 494475 w 6264586"/>
                <a:gd name="connsiteY31" fmla="*/ 2872240 h 6858001"/>
                <a:gd name="connsiteX32" fmla="*/ 491637 w 6264586"/>
                <a:gd name="connsiteY32" fmla="*/ 2878908 h 6858001"/>
                <a:gd name="connsiteX33" fmla="*/ 459290 w 6264586"/>
                <a:gd name="connsiteY33" fmla="*/ 2959635 h 6858001"/>
                <a:gd name="connsiteX34" fmla="*/ 446805 w 6264586"/>
                <a:gd name="connsiteY34" fmla="*/ 2992408 h 6858001"/>
                <a:gd name="connsiteX35" fmla="*/ 426090 w 6264586"/>
                <a:gd name="connsiteY35" fmla="*/ 3049158 h 6858001"/>
                <a:gd name="connsiteX36" fmla="*/ 426090 w 6264586"/>
                <a:gd name="connsiteY36" fmla="*/ 3049867 h 6858001"/>
                <a:gd name="connsiteX37" fmla="*/ 318124 w 6264586"/>
                <a:gd name="connsiteY37" fmla="*/ 3414202 h 6858001"/>
                <a:gd name="connsiteX38" fmla="*/ 230729 w 6264586"/>
                <a:gd name="connsiteY38" fmla="*/ 4169260 h 6858001"/>
                <a:gd name="connsiteX39" fmla="*/ 268893 w 6264586"/>
                <a:gd name="connsiteY39" fmla="*/ 4544236 h 6858001"/>
                <a:gd name="connsiteX40" fmla="*/ 379840 w 6264586"/>
                <a:gd name="connsiteY40" fmla="*/ 4900056 h 6858001"/>
                <a:gd name="connsiteX41" fmla="*/ 406512 w 6264586"/>
                <a:gd name="connsiteY41" fmla="*/ 4960211 h 6858001"/>
                <a:gd name="connsiteX42" fmla="*/ 417862 w 6264586"/>
                <a:gd name="connsiteY42" fmla="*/ 4984613 h 6858001"/>
                <a:gd name="connsiteX43" fmla="*/ 428077 w 6264586"/>
                <a:gd name="connsiteY43" fmla="*/ 5005043 h 6858001"/>
                <a:gd name="connsiteX44" fmla="*/ 460140 w 6264586"/>
                <a:gd name="connsiteY44" fmla="*/ 5067327 h 6858001"/>
                <a:gd name="connsiteX45" fmla="*/ 555197 w 6264586"/>
                <a:gd name="connsiteY45" fmla="*/ 5229773 h 6858001"/>
                <a:gd name="connsiteX46" fmla="*/ 660611 w 6264586"/>
                <a:gd name="connsiteY46" fmla="*/ 5387396 h 6858001"/>
                <a:gd name="connsiteX47" fmla="*/ 774110 w 6264586"/>
                <a:gd name="connsiteY47" fmla="*/ 5542182 h 6858001"/>
                <a:gd name="connsiteX48" fmla="*/ 917829 w 6264586"/>
                <a:gd name="connsiteY48" fmla="*/ 5727896 h 6858001"/>
                <a:gd name="connsiteX49" fmla="*/ 1012885 w 6264586"/>
                <a:gd name="connsiteY49" fmla="*/ 5849767 h 6858001"/>
                <a:gd name="connsiteX50" fmla="*/ 1133053 w 6264586"/>
                <a:gd name="connsiteY50" fmla="*/ 6006822 h 6858001"/>
                <a:gd name="connsiteX51" fmla="*/ 1194343 w 6264586"/>
                <a:gd name="connsiteY51" fmla="*/ 6090245 h 6858001"/>
                <a:gd name="connsiteX52" fmla="*/ 1249390 w 6264586"/>
                <a:gd name="connsiteY52" fmla="*/ 6165155 h 6858001"/>
                <a:gd name="connsiteX53" fmla="*/ 1345724 w 6264586"/>
                <a:gd name="connsiteY53" fmla="*/ 6292132 h 6858001"/>
                <a:gd name="connsiteX54" fmla="*/ 1364310 w 6264586"/>
                <a:gd name="connsiteY54" fmla="*/ 6316251 h 6858001"/>
                <a:gd name="connsiteX55" fmla="*/ 1373673 w 6264586"/>
                <a:gd name="connsiteY55" fmla="*/ 6327885 h 6858001"/>
                <a:gd name="connsiteX56" fmla="*/ 1484619 w 6264586"/>
                <a:gd name="connsiteY56" fmla="*/ 6462240 h 6858001"/>
                <a:gd name="connsiteX57" fmla="*/ 1739000 w 6264586"/>
                <a:gd name="connsiteY57" fmla="*/ 6737335 h 6858001"/>
                <a:gd name="connsiteX58" fmla="*/ 1866801 w 6264586"/>
                <a:gd name="connsiteY58" fmla="*/ 6858001 h 6858001"/>
                <a:gd name="connsiteX59" fmla="*/ 1144149 w 6264586"/>
                <a:gd name="connsiteY59" fmla="*/ 6858001 h 6858001"/>
                <a:gd name="connsiteX60" fmla="*/ 1058349 w 6264586"/>
                <a:gd name="connsiteY60" fmla="*/ 6766452 h 6858001"/>
                <a:gd name="connsiteX61" fmla="*/ 580309 w 6264586"/>
                <a:gd name="connsiteY61" fmla="*/ 6105000 h 6858001"/>
                <a:gd name="connsiteX62" fmla="*/ 1 w 6264586"/>
                <a:gd name="connsiteY62" fmla="*/ 3960094 h 6858001"/>
                <a:gd name="connsiteX63" fmla="*/ 2599292 w 6264586"/>
                <a:gd name="connsiteY63" fmla="*/ 3705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264586" h="6858001">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C093DC50-3BD7-46B1-A300-CD207E152F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5977"/>
              <a:ext cx="6238675" cy="6858001"/>
            </a:xfrm>
            <a:custGeom>
              <a:avLst/>
              <a:gdLst>
                <a:gd name="connsiteX0" fmla="*/ 6264586 w 6264586"/>
                <a:gd name="connsiteY0" fmla="*/ 6646464 h 6858001"/>
                <a:gd name="connsiteX1" fmla="*/ 6264586 w 6264586"/>
                <a:gd name="connsiteY1" fmla="*/ 6858001 h 6858001"/>
                <a:gd name="connsiteX2" fmla="*/ 5997170 w 6264586"/>
                <a:gd name="connsiteY2" fmla="*/ 6858001 h 6858001"/>
                <a:gd name="connsiteX3" fmla="*/ 6121512 w 6264586"/>
                <a:gd name="connsiteY3" fmla="*/ 6761029 h 6858001"/>
                <a:gd name="connsiteX4" fmla="*/ 2693206 w 6264586"/>
                <a:gd name="connsiteY4" fmla="*/ 0 h 6858001"/>
                <a:gd name="connsiteX5" fmla="*/ 5872285 w 6264586"/>
                <a:gd name="connsiteY5" fmla="*/ 0 h 6858001"/>
                <a:gd name="connsiteX6" fmla="*/ 6024875 w 6264586"/>
                <a:gd name="connsiteY6" fmla="*/ 68385 h 6858001"/>
                <a:gd name="connsiteX7" fmla="*/ 6206432 w 6264586"/>
                <a:gd name="connsiteY7" fmla="*/ 162336 h 6858001"/>
                <a:gd name="connsiteX8" fmla="*/ 6264586 w 6264586"/>
                <a:gd name="connsiteY8" fmla="*/ 196704 h 6858001"/>
                <a:gd name="connsiteX9" fmla="*/ 6264586 w 6264586"/>
                <a:gd name="connsiteY9" fmla="*/ 537242 h 6858001"/>
                <a:gd name="connsiteX10" fmla="*/ 6230189 w 6264586"/>
                <a:gd name="connsiteY10" fmla="*/ 517260 h 6858001"/>
                <a:gd name="connsiteX11" fmla="*/ 5540536 w 6264586"/>
                <a:gd name="connsiteY11" fmla="*/ 249543 h 6858001"/>
                <a:gd name="connsiteX12" fmla="*/ 5178896 w 6264586"/>
                <a:gd name="connsiteY12" fmla="*/ 178606 h 6858001"/>
                <a:gd name="connsiteX13" fmla="*/ 4814279 w 6264586"/>
                <a:gd name="connsiteY13" fmla="*/ 146683 h 6858001"/>
                <a:gd name="connsiteX14" fmla="*/ 4655095 w 6264586"/>
                <a:gd name="connsiteY14" fmla="*/ 143421 h 6858001"/>
                <a:gd name="connsiteX15" fmla="*/ 4081069 w 6264586"/>
                <a:gd name="connsiteY15" fmla="*/ 185983 h 6858001"/>
                <a:gd name="connsiteX16" fmla="*/ 3720566 w 6264586"/>
                <a:gd name="connsiteY16" fmla="*/ 256921 h 6858001"/>
                <a:gd name="connsiteX17" fmla="*/ 3365879 w 6264586"/>
                <a:gd name="connsiteY17" fmla="*/ 357651 h 6858001"/>
                <a:gd name="connsiteX18" fmla="*/ 3020555 w 6264586"/>
                <a:gd name="connsiteY18" fmla="*/ 486190 h 6858001"/>
                <a:gd name="connsiteX19" fmla="*/ 2685163 w 6264586"/>
                <a:gd name="connsiteY19" fmla="*/ 641542 h 6858001"/>
                <a:gd name="connsiteX20" fmla="*/ 2047720 w 6264586"/>
                <a:gd name="connsiteY20" fmla="*/ 1025030 h 6858001"/>
                <a:gd name="connsiteX21" fmla="*/ 1897333 w 6264586"/>
                <a:gd name="connsiteY21" fmla="*/ 1134983 h 6858001"/>
                <a:gd name="connsiteX22" fmla="*/ 1835758 w 6264586"/>
                <a:gd name="connsiteY22" fmla="*/ 1182227 h 6858001"/>
                <a:gd name="connsiteX23" fmla="*/ 1823273 w 6264586"/>
                <a:gd name="connsiteY23" fmla="*/ 1192016 h 6858001"/>
                <a:gd name="connsiteX24" fmla="*/ 1750918 w 6264586"/>
                <a:gd name="connsiteY24" fmla="*/ 1249760 h 6858001"/>
                <a:gd name="connsiteX25" fmla="*/ 1469297 w 6264586"/>
                <a:gd name="connsiteY25" fmla="*/ 1496906 h 6858001"/>
                <a:gd name="connsiteX26" fmla="*/ 967769 w 6264586"/>
                <a:gd name="connsiteY26" fmla="*/ 2056602 h 6858001"/>
                <a:gd name="connsiteX27" fmla="*/ 754105 w 6264586"/>
                <a:gd name="connsiteY27" fmla="*/ 2368727 h 6858001"/>
                <a:gd name="connsiteX28" fmla="*/ 572364 w 6264586"/>
                <a:gd name="connsiteY28" fmla="*/ 2701140 h 6858001"/>
                <a:gd name="connsiteX29" fmla="*/ 532497 w 6264586"/>
                <a:gd name="connsiteY29" fmla="*/ 2786265 h 6858001"/>
                <a:gd name="connsiteX30" fmla="*/ 512918 w 6264586"/>
                <a:gd name="connsiteY30" fmla="*/ 2828827 h 6858001"/>
                <a:gd name="connsiteX31" fmla="*/ 494475 w 6264586"/>
                <a:gd name="connsiteY31" fmla="*/ 2872240 h 6858001"/>
                <a:gd name="connsiteX32" fmla="*/ 491637 w 6264586"/>
                <a:gd name="connsiteY32" fmla="*/ 2878908 h 6858001"/>
                <a:gd name="connsiteX33" fmla="*/ 459290 w 6264586"/>
                <a:gd name="connsiteY33" fmla="*/ 2959635 h 6858001"/>
                <a:gd name="connsiteX34" fmla="*/ 446805 w 6264586"/>
                <a:gd name="connsiteY34" fmla="*/ 2992408 h 6858001"/>
                <a:gd name="connsiteX35" fmla="*/ 426090 w 6264586"/>
                <a:gd name="connsiteY35" fmla="*/ 3049158 h 6858001"/>
                <a:gd name="connsiteX36" fmla="*/ 426090 w 6264586"/>
                <a:gd name="connsiteY36" fmla="*/ 3049867 h 6858001"/>
                <a:gd name="connsiteX37" fmla="*/ 318124 w 6264586"/>
                <a:gd name="connsiteY37" fmla="*/ 3414202 h 6858001"/>
                <a:gd name="connsiteX38" fmla="*/ 230729 w 6264586"/>
                <a:gd name="connsiteY38" fmla="*/ 4169260 h 6858001"/>
                <a:gd name="connsiteX39" fmla="*/ 268893 w 6264586"/>
                <a:gd name="connsiteY39" fmla="*/ 4544236 h 6858001"/>
                <a:gd name="connsiteX40" fmla="*/ 379840 w 6264586"/>
                <a:gd name="connsiteY40" fmla="*/ 4900056 h 6858001"/>
                <a:gd name="connsiteX41" fmla="*/ 406512 w 6264586"/>
                <a:gd name="connsiteY41" fmla="*/ 4960211 h 6858001"/>
                <a:gd name="connsiteX42" fmla="*/ 417862 w 6264586"/>
                <a:gd name="connsiteY42" fmla="*/ 4984613 h 6858001"/>
                <a:gd name="connsiteX43" fmla="*/ 428077 w 6264586"/>
                <a:gd name="connsiteY43" fmla="*/ 5005043 h 6858001"/>
                <a:gd name="connsiteX44" fmla="*/ 460140 w 6264586"/>
                <a:gd name="connsiteY44" fmla="*/ 5067327 h 6858001"/>
                <a:gd name="connsiteX45" fmla="*/ 555197 w 6264586"/>
                <a:gd name="connsiteY45" fmla="*/ 5229773 h 6858001"/>
                <a:gd name="connsiteX46" fmla="*/ 660611 w 6264586"/>
                <a:gd name="connsiteY46" fmla="*/ 5387396 h 6858001"/>
                <a:gd name="connsiteX47" fmla="*/ 774110 w 6264586"/>
                <a:gd name="connsiteY47" fmla="*/ 5542182 h 6858001"/>
                <a:gd name="connsiteX48" fmla="*/ 917829 w 6264586"/>
                <a:gd name="connsiteY48" fmla="*/ 5727896 h 6858001"/>
                <a:gd name="connsiteX49" fmla="*/ 1012885 w 6264586"/>
                <a:gd name="connsiteY49" fmla="*/ 5849767 h 6858001"/>
                <a:gd name="connsiteX50" fmla="*/ 1133053 w 6264586"/>
                <a:gd name="connsiteY50" fmla="*/ 6006822 h 6858001"/>
                <a:gd name="connsiteX51" fmla="*/ 1194343 w 6264586"/>
                <a:gd name="connsiteY51" fmla="*/ 6090245 h 6858001"/>
                <a:gd name="connsiteX52" fmla="*/ 1249390 w 6264586"/>
                <a:gd name="connsiteY52" fmla="*/ 6165155 h 6858001"/>
                <a:gd name="connsiteX53" fmla="*/ 1345724 w 6264586"/>
                <a:gd name="connsiteY53" fmla="*/ 6292132 h 6858001"/>
                <a:gd name="connsiteX54" fmla="*/ 1364310 w 6264586"/>
                <a:gd name="connsiteY54" fmla="*/ 6316251 h 6858001"/>
                <a:gd name="connsiteX55" fmla="*/ 1373673 w 6264586"/>
                <a:gd name="connsiteY55" fmla="*/ 6327885 h 6858001"/>
                <a:gd name="connsiteX56" fmla="*/ 1484619 w 6264586"/>
                <a:gd name="connsiteY56" fmla="*/ 6462240 h 6858001"/>
                <a:gd name="connsiteX57" fmla="*/ 1739000 w 6264586"/>
                <a:gd name="connsiteY57" fmla="*/ 6737335 h 6858001"/>
                <a:gd name="connsiteX58" fmla="*/ 1866801 w 6264586"/>
                <a:gd name="connsiteY58" fmla="*/ 6858001 h 6858001"/>
                <a:gd name="connsiteX59" fmla="*/ 1144149 w 6264586"/>
                <a:gd name="connsiteY59" fmla="*/ 6858001 h 6858001"/>
                <a:gd name="connsiteX60" fmla="*/ 1058349 w 6264586"/>
                <a:gd name="connsiteY60" fmla="*/ 6766452 h 6858001"/>
                <a:gd name="connsiteX61" fmla="*/ 580309 w 6264586"/>
                <a:gd name="connsiteY61" fmla="*/ 6105000 h 6858001"/>
                <a:gd name="connsiteX62" fmla="*/ 1 w 6264586"/>
                <a:gd name="connsiteY62" fmla="*/ 3960094 h 6858001"/>
                <a:gd name="connsiteX63" fmla="*/ 2599292 w 6264586"/>
                <a:gd name="connsiteY63" fmla="*/ 3705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264586" h="6858001">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759405981"/>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3298</Words>
  <Application>Microsoft Office PowerPoint</Application>
  <PresentationFormat>Panorámica</PresentationFormat>
  <Paragraphs>671</Paragraphs>
  <Slides>19</Slides>
  <Notes>17</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19</vt:i4>
      </vt:variant>
    </vt:vector>
  </HeadingPairs>
  <TitlesOfParts>
    <vt:vector size="25" baseType="lpstr">
      <vt:lpstr>Arial</vt:lpstr>
      <vt:lpstr>Calibri</vt:lpstr>
      <vt:lpstr>Calibri Light</vt:lpstr>
      <vt:lpstr>Calibri-Bold</vt:lpstr>
      <vt:lpstr>Symbol</vt:lpstr>
      <vt:lpstr>Tema de Office</vt:lpstr>
      <vt:lpstr>SISTEMA DE VENTA ON LINE DE SIDRA, CON LOGÍSTICA Y DISTRIBUCIÓN</vt:lpstr>
      <vt:lpstr>Índice</vt:lpstr>
      <vt:lpstr>Resumen del trabajo realizado</vt:lpstr>
      <vt:lpstr>Apartados realizados</vt:lpstr>
      <vt:lpstr>Duración del proyecto</vt:lpstr>
      <vt:lpstr>Planificación del Proyecto (WBS)</vt:lpstr>
      <vt:lpstr>Planificación del Proyecto (WBS)</vt:lpstr>
      <vt:lpstr>Estructura del equipo (OBS)</vt:lpstr>
      <vt:lpstr>Productos (PBS)</vt:lpstr>
      <vt:lpstr>Trazabilidad de las estimaciones/ WBS/ Presupuesto (Modulo 2: Gestión de almacén)</vt:lpstr>
      <vt:lpstr>Estimación de Esfuerzos</vt:lpstr>
      <vt:lpstr>Presupuesto del Proyecto (Costes)</vt:lpstr>
      <vt:lpstr>Reserva del cronograma y otros costes</vt:lpstr>
      <vt:lpstr>Presupuesto del Proyecto (Cliente)</vt:lpstr>
      <vt:lpstr>Plan de Gestión de las comunicaciones</vt:lpstr>
      <vt:lpstr>Plan de Gestión de las comunicaciones</vt:lpstr>
      <vt:lpstr>Plan de Gestión de las comunicaciones</vt:lpstr>
      <vt:lpstr>Plan de Gestión de riesgos</vt:lpstr>
      <vt:lpstr>Gracias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
  <cp:lastModifiedBy>Pablo Diaz</cp:lastModifiedBy>
  <cp:revision>2</cp:revision>
  <dcterms:created xsi:type="dcterms:W3CDTF">2023-04-22T14:29:46Z</dcterms:created>
  <dcterms:modified xsi:type="dcterms:W3CDTF">2023-05-02T11:47:14Z</dcterms:modified>
</cp:coreProperties>
</file>